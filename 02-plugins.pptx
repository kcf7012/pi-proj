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75A1A"/>
                </a:solidFill>
                <a:latin typeface="Calibri"/>
              </a:rPr>
              <a:t>Plugin 開發入門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C2C2C"/>
                </a:solidFill>
                <a:latin typeface="Calibri"/>
              </a:rPr>
              <a:t>從零建立你的第一個 Claude Code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6B6B"/>
                </a:solidFill>
                <a:latin typeface="Calibri"/>
              </a:rPr>
              <a:t>#02 · Plugin 開發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512064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本章你會學到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建立、測試、除錯你的第一個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來源：02-plugins.md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理解 plugin 的核心概念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為什麼要用 plugin？什麼時候該用？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建立第一個 plugin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從零開始的完整步驟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8967" y="1645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8967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本地測試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用 --plugin-dir 快速迭代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00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00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8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加入更多元件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88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Skills、Agents、Hooks、MCP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848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848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136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共享給團隊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136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轉換獨立配置 + Marketplace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8967" y="3931920"/>
            <a:ext cx="3474720" cy="201168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8967" y="4114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C2C2C"/>
                </a:solidFill>
                <a:latin typeface="Calibri"/>
              </a:rPr>
              <a:t>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4846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除錯常見問題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5303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結構錯誤、權限、路徑問題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Plugin vs 獨立配置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什麼時候該升級成 plugin？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vs 獨立配置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兩種擴展 Claude Code 的方式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Plugin vs 獨立配置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729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面向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獨立配置（.claude/）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Plugin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Skill 名稱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/hello（簡短）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/my-plugin:hello（命名空間）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可用範圍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僅當前專案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跨專案、跨團隊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分享方式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手動複製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透過 marketplace 一鍵安裝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版本管理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無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semver 或 git SHA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適合情境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個人、實驗、單一專案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團隊、正式、跨專案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建議起點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✓ 先用這個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確認要共享再升級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45720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💡  建議路徑：在 .claude/ 中從獨立配置開始快速迭代，準備好共享時再轉成 plugin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什麼時候該升級成 Plugin？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明確的決策依據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獨立 vs 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用 Plugin 的時機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想跟團隊成員共享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需要在多個專案重用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需要版本控制和更新機制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透過 marketplace 發布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接受命名空間化（/plugin-name:hello）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預期要長期維護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⏸️ 維持獨立的時機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只是個人實驗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只在單一專案使用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不需要分享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希望有簡短 skill 名稱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還在快速迭代階段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短期一次性使用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5 步建立第一個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從零到完成的完整流程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建立 Plugin 的 5 個步驟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從目錄結構到本地測試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快速開始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287" y="2286000"/>
            <a:ext cx="210312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9527" y="20574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9527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建立目錄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" y="3200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onsolas"/>
              </a:rPr>
              <a:t>mkdir my-first-plugin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3840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建立 plugin 根目錄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93695" y="3337560"/>
            <a:ext cx="146304" cy="18288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58287" y="2286000"/>
            <a:ext cx="210312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5527" y="20574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527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8287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建立 manifest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9727" y="3200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onsolas"/>
              </a:rPr>
              <a:t>.claude-plugin/plugin.json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9727" y="3840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定義身份中繼資料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79695" y="3337560"/>
            <a:ext cx="146304" cy="18288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4287" y="2286000"/>
            <a:ext cx="210312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1527" y="20574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1527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4287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加入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5727" y="3200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onsolas"/>
              </a:rPr>
              <a:t>skills/hello/SKILL.md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5727" y="3840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第一個可呼叫的指令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165695" y="3337560"/>
            <a:ext cx="146304" cy="18288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30287" y="2286000"/>
            <a:ext cx="210312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7527" y="20574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07527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0287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本地測試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1727" y="3200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onsolas"/>
              </a:rPr>
              <a:t>claude --plugin-dir ./...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1727" y="3840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用 CLI 旗標載入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51695" y="3337560"/>
            <a:ext cx="146304" cy="182880"/>
          </a:xfrm>
          <a:prstGeom prst="rightArrow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16287" y="2286000"/>
            <a:ext cx="2103120" cy="2286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93527" y="2057400"/>
            <a:ext cx="548640" cy="548640"/>
          </a:xfrm>
          <a:prstGeom prst="ellipse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93527" y="2057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6287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C2C2C"/>
                </a:solidFill>
                <a:latin typeface="Calibri"/>
              </a:rPr>
              <a:t>嘗試使用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7727" y="3200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onsolas"/>
              </a:rPr>
              <a:t>/my-first-plugin:hello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7727" y="3840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驗證功能正常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75A1A"/>
                </a:solidFill>
                <a:latin typeface="Calibri"/>
              </a:rPr>
              <a:t>⏱ 整個流程 5 分鐘以內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Step 1：建立 Plugin 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從一個資料夾開始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$ mkdir my-first-plugin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$ cd my-first-plugin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# 預先建立所有需要的子目錄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$ mkdir -p my-first-plugin/.claude-plugin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$ mkdir -p my-first-plugin/skills/hello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📁 最終目錄結構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10362895" cy="1645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62895" cy="164592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my-first-plugin/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└── .claude-plugin/        ← 稍後放 plugin.json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└── skills/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  └── hello/             ← 稍後放 SKILL.md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📍  位置不重要，本章用 ./my-first-plugin/，production 時用任何位置都行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Step 2：建立 Plugin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plugin.json 定義你的身份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# my-first-plugin/.claude-plugin/plugin.json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"name": "my-first-plugin",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"description": "A greeting plugin to learn the basics",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"version": "1.0.0",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"author": {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  "name": "Your Name"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📋 關鍵欄位說明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name：唯一識別碼 + skill 命名空間（如 /my-first-plugin:hello）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description：顯示在 /plugin 管理器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version：語義版本，1.0.0 開始；省略則用 git commit SHA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author：選用，標示作者歸屬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Step 3：加入第一個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SKILL.md 決定 skill 的行為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10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Step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# my-first-plugin/skills/hello/SKILL.md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description: Greet the user with a friendly message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disable-model-invocation: true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---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Greet the user warmly and ask how you can help them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重點：資料夾名稱 = skill 名稱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hello/ 資料夾 → /my-first-plugin:hello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前綴：plugin name（my-first-plugin）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後綴：skill 目錄名（hello）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為什麼要命名空間？避免多個 plugin skill 衝突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完整名稱：plugin-name:skill-name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Step 4：用 --plugin-dir 本地測試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免安裝，直接載入開發中的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本地測試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# 用 --plugin-dir 旗標啟動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$ claude --plugin-dir ./my-first-plugin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# 一次載入多個 plugins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$ claude --plugin-dir ./plugin-one --plugin-dir ./plugin-two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# 載入 .zip 套件（v2.1.128+）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$ claude --plugin-dir ./my-plugin.zip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# 從 URL 載入</a:t>
            </a:r>
          </a:p>
          <a:p>
            <a:pPr algn="l"/>
            <a:r>
              <a:rPr sz="1300">
                <a:solidFill>
                  <a:srgbClr val="E6E6E6"/>
                </a:solidFill>
                <a:latin typeface="Consolas"/>
              </a:rPr>
              <a:t>$ claude --plugin-url https://example.com/my-plugin.zip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注意：當 --plugin-dir plugin 與已安裝的市場 plugin 同名時，本地副本優先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🔄 變更後立即生效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/reload-plugins    ← 重新載入，無需重啟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Step 5：嘗試使用你的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看到 /my-first-plugin:hello 成功就算完成！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Step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❶ 試試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在 Claude Code 中執行：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/my-first-plugin:hello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或讓 Claude 自動觸發：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「跟我打個招呼」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❷ 加上引數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更新 SKILL.md，加入 $ARGUMENTS：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Greet the user named "$ARGUMENTS"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warmly and ask how you can help.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然後執行：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/my-first-plugin:hello Alex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🎉  🎉 完成！你已經建立並執行了你的第一個 plugin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Plugin 完整結構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理解每個目錄的用途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完整 Plugin 目錄結構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標準 enterprise-plugin 的樣貌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14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Plugin 結構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9436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943600" cy="4572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enterprise-plugin/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.claude-plugin/           ← 只有 plugin.json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│   └── plugin.json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skills/                   ← /name 觸發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│   ├── code-reviewer/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│   └── pdf-processor/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commands/                 ← 平面 .md skills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agents/                   ← 專門代理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hooks/                    ← 事件處理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.mcp.json                 ← MCP servers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.lsp.json                 ← LSP servers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monitors/                 ← 背景監視器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bin/                      ← 可執行檔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settings.json             ← 預設設定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Calibri"/>
              </a:rPr>
              <a:t>⚠️ 常見錯誤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不要把元件放在 .claude-plugin/ 內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components 必須在 plugin 根目錄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根目錄 ≠ ~/.claude/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  （例：~/.claude/.mcp.json 沒用）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Plugin 根目錄 = 含 plugin.json 的那層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  <a:latin typeface="Calibri"/>
              </a:rPr>
              <a:t>💡 簡化版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可以只放 SKILL.md 在根目錄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不需建立 skills/ 資料夾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Claude Code 自動當作單一 skill 載入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建議：可能擴充時用 skills/ 結構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Plugin Manifest 完整欄位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plugin.json 的所有可用欄位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15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來源：03 § Manifest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4754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475488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"plugin-name",              ← 必需：唯一識別碼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"version": "1.2.0",                 ← 語義版本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"description": "...",               ← 顯示用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"author": { "name": "...", "email": "..." },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"homepage": "https://...",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"repository": "https://github.com/...",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"license": "MIT",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"keywords": ["deployment", "ci-cd"],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"defaultEnabled": true,             ← 預設啟用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// 元件路徑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"skills": "./custom/skills/",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"agents": ["./agents/reviewer.md"],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"hooks": "./config/hooks.json",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"mcpServers": "./mcp-config.json",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"lspServers": "./.lsp.json"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📋 欄位分類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識別：name（必需）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中繼資料：version、author、license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元件路徑：skills/agents/hooks/mcp/lsp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路徑規則：必須以 ./ 開頭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skills 為附加，其他為取代預設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5A1A"/>
                </a:solidFill>
                <a:latin typeface="Calibri"/>
              </a:rPr>
              <a:t>💡 完整 Manifest 架構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見 03-plugins-reference.md § Plugin manifest 架構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完整範例含 userConfig、channels、dependencies 等進階欄位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⚠️  name 必須是 kebab-case（無空格、無大寫）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加入更多元件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Skills、Agents、Hooks、MCP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加入更多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Plugin 內可以有多個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17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加入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4008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32004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my-plugin/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├── .claude-plugin/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│   └── plugin.json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└── skills/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code-review/        ← /my-plugin:code-review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│   ├── SKILL.md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│   └── examples/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├── test-runner/        ← /my-plugin:test-runner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│   ├── SKILL.md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│   └── scripts/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└── deploy-helper/      ← /my-plugin:deploy-helper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  └── 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💡 設計建議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9202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每個 skill 是一個獨立資料夾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資料夾名 → skill 命名空間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description 決定 Claude 何時自動觸發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用 disable-model-invocation 控制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保持 SKILL.md 簡潔（&lt; 500 行）</a:t>
            </a:r>
          </a:p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• 支援檔案放 reference.md、examples/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完整 SKILL.md 撰寫指南見 04-skills.md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📁  每個 skill 必須有 SKILL.md，支援檔案是選用的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加入 Agents 和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完整的 plugin 元件組合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18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加入 Agents/Hooks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🤖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位置：agents/ 目錄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格式：Markdown + frontmatter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範例：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agents/code-reviewer.md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agents/security-auditor.md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特性：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✓ 隔離 context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✓ 專門工具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✓ 獨立權限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6655" y="1554480"/>
            <a:ext cx="5577840" cy="4572000"/>
          </a:xfrm>
          <a:prstGeom prst="roundRect">
            <a:avLst/>
          </a:prstGeom>
          <a:solidFill>
            <a:srgbClr val="F3F0E9"/>
          </a:solidFill>
          <a:ln w="2540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655" y="1554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🎣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535" y="219456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位置：hooks/hooks.json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或內聯在 plugin.json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範例：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hooks/hooks.json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→ 編輯後跑 lint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事件類型：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PreToolUse / PostToolUse</a:t>
            </a:r>
          </a:p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•   SessionStart / Stop 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📚  完整 Agents 指南見 05-subagents.md，完整 Hooks 指南見 06-hooks.md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加入 MCP Servers 和 LSP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連接外部服務與程式碼智慧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19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加入 MCP/LSP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.mcp.json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"mcpServers":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"plugin-database":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"command": "${CLAUDE_PLUGIN_ROOT}/servers/db-server",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"args": ["--config", "${CLAUDE_PLUGIN_ROOT}/config.json"],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"env": 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  "DB_PATH": "${CLAUDE_PLUGIN_ROOT}/data"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48640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5486400" cy="18288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# .lsp.json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"go": 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"command": "gopls",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"args": ["serve"],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"extensionToLanguage": {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  ".go": "go"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  }</a:t>
            </a:r>
          </a:p>
          <a:p>
            <a:pPr algn="l"/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🔌 MCP 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Plugin 啟用時自動啟動 server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MCP 工具以 mcp__server__tool 命名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Plugin 提供者用 plugin:: 範圍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範例：github、gitlab、slack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5A1A"/>
                </a:solidFill>
                <a:latin typeface="Calibri"/>
              </a:rPr>
              <a:t>🔍 LSP 程式碼智慧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即時診斷（編輯後）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跳轉到定義、尋找參考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使用前須安裝語言伺服器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  npm install -g typescript-language-server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  pip install pyright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0" b="1">
                <a:solidFill>
                  <a:srgbClr val="C75A1A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轉換獨立配置 + 除錯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B6B6B"/>
                </a:solidFill>
                <a:latin typeface="Calibri"/>
              </a:rPr>
              <a:t>從 .claude/ 升級到 plugin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將獨立配置轉換為 Plugin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 .claude/ 升級到 plugin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21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轉換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6858000" cy="457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858000" cy="4572000"/>
          </a:xfrm>
          <a:prstGeom prst="rect">
            <a:avLst/>
          </a:prstGeom>
          <a:noFill/>
        </p:spPr>
        <p:txBody>
          <a:bodyPr wrap="square" lIns="137160" tIns="91440" rIns="137160" bIns="91440">
            <a:spAutoFit/>
          </a:bodyPr>
          <a:lstStyle/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1. 建立 plugin 目錄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mkdir -p my-plugin/.claude-plugin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mkdir my-plugin/hooks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2. 建立 manifest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cat &gt; my-plugin/.claude-plugin/plugin.json &lt;&lt;EOF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{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"name": "my-plugin",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"description": "Migrated from standalone",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 "version": "1.0.0"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EOF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3. 複製現有配置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cp -r .claude/commands my-plugin/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cp -r .claude/agents my-plugin/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cp -r .claude/skills my-plugin/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4. 移動 hooks 到 hooks/hooks.json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從 .claude/settings.json 複製 hooks 物件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# 5. 驗證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$ claude --plugin-dir ./my-plugin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⚠️ 遷移後清理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202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從 .claude/ 移除原始檔案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避免重複（獨立 vs plugin）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Plugin agents 由 .claude/agents 覆蓋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Plugin skills 命名空間化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  /plugin-name:skill</a:t>
            </a:r>
          </a:p>
          <a:p>
            <a:pPr algn="l"/>
            <a:r>
              <a:rPr sz="1100">
                <a:solidFill>
                  <a:srgbClr val="2C2C2C"/>
                </a:solidFill>
                <a:latin typeface="Calibri"/>
              </a:rPr>
              <a:t>•   與原本的 /skill 各自可用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200">
                <a:solidFill>
                  <a:srgbClr val="2C2C2C"/>
                </a:solidFill>
                <a:latin typeface="Calibri"/>
              </a:rPr>
              <a:t>💡  建議：準備好要分享時才升級，否則維持 .claude/ 較簡單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常見問題與除錯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5 個最常見的失敗原因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22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除錯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41148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❌ Plugin 未載入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54480"/>
            <a:ext cx="7162495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600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原因：Invalid plugin.json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0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解法：執行 claude plugin validate ./my-plugin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41148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❌ Skills 未出現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423160"/>
            <a:ext cx="7162495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468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原因：目錄結構錯誤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88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解法：確認 skills/ 在 plugin 根目錄，非 .claude-plugin/ 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❌ Hooks 未觸發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291840"/>
            <a:ext cx="7162495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3375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原因：腳本無執行權限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657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解法：chmod +x ./scripts/your-script.sh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0520"/>
            <a:ext cx="41148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❌ MCP 連線失敗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160520"/>
            <a:ext cx="7162495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206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原因：絕對路徑問題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526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解法：改用 ${CLAUDE_PLUGIN_ROOT} 變數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41148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❌ 啟動後找不到 plugin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029200"/>
            <a:ext cx="7162495" cy="731520"/>
          </a:xfrm>
          <a:prstGeom prst="rect">
            <a:avLst/>
          </a:prstGeom>
          <a:solidFill>
            <a:srgbClr val="F3F0E9"/>
          </a:solidFill>
          <a:ln w="635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074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2C2C"/>
                </a:solidFill>
                <a:latin typeface="Calibri"/>
              </a:rPr>
              <a:t>原因：路徑問題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解法：使用相對路徑以 ./ 開頭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1277295" cy="365760"/>
          </a:xfrm>
          <a:prstGeom prst="roundRect">
            <a:avLst/>
          </a:prstGeom>
          <a:solidFill>
            <a:srgbClr val="F3F0E9"/>
          </a:solidFill>
          <a:ln w="19050">
            <a:solidFill>
              <a:srgbClr val="C75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>
                <a:solidFill>
                  <a:srgbClr val="2C2C2C"/>
                </a:solidFill>
                <a:latin typeface="Calibri"/>
              </a:rPr>
              <a:t>🔍  用 claude --debug 啟動可看到 plugin 載入詳情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提交到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從個人專案到社群分享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  <a:latin typeface="Calibri"/>
              </a:rPr>
              <a:t>23 /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 § 提交 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📋 提交前檢查清單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✓ claude plugin validate 通過（無錯誤）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✓ README.md 含安裝與使用說明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✓ 完整的 plugin.json 欄位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✓ 所有元件測試正常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✓ .claude-plugin/marketplace.json 正確</a:t>
            </a:r>
          </a:p>
          <a:p>
            <a:pPr algn="l"/>
            <a:r>
              <a:rPr sz="1400">
                <a:solidFill>
                  <a:srgbClr val="2C2C2C"/>
                </a:solidFill>
                <a:latin typeface="Calibri"/>
              </a:rPr>
              <a:t>• ✓ 在團隊內部試用過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75A1A"/>
                </a:solidFill>
                <a:latin typeface="Calibri"/>
              </a:rPr>
              <a:t>🌐 兩個公開 Marketplace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57200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策展者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提交方式</a:t>
                      </a:r>
                    </a:p>
                  </a:txBody>
                  <a:tcPr>
                    <a:solidFill>
                      <a:srgbClr val="C75A1A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claude-plugins-official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Anthropic 策展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不接受提交，Anthropic 自行決定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claude-plugins-community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社群 + Anthropic 審查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  <a:tc>
                  <a:txBody>
                    <a:bodyPr lIns="45720" rIns="45720" tIns="36576" bIns="36576" wrap="square"/>
                    <a:lstStyle/>
                    <a:p>
                      <a:pPr algn="l"/>
                      <a:r>
                        <a:rPr sz="1200">
                          <a:solidFill>
                            <a:srgbClr val="2C2C2C"/>
                          </a:solidFill>
                          <a:latin typeface="Calibri"/>
                        </a:rPr>
                        <a:t>用應用內表單提交</a:t>
                      </a:r>
                    </a:p>
                  </a:txBody>
                  <a:tcPr>
                    <a:solidFill>
                      <a:srgbClr val="F3F0E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提交表單：claude.ai/admin-settings/directory/submissions/plugins/new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2C2C"/>
                </a:solidFill>
                <a:latin typeface="Calibri"/>
              </a:rPr>
              <a:t>重點回顧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6B6B"/>
                </a:solidFill>
                <a:latin typeface="Calibri"/>
              </a:rPr>
              <a:t>重點整理與下一步行動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6B6B6B"/>
                </a:solidFill>
                <a:latin typeface="Calibri"/>
              </a:rPr>
              <a:t>📖 來源：02-plugins.md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75A1A"/>
                </a:solidFill>
                <a:latin typeface="Calibri"/>
              </a:rPr>
              <a:t>Claude Code Plugin 完整學習系列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📌 關鍵要點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Plugin = 可分享、可版本化、可團隊協作的擴展包裝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5 步建立 plugin：目錄 → manifest → skill → 測試 → 使用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--plugin-dir 是開發測試的關鍵旗標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Plugin 元件：skills、agents、hooks、MCP、LSP、monitors、themes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結構陷阱：元件必須在根目錄，不在 .claude-plugin/ 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75A1A"/>
                </a:solidFill>
                <a:latin typeface="Calibri"/>
              </a:rPr>
              <a:t>🚀 下一步行動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🎯 立即：用 claude plugin init my-helper 建立第一個 plugin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📚 進階：閱讀 03-plugins-reference.md 掌握完整 Manifest 架構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🛠 擴充：嘗試加入 agents 或 hooks</a:t>
            </a:r>
          </a:p>
          <a:p>
            <a:pPr algn="l"/>
            <a:r>
              <a:rPr sz="1500">
                <a:solidFill>
                  <a:srgbClr val="2C2C2C"/>
                </a:solidFill>
                <a:latin typeface="Calibri"/>
              </a:rPr>
              <a:t>• 🚀 分享：建立團隊 marketplace.json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C75A1A"/>
                </a:solidFill>
                <a:latin typeface="Calibri"/>
              </a:rPr>
              <a:t>建立你的第一個 Plugin！📦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C2C2C"/>
                </a:solidFill>
                <a:latin typeface="Calibri"/>
              </a:rPr>
              <a:t>從 5 步驟開始，動手做最重要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4572000"/>
            <a:ext cx="1828800" cy="73152"/>
          </a:xfrm>
          <a:prstGeom prst="rect">
            <a:avLst/>
          </a:prstGeom>
          <a:solidFill>
            <a:srgbClr val="C75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下一份簡報：04-skills.pptx（Skills 完整指南）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Claude Code Plugin 完整學習系列 · #02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