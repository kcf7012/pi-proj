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C75A1A"/>
                </a:solidFill>
                <a:latin typeface="Calibri"/>
              </a:rPr>
              <a:t>建立並分發 Plugin Marketplace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>
                <a:solidFill>
                  <a:srgbClr val="2C2C2C"/>
                </a:solidFill>
                <a:latin typeface="Calibri"/>
              </a:rPr>
              <a:t>把你的 plugin 變成可分享的應用程式商店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i="1">
                <a:solidFill>
                  <a:srgbClr val="6B6B6B"/>
                </a:solidFill>
                <a:latin typeface="Calibri"/>
              </a:rPr>
              <a:t>#01 · Marketplace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180990" y="5120640"/>
            <a:ext cx="1828800" cy="73152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本章你會學到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從建立第一個 marketplace 到企業級部署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2 / 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來源：01-plugin-marketplaces.md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8007" y="1645920"/>
            <a:ext cx="3474720" cy="2011680"/>
          </a:xfrm>
          <a:prstGeom prst="roundRect">
            <a:avLst/>
          </a:prstGeom>
          <a:solidFill>
            <a:srgbClr val="F3F0E9"/>
          </a:solidFill>
          <a:ln w="2540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8007" y="182880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2C2C2C"/>
                </a:solidFill>
                <a:latin typeface="Calibri"/>
              </a:rPr>
              <a:t>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0887" y="25603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C2C2C"/>
                </a:solidFill>
                <a:latin typeface="Calibri"/>
              </a:rPr>
              <a:t>什麼是 Marketplace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0887" y="30175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6B6B"/>
                </a:solidFill>
                <a:latin typeface="Calibri"/>
              </a:rPr>
              <a:t>理解「plugin 目錄」的核心概念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8487" y="1645920"/>
            <a:ext cx="3474720" cy="2011680"/>
          </a:xfrm>
          <a:prstGeom prst="roundRect">
            <a:avLst/>
          </a:prstGeom>
          <a:solidFill>
            <a:srgbClr val="F3F0E9"/>
          </a:solidFill>
          <a:ln w="2540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58487" y="182880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2C2C2C"/>
                </a:solidFill>
                <a:latin typeface="Calibri"/>
              </a:rPr>
              <a:t>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1367" y="25603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C2C2C"/>
                </a:solidFill>
                <a:latin typeface="Calibri"/>
              </a:rPr>
              <a:t>建立本機 Marketplace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1367" y="30175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6B6B"/>
                </a:solidFill>
                <a:latin typeface="Calibri"/>
              </a:rPr>
              <a:t>6 步驟完成第一個 marketplace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98967" y="1645920"/>
            <a:ext cx="3474720" cy="2011680"/>
          </a:xfrm>
          <a:prstGeom prst="roundRect">
            <a:avLst/>
          </a:prstGeom>
          <a:solidFill>
            <a:srgbClr val="F3F0E9"/>
          </a:solidFill>
          <a:ln w="2540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98967" y="182880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2C2C2C"/>
                </a:solidFill>
                <a:latin typeface="Calibri"/>
              </a:rPr>
              <a:t>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1847" y="25603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C2C2C"/>
                </a:solidFill>
                <a:latin typeface="Calibri"/>
              </a:rPr>
              <a:t>完整 JSON Schema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1847" y="30175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6B6B"/>
                </a:solidFill>
                <a:latin typeface="Calibri"/>
              </a:rPr>
              <a:t>marketplace.json 與 plugin 項目的所有欄位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8007" y="3931920"/>
            <a:ext cx="3474720" cy="2011680"/>
          </a:xfrm>
          <a:prstGeom prst="roundRect">
            <a:avLst/>
          </a:prstGeom>
          <a:solidFill>
            <a:srgbClr val="F3F0E9"/>
          </a:solidFill>
          <a:ln w="2540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8007" y="411480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2C2C2C"/>
                </a:solidFill>
                <a:latin typeface="Calibri"/>
              </a:rPr>
              <a:t>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0887" y="48463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C2C2C"/>
                </a:solidFill>
                <a:latin typeface="Calibri"/>
              </a:rPr>
              <a:t>5 種 Plugin 來源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0887" y="53035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6B6B"/>
                </a:solidFill>
                <a:latin typeface="Calibri"/>
              </a:rPr>
              <a:t>本機路徑、GitHub、git、git-subdir、npm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58487" y="3931920"/>
            <a:ext cx="3474720" cy="2011680"/>
          </a:xfrm>
          <a:prstGeom prst="roundRect">
            <a:avLst/>
          </a:prstGeom>
          <a:solidFill>
            <a:srgbClr val="F3F0E9"/>
          </a:solidFill>
          <a:ln w="2540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58487" y="411480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2C2C2C"/>
                </a:solidFill>
                <a:latin typeface="Calibri"/>
              </a:rPr>
              <a:t>🛡️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41367" y="48463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C2C2C"/>
                </a:solidFill>
                <a:latin typeface="Calibri"/>
              </a:rPr>
              <a:t>Strict Mode 與託管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41367" y="53035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6B6B"/>
                </a:solidFill>
                <a:latin typeface="Calibri"/>
              </a:rPr>
              <a:t>企業環境的 marketplace 限制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98967" y="3931920"/>
            <a:ext cx="3474720" cy="2011680"/>
          </a:xfrm>
          <a:prstGeom prst="roundRect">
            <a:avLst/>
          </a:prstGeom>
          <a:solidFill>
            <a:srgbClr val="F3F0E9"/>
          </a:solidFill>
          <a:ln w="2540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98967" y="411480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2C2C2C"/>
                </a:solidFill>
                <a:latin typeface="Calibri"/>
              </a:rPr>
              <a:t>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1847" y="48463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C2C2C"/>
                </a:solidFill>
                <a:latin typeface="Calibri"/>
              </a:rPr>
              <a:t>發佈與分發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1847" y="53035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6B6B"/>
                </a:solidFill>
                <a:latin typeface="Calibri"/>
              </a:rPr>
              <a:t>GitHub 託管、團隊預配置、容器預填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112772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600" b="1">
                <a:solidFill>
                  <a:srgbClr val="C75A1A"/>
                </a:solidFill>
                <a:latin typeface="Calibri"/>
              </a:rPr>
              <a:t>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2C2C2C"/>
                </a:solidFill>
                <a:latin typeface="Calibri"/>
              </a:rPr>
              <a:t>Marketplace 基礎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i="1">
                <a:solidFill>
                  <a:srgbClr val="6B6B6B"/>
                </a:solidFill>
                <a:latin typeface="Calibri"/>
              </a:rPr>
              <a:t>概念、流程、必備檔案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什麼是 Plugin Marketplace？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把 plugin 分發給其他人的目錄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4 / 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來源：01 § 什麼是 Plugin Marketplace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75A1A"/>
                </a:solidFill>
                <a:latin typeface="Calibri"/>
              </a:rPr>
              <a:t>✨ Marketplace 提供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2024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2C2C2C"/>
                </a:solidFill>
                <a:latin typeface="Calibri"/>
              </a:rPr>
              <a:t>• ✅ **集中式探索**：讓人容易找到</a:t>
            </a:r>
          </a:p>
          <a:p>
            <a:pPr algn="l"/>
            <a:r>
              <a:rPr sz="1500">
                <a:solidFill>
                  <a:srgbClr val="2C2C2C"/>
                </a:solidFill>
                <a:latin typeface="Calibri"/>
              </a:rPr>
              <a:t>• ✅ **版本追蹤**：清楚知道用的是哪一版</a:t>
            </a:r>
          </a:p>
          <a:p>
            <a:pPr algn="l"/>
            <a:r>
              <a:rPr sz="1500">
                <a:solidFill>
                  <a:srgbClr val="2C2C2C"/>
                </a:solidFill>
                <a:latin typeface="Calibri"/>
              </a:rPr>
              <a:t>• ✅ **自動更新**：推送後使用者能拉新版本</a:t>
            </a:r>
          </a:p>
          <a:p>
            <a:pPr algn="l"/>
            <a:r>
              <a:rPr sz="1500">
                <a:solidFill>
                  <a:srgbClr val="2C2C2C"/>
                </a:solidFill>
                <a:latin typeface="Calibri"/>
              </a:rPr>
              <a:t>• ✅ **多種來源支援**：git 儲存庫、本機路徑、npm…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931920"/>
            <a:ext cx="11277295" cy="45720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500">
                <a:solidFill>
                  <a:srgbClr val="2C2C2C"/>
                </a:solidFill>
                <a:latin typeface="Calibri"/>
              </a:rPr>
              <a:t>💡  一句話：Marketplace = 別人加入來源、安裝你寫的 plugin 的入口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66344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75A1A"/>
                </a:solidFill>
                <a:latin typeface="Calibri"/>
              </a:rPr>
              <a:t>🔄 整體流程（4 步）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6607" y="5120640"/>
            <a:ext cx="2468880" cy="914400"/>
          </a:xfrm>
          <a:prstGeom prst="roundRect">
            <a:avLst/>
          </a:prstGeom>
          <a:solidFill>
            <a:srgbClr val="F3F0E9"/>
          </a:solidFill>
          <a:ln w="2540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2C2C2C"/>
                </a:solidFill>
                <a:latin typeface="Calibri"/>
              </a:rPr>
              <a:t>1. 建立 plugin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233775" y="5394960"/>
            <a:ext cx="237744" cy="365760"/>
          </a:xfrm>
          <a:prstGeom prst="rightArrow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89807" y="5120640"/>
            <a:ext cx="2468880" cy="914400"/>
          </a:xfrm>
          <a:prstGeom prst="roundRect">
            <a:avLst/>
          </a:prstGeom>
          <a:solidFill>
            <a:srgbClr val="F3F0E9"/>
          </a:solidFill>
          <a:ln w="2540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2C2C2C"/>
                </a:solidFill>
                <a:latin typeface="Calibri"/>
              </a:rPr>
              <a:t>2. 建立 marketplace.json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976975" y="5394960"/>
            <a:ext cx="237744" cy="365760"/>
          </a:xfrm>
          <a:prstGeom prst="rightArrow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33007" y="5120640"/>
            <a:ext cx="2468880" cy="914400"/>
          </a:xfrm>
          <a:prstGeom prst="roundRect">
            <a:avLst/>
          </a:prstGeom>
          <a:solidFill>
            <a:srgbClr val="F3F0E9"/>
          </a:solidFill>
          <a:ln w="2540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2C2C2C"/>
                </a:solidFill>
                <a:latin typeface="Calibri"/>
              </a:rPr>
              <a:t>3. 託管（GitHub / GitLab）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720175" y="5394960"/>
            <a:ext cx="237744" cy="365760"/>
          </a:xfrm>
          <a:prstGeom prst="rightArrow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976207" y="5120640"/>
            <a:ext cx="2468880" cy="914400"/>
          </a:xfrm>
          <a:prstGeom prst="roundRect">
            <a:avLst/>
          </a:prstGeom>
          <a:solidFill>
            <a:srgbClr val="F3F0E9"/>
          </a:solidFill>
          <a:ln w="2540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2C2C2C"/>
                </a:solidFill>
                <a:latin typeface="Calibri"/>
              </a:rPr>
              <a:t>4. 與使用者分享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使用者端 3 個關鍵指令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使用者怎麼使用你的 marketplace？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5 / 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來源：01 § 整體流程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554480"/>
          <a:ext cx="11277295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71500">
                <a:tc>
                  <a:txBody>
                    <a:bodyPr lIns="45720" rIns="45720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指令</a:t>
                      </a:r>
                    </a:p>
                  </a:txBody>
                  <a:tcPr>
                    <a:solidFill>
                      <a:srgbClr val="C75A1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作用</a:t>
                      </a:r>
                    </a:p>
                  </a:txBody>
                  <a:tcPr>
                    <a:solidFill>
                      <a:srgbClr val="C75A1A"/>
                    </a:solidFill>
                  </a:tcPr>
                </a:tc>
              </a:tr>
              <a:tr h="57150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500">
                          <a:solidFill>
                            <a:srgbClr val="2C2C2C"/>
                          </a:solidFill>
                          <a:latin typeface="Calibri"/>
                        </a:rPr>
                        <a:t>/plugin marketplace add &lt;source&gt;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500">
                          <a:solidFill>
                            <a:srgbClr val="2C2C2C"/>
                          </a:solidFill>
                          <a:latin typeface="Calibri"/>
                        </a:rPr>
                        <a:t>新增 marketplace 來源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500">
                          <a:solidFill>
                            <a:srgbClr val="2C2C2C"/>
                          </a:solidFill>
                          <a:latin typeface="Calibri"/>
                        </a:rPr>
                        <a:t>/plugin install &lt;plugin&gt;@&lt;marketplace&gt;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500">
                          <a:solidFill>
                            <a:srgbClr val="2C2C2C"/>
                          </a:solidFill>
                          <a:latin typeface="Calibri"/>
                        </a:rPr>
                        <a:t>安裝特定 plugin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</a:tr>
              <a:tr h="57150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500">
                          <a:solidFill>
                            <a:srgbClr val="2C2C2C"/>
                          </a:solidFill>
                          <a:latin typeface="Calibri"/>
                        </a:rPr>
                        <a:t>/plugin marketplace update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500">
                          <a:solidFill>
                            <a:srgbClr val="2C2C2C"/>
                          </a:solidFill>
                          <a:latin typeface="Calibri"/>
                        </a:rPr>
                        <a:t>重新整理本機副本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457200" y="4114800"/>
            <a:ext cx="11277295" cy="45720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💡  假設你已經有要分發的 plugin。還沒？見 02-plugins.md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8463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75A1A"/>
                </a:solidFill>
                <a:latin typeface="Calibri"/>
              </a:rPr>
              <a:t>📌 為什麼需要 Marketplace？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2120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2C2C2C"/>
                </a:solidFill>
                <a:latin typeface="Calibri"/>
              </a:rPr>
              <a:t>• 不用 marketplace 也能用 `--plugin-dir` 直接載入（個人開發用）</a:t>
            </a:r>
          </a:p>
          <a:p>
            <a:pPr algn="l"/>
            <a:r>
              <a:rPr sz="1400">
                <a:solidFill>
                  <a:srgbClr val="2C2C2C"/>
                </a:solidFill>
                <a:latin typeface="Calibri"/>
              </a:rPr>
              <a:t>• 但要**分享給團隊或公開** → 必須透過 marketplace</a:t>
            </a:r>
          </a:p>
          <a:p>
            <a:pPr algn="l"/>
            <a:r>
              <a:rPr sz="1400">
                <a:solidFill>
                  <a:srgbClr val="2C2C2C"/>
                </a:solidFill>
                <a:latin typeface="Calibri"/>
              </a:rPr>
              <a:t>• marketplace 提供**版本管理、自動更新**、**安全管控**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112772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600" b="1">
                <a:solidFill>
                  <a:srgbClr val="C75A1A"/>
                </a:solidFill>
                <a:latin typeface="Calibri"/>
              </a:rP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2C2C2C"/>
                </a:solidFill>
                <a:latin typeface="Calibri"/>
              </a:rPr>
              <a:t>快速入門：建立本機 Marketplace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i="1">
                <a:solidFill>
                  <a:srgbClr val="6B6B6B"/>
                </a:solidFill>
                <a:latin typeface="Calibri"/>
              </a:rPr>
              <a:t>6 步驟完成第一個 marketplace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建立 Marketplace 的 6 個步驟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從目錄結構到使用 skill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7 / 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來源：01 § 快速入門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9407" y="2103120"/>
            <a:ext cx="1783080" cy="2743200"/>
          </a:xfrm>
          <a:prstGeom prst="roundRect">
            <a:avLst/>
          </a:prstGeom>
          <a:solidFill>
            <a:srgbClr val="F3F0E9"/>
          </a:solidFill>
          <a:ln w="2540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06627" y="2286000"/>
            <a:ext cx="548640" cy="548640"/>
          </a:xfrm>
          <a:prstGeom prst="ellipse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6627" y="2304288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0847" y="2971800"/>
            <a:ext cx="1600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C2C2C"/>
                </a:solidFill>
                <a:latin typeface="Calibri"/>
              </a:rPr>
              <a:t>建立目錄結構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847" y="36118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6B6B6B"/>
                </a:solidFill>
                <a:latin typeface="Calibri"/>
              </a:rPr>
              <a:t>mkdir my-marketplace/...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847" y="434340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C2C2C"/>
                </a:solidFill>
                <a:latin typeface="Calibri"/>
              </a:rPr>
              <a:t>建立 plugin 根目錄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55367" y="2103120"/>
            <a:ext cx="1783080" cy="2743200"/>
          </a:xfrm>
          <a:prstGeom prst="roundRect">
            <a:avLst/>
          </a:prstGeom>
          <a:solidFill>
            <a:srgbClr val="F3F0E9"/>
          </a:solidFill>
          <a:ln w="2540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872587" y="2286000"/>
            <a:ext cx="548640" cy="548640"/>
          </a:xfrm>
          <a:prstGeom prst="ellipse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72587" y="2304288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46807" y="2971800"/>
            <a:ext cx="1600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C2C2C"/>
                </a:solidFill>
                <a:latin typeface="Calibri"/>
              </a:rPr>
              <a:t>建立 SKILL.md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46807" y="36118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6B6B6B"/>
                </a:solidFill>
                <a:latin typeface="Calibri"/>
              </a:rPr>
              <a:t>skills/quality-review/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46807" y="434340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C2C2C"/>
                </a:solidFill>
                <a:latin typeface="Calibri"/>
              </a:rPr>
              <a:t>定義 skill 行為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21327" y="2103120"/>
            <a:ext cx="1783080" cy="2743200"/>
          </a:xfrm>
          <a:prstGeom prst="roundRect">
            <a:avLst/>
          </a:prstGeom>
          <a:solidFill>
            <a:srgbClr val="F3F0E9"/>
          </a:solidFill>
          <a:ln w="2540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38547" y="2286000"/>
            <a:ext cx="548640" cy="548640"/>
          </a:xfrm>
          <a:prstGeom prst="ellipse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38547" y="2304288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12767" y="2971800"/>
            <a:ext cx="1600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C2C2C"/>
                </a:solidFill>
                <a:latin typeface="Calibri"/>
              </a:rPr>
              <a:t>建立 plugin manifest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12767" y="36118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6B6B6B"/>
                </a:solidFill>
                <a:latin typeface="Calibri"/>
              </a:rPr>
              <a:t>plugin.json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12767" y="434340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C2C2C"/>
                </a:solidFill>
                <a:latin typeface="Calibri"/>
              </a:rPr>
              <a:t>plugin 中繼資料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87287" y="2103120"/>
            <a:ext cx="1783080" cy="2743200"/>
          </a:xfrm>
          <a:prstGeom prst="roundRect">
            <a:avLst/>
          </a:prstGeom>
          <a:solidFill>
            <a:srgbClr val="F3F0E9"/>
          </a:solidFill>
          <a:ln w="2540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804507" y="2286000"/>
            <a:ext cx="548640" cy="548640"/>
          </a:xfrm>
          <a:prstGeom prst="ellipse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04507" y="2304288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78727" y="2971800"/>
            <a:ext cx="1600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C2C2C"/>
                </a:solidFill>
                <a:latin typeface="Calibri"/>
              </a:rPr>
              <a:t>建立 marketplace 目錄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78727" y="36118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6B6B6B"/>
                </a:solidFill>
                <a:latin typeface="Calibri"/>
              </a:rPr>
              <a:t>marketplace.json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78727" y="434340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C2C2C"/>
                </a:solidFill>
                <a:latin typeface="Calibri"/>
              </a:rPr>
              <a:t>marketplace 中繼資料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53247" y="2103120"/>
            <a:ext cx="1783080" cy="2743200"/>
          </a:xfrm>
          <a:prstGeom prst="roundRect">
            <a:avLst/>
          </a:prstGeom>
          <a:solidFill>
            <a:srgbClr val="F3F0E9"/>
          </a:solidFill>
          <a:ln w="2540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770467" y="2286000"/>
            <a:ext cx="548640" cy="548640"/>
          </a:xfrm>
          <a:prstGeom prst="ellipse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70467" y="2304288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44687" y="2971800"/>
            <a:ext cx="1600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C2C2C"/>
                </a:solidFill>
                <a:latin typeface="Calibri"/>
              </a:rPr>
              <a:t>新增並安裝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44687" y="36118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6B6B6B"/>
                </a:solidFill>
                <a:latin typeface="Calibri"/>
              </a:rPr>
              <a:t>/plugin marketplace add...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44687" y="434340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C2C2C"/>
                </a:solidFill>
                <a:latin typeface="Calibri"/>
              </a:rPr>
              <a:t>本地測試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119207" y="2103120"/>
            <a:ext cx="1783080" cy="2743200"/>
          </a:xfrm>
          <a:prstGeom prst="roundRect">
            <a:avLst/>
          </a:prstGeom>
          <a:solidFill>
            <a:srgbClr val="F3F0E9"/>
          </a:solidFill>
          <a:ln w="2540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736427" y="2286000"/>
            <a:ext cx="548640" cy="548640"/>
          </a:xfrm>
          <a:prstGeom prst="ellipse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736427" y="2304288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10647" y="2971800"/>
            <a:ext cx="1600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C2C2C"/>
                </a:solidFill>
                <a:latin typeface="Calibri"/>
              </a:rPr>
              <a:t>使用 skill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210647" y="36118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6B6B6B"/>
                </a:solidFill>
                <a:latin typeface="Calibri"/>
              </a:rPr>
              <a:t>/plugin:skill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10647" y="434340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C2C2C"/>
                </a:solidFill>
                <a:latin typeface="Calibri"/>
              </a:rPr>
              <a:t>驗證功能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範例：完整程式碼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建立 quality-review marketplace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8 / 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來源：01 § 快速入門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0876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75A1A"/>
                </a:solidFill>
                <a:latin typeface="Calibri"/>
              </a:rPr>
              <a:t>📁 Step 1: 建立目錄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74519"/>
            <a:ext cx="10972800" cy="6858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874519"/>
            <a:ext cx="10972800" cy="68580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mkdir -p my-marketplace/.claude-plugin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mkdir -p my-marketplace/plugins/quality-review-plugin/.claude-plugin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mkdir -p my-marketplace/plugins/quality-review-plugin/skills/quality-review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5176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75A1A"/>
                </a:solidFill>
                <a:latin typeface="Calibri"/>
              </a:rPr>
              <a:t>📝 Step 2: SKILL.md（plugin 的 skills/quality-review/SKILL.md）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017520"/>
            <a:ext cx="10972800" cy="19659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017520"/>
            <a:ext cx="10972800" cy="196596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---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description: 檢查程式碼中的錯誤、安全性和效能問題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---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檢查我選擇的程式碼或最近的變更，查找：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- 潛在的錯誤或邊界情況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- 安全性問題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- 效能問題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- 可讀性改進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簡潔且可行動。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9834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75A1A"/>
                </a:solidFill>
                <a:latin typeface="Calibri"/>
              </a:rPr>
              <a:t>📦 Step 3: plugin manifest（.claude-plugin/plugin.json）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349240"/>
            <a:ext cx="10972800" cy="10515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5349240"/>
            <a:ext cx="10972800" cy="105156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{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"name": "quality-review-plugin",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"description": "新增 quality-review skill 以進行快速程式碼審查",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"version": "1.0.0"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範例：完整程式碼（續）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marketplace.json 與測試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9 / 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來源：01 § 快速入門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75A1A"/>
                </a:solidFill>
                <a:latin typeface="Calibri"/>
              </a:rPr>
              <a:t>🏪 Step 4: marketplace 目錄（.claude-plugin/marketplace.json）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920240"/>
            <a:ext cx="10972800" cy="24688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20240"/>
            <a:ext cx="10972800" cy="246888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{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"name": "my-plugins",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"owner": {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  "name": "Your Name"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},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"plugins": [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  {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    "name": "quality-review-plugin",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    "source": "./plugins/quality-review-plugin",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    "description": "新增 quality-review skill 以進行快速程式碼審查"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  }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]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48056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75A1A"/>
                </a:solidFill>
                <a:latin typeface="Calibri"/>
              </a:rPr>
              <a:t>🚀 Step 5-6: 新增、安裝並使用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846320"/>
            <a:ext cx="10972800" cy="13716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846320"/>
            <a:ext cx="10972800" cy="137160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# Step 5: 新增並安裝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/plugin marketplace add ./my-marketplace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/plugin install quality-review-plugin@my-plugins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# Step 6: 選取一些程式碼後執行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/quality-review-plugin:quality-review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6263640"/>
            <a:ext cx="11277295" cy="32004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📌 Plugin skills 使用 **plugin 名稱做命名空間**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112772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600" b="1">
                <a:solidFill>
                  <a:srgbClr val="C75A1A"/>
                </a:solidFill>
                <a:latin typeface="Calibri"/>
              </a:rPr>
              <a:t>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2C2C2C"/>
                </a:solidFill>
                <a:latin typeface="Calibri"/>
              </a:rPr>
              <a:t>Marketplace 與 Plugin Schema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i="1">
                <a:solidFill>
                  <a:srgbClr val="6B6B6B"/>
                </a:solidFill>
                <a:latin typeface="Calibri"/>
              </a:rPr>
              <a:t>完整欄位速查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Marketplace 完整範例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多個 plugin 與完整 metadata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11 / 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來源：01 § Marketplace 檔案結構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54480"/>
            <a:ext cx="10972800" cy="42062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10972800" cy="420624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{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"name": "company-tools",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"owner": {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"name": "DevTools Team",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"email": "devtools@example.com"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},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"plugins": [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{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  "name": "code-formatter",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  "source": "./plugins/formatter",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  "description": "在保存時自動格式化程式碼",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  "version": "2.1.0",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  "author": { "name": "DevTools Team" }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},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{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  "name": "deployment-tools",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  "source": {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    "source": "github",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    "repo": "company/deploy-plugin"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  },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  "description": "部署自動化工具"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}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]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5852160"/>
            <a:ext cx="11277295" cy="36576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💡 儲存庫根目錄建立 `.claude-plugin/marketplace.json`，定義名稱、擁有者、plugin 清單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Marketplace Schema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3 個必需欄位 + 7 個選用欄位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12 / 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來源：01 § Marketplace 架構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C2626"/>
                </a:solidFill>
                <a:latin typeface="Calibri"/>
              </a:rPr>
              <a:t>⭐ 必需欄位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920240"/>
          <a:ext cx="54864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502920">
                <a:tc>
                  <a:txBody>
                    <a:bodyPr lIns="45720" rIns="4572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欄位</a:t>
                      </a:r>
                    </a:p>
                  </a:txBody>
                  <a:tcPr>
                    <a:solidFill>
                      <a:srgbClr val="C75A1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類型</a:t>
                      </a:r>
                    </a:p>
                  </a:txBody>
                  <a:tcPr>
                    <a:solidFill>
                      <a:srgbClr val="C75A1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描述</a:t>
                      </a:r>
                    </a:p>
                  </a:txBody>
                  <a:tcPr>
                    <a:solidFill>
                      <a:srgbClr val="C75A1A"/>
                    </a:solidFill>
                  </a:tcPr>
                </a:tc>
              </a:tr>
              <a:tr h="50292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`name`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識別碼（kebab-case、無空格）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`owner`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object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維護者資訊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</a:tr>
              <a:tr h="50292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`plugins`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array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可用 plugin 清單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156655" y="1554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75A1A"/>
                </a:solidFill>
                <a:latin typeface="Calibri"/>
              </a:rPr>
              <a:t>📋 選用欄位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156655" y="1920240"/>
          <a:ext cx="5486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326571">
                <a:tc>
                  <a:txBody>
                    <a:bodyPr lIns="45720" rIns="4572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欄位</a:t>
                      </a:r>
                    </a:p>
                  </a:txBody>
                  <a:tcPr>
                    <a:solidFill>
                      <a:srgbClr val="C75A1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描述</a:t>
                      </a:r>
                    </a:p>
                  </a:txBody>
                  <a:tcPr>
                    <a:solidFill>
                      <a:srgbClr val="C75A1A"/>
                    </a:solidFill>
                  </a:tcPr>
                </a:tc>
              </a:tr>
              <a:tr h="326571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`$schema`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JSON Schema URL（編輯器自動完成）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`description`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簡短描述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</a:tr>
              <a:tr h="326571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`version`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Marketplace 版本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`metadata.pluginRoot`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相對路徑的基底（例：`./plugins`）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</a:tr>
              <a:tr h="326571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`allowCrossMarketplaceDependenciesOn`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允許依賴的其他 marketplace 名單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6574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`renames`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舊名稱 → 新名稱對應（自動遷移）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457200" y="5029200"/>
            <a:ext cx="11277295" cy="45720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⚠️ 保留名稱（不可使用）：claude-code-marketplace、claude-plugins-official、anthropic-plugins 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57784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75A1A"/>
                </a:solidFill>
                <a:latin typeface="Calibri"/>
              </a:rPr>
              <a:t>👤 owner 欄位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`name` ✅ 必需：維護者或團隊名稱  /  `email` ❌ 選用：聯絡電子郵件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Plugin 項目欄位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2 個必需 + 多個選用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13 / 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來源：01 § Plugin 項目欄位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C2626"/>
                </a:solidFill>
                <a:latin typeface="Calibri"/>
              </a:rPr>
              <a:t>⭐ 必需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20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`name`（kebab-case，無空格）  /  `source`（string 或 object）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4688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75A1A"/>
                </a:solidFill>
                <a:latin typeface="Calibri"/>
              </a:rPr>
              <a:t>📋 標準中繼資料（選用）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2834640"/>
          <a:ext cx="54864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308610">
                <a:tc>
                  <a:txBody>
                    <a:bodyPr lIns="45720" rIns="45720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欄位</a:t>
                      </a:r>
                    </a:p>
                  </a:txBody>
                  <a:tcPr>
                    <a:solidFill>
                      <a:srgbClr val="C75A1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說明</a:t>
                      </a:r>
                    </a:p>
                  </a:txBody>
                  <a:tcPr>
                    <a:solidFill>
                      <a:srgbClr val="C75A1A"/>
                    </a:solidFill>
                  </a:tcPr>
                </a:tc>
              </a:tr>
              <a:tr h="30861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2C2C2C"/>
                          </a:solidFill>
                          <a:latin typeface="Calibri"/>
                        </a:rPr>
                        <a:t>`displayName`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2C2C2C"/>
                          </a:solidFill>
                          <a:latin typeface="Calibri"/>
                        </a:rPr>
                        <a:t>UI 顯示名稱（可含空格，v2.1.143+）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2C2C2C"/>
                          </a:solidFill>
                          <a:latin typeface="Calibri"/>
                        </a:rPr>
                        <a:t>`description`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2C2C2C"/>
                          </a:solidFill>
                          <a:latin typeface="Calibri"/>
                        </a:rPr>
                        <a:t>簡短描述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</a:tr>
              <a:tr h="30861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2C2C2C"/>
                          </a:solidFill>
                          <a:latin typeface="Calibri"/>
                        </a:rPr>
                        <a:t>`version`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2C2C2C"/>
                          </a:solidFill>
                          <a:latin typeface="Calibri"/>
                        </a:rPr>
                        <a:t>Plugin 版本（設了之後 plugin 會固定）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2C2C2C"/>
                          </a:solidFill>
                          <a:latin typeface="Calibri"/>
                        </a:rPr>
                        <a:t>`author` / `homepage` / `repository` / `license`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2C2C2C"/>
                          </a:solidFill>
                          <a:latin typeface="Calibri"/>
                        </a:rPr>
                        <a:t>作者與授權資訊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</a:tr>
              <a:tr h="30861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2C2C2C"/>
                          </a:solidFill>
                          <a:latin typeface="Calibri"/>
                        </a:rPr>
                        <a:t>`keywords` / `category` / `tags`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2C2C2C"/>
                          </a:solidFill>
                          <a:latin typeface="Calibri"/>
                        </a:rPr>
                        <a:t>分類與可搜尋標籤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2C2C2C"/>
                          </a:solidFill>
                          <a:latin typeface="Calibri"/>
                        </a:rPr>
                        <a:t>`strict`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2C2C2C"/>
                          </a:solidFill>
                          <a:latin typeface="Calibri"/>
                        </a:rPr>
                        <a:t>控制 plugin.json 是否為元件定義權威（預設 true）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</a:tr>
              <a:tr h="30861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2C2C2C"/>
                          </a:solidFill>
                          <a:latin typeface="Calibri"/>
                        </a:rPr>
                        <a:t>`defaultEnabled`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2C2C2C"/>
                          </a:solidFill>
                          <a:latin typeface="Calibri"/>
                        </a:rPr>
                        <a:t>安裝後是否啟用（預設 true）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156655" y="2468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75A1A"/>
                </a:solidFill>
                <a:latin typeface="Calibri"/>
              </a:rPr>
              <a:t>🔌 元件配置（選用）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156655" y="2834640"/>
          <a:ext cx="54864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352697">
                <a:tc>
                  <a:txBody>
                    <a:bodyPr lIns="45720" rIns="45720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欄位</a:t>
                      </a:r>
                    </a:p>
                  </a:txBody>
                  <a:tcPr>
                    <a:solidFill>
                      <a:srgbClr val="C75A1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說明</a:t>
                      </a:r>
                    </a:p>
                  </a:txBody>
                  <a:tcPr>
                    <a:solidFill>
                      <a:srgbClr val="C75A1A"/>
                    </a:solidFill>
                  </a:tcPr>
                </a:tc>
              </a:tr>
              <a:tr h="352697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2C2C2C"/>
                          </a:solidFill>
                          <a:latin typeface="Calibri"/>
                        </a:rPr>
                        <a:t>`skills`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2C2C2C"/>
                          </a:solidFill>
                          <a:latin typeface="Calibri"/>
                        </a:rPr>
                        <a:t>skill 目錄的自訂路徑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2697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2C2C2C"/>
                          </a:solidFill>
                          <a:latin typeface="Calibri"/>
                        </a:rPr>
                        <a:t>`commands`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2C2C2C"/>
                          </a:solidFill>
                          <a:latin typeface="Calibri"/>
                        </a:rPr>
                        <a:t>命令檔案或目錄的自訂路徑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</a:tr>
              <a:tr h="352697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2C2C2C"/>
                          </a:solidFill>
                          <a:latin typeface="Calibri"/>
                        </a:rPr>
                        <a:t>`agents`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2C2C2C"/>
                          </a:solidFill>
                          <a:latin typeface="Calibri"/>
                        </a:rPr>
                        <a:t>agent 檔案路徑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2697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2C2C2C"/>
                          </a:solidFill>
                          <a:latin typeface="Calibri"/>
                        </a:rPr>
                        <a:t>`hooks`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2C2C2C"/>
                          </a:solidFill>
                          <a:latin typeface="Calibri"/>
                        </a:rPr>
                        <a:t>hooks 配置或檔案路徑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</a:tr>
              <a:tr h="352697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2C2C2C"/>
                          </a:solidFill>
                          <a:latin typeface="Calibri"/>
                        </a:rPr>
                        <a:t>`mcpServers`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2C2C2C"/>
                          </a:solidFill>
                          <a:latin typeface="Calibri"/>
                        </a:rPr>
                        <a:t>MCP server 配置或路徑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2698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2C2C2C"/>
                          </a:solidFill>
                          <a:latin typeface="Calibri"/>
                        </a:rPr>
                        <a:t>`lspServers`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2C2C2C"/>
                          </a:solidFill>
                          <a:latin typeface="Calibri"/>
                        </a:rPr>
                        <a:t>LSP server 配置或路徑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457200" y="5440680"/>
            <a:ext cx="11277295" cy="36576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💡 `${CLAUDE_PLUGIN_ROOT}` 引用 plugin 安裝目錄；想保留更新狀態用 `${CLAUDE_PLUGIN_DATA}`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進階 Plugin 項目範例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完整 hooks + MCP + 多元件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14 / 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來源：01 § Plugin 項目欄位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7315200" cy="4572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54480"/>
            <a:ext cx="7315200" cy="457200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800">
                <a:solidFill>
                  <a:srgbClr val="E6E6E6"/>
                </a:solidFill>
                <a:latin typeface="Consolas"/>
              </a:rPr>
              <a:t>{</a:t>
            </a:r>
          </a:p>
          <a:p>
            <a:pPr algn="l"/>
            <a:r>
              <a:rPr sz="800">
                <a:solidFill>
                  <a:srgbClr val="E6E6E6"/>
                </a:solidFill>
                <a:latin typeface="Consolas"/>
              </a:rPr>
              <a:t>  "name": "enterprise-tools",</a:t>
            </a:r>
          </a:p>
          <a:p>
            <a:pPr algn="l"/>
            <a:r>
              <a:rPr sz="800">
                <a:solidFill>
                  <a:srgbClr val="E6E6E6"/>
                </a:solidFill>
                <a:latin typeface="Consolas"/>
              </a:rPr>
              <a:t>  "source": {</a:t>
            </a:r>
          </a:p>
          <a:p>
            <a:pPr algn="l"/>
            <a:r>
              <a:rPr sz="800">
                <a:solidFill>
                  <a:srgbClr val="E6E6E6"/>
                </a:solidFill>
                <a:latin typeface="Consolas"/>
              </a:rPr>
              <a:t>    "source": "github",</a:t>
            </a:r>
          </a:p>
          <a:p>
            <a:pPr algn="l"/>
            <a:r>
              <a:rPr sz="800">
                <a:solidFill>
                  <a:srgbClr val="E6E6E6"/>
                </a:solidFill>
                <a:latin typeface="Consolas"/>
              </a:rPr>
              <a:t>    "repo": "company/enterprise-plugin"</a:t>
            </a:r>
          </a:p>
          <a:p>
            <a:pPr algn="l"/>
            <a:r>
              <a:rPr sz="800">
                <a:solidFill>
                  <a:srgbClr val="E6E6E6"/>
                </a:solidFill>
                <a:latin typeface="Consolas"/>
              </a:rPr>
              <a:t>  },</a:t>
            </a:r>
          </a:p>
          <a:p>
            <a:pPr algn="l"/>
            <a:r>
              <a:rPr sz="800">
                <a:solidFill>
                  <a:srgbClr val="E6E6E6"/>
                </a:solidFill>
                <a:latin typeface="Consolas"/>
              </a:rPr>
              <a:t>  "description": "企業工作流程自動化工具",</a:t>
            </a:r>
          </a:p>
          <a:p>
            <a:pPr algn="l"/>
            <a:r>
              <a:rPr sz="800">
                <a:solidFill>
                  <a:srgbClr val="E6E6E6"/>
                </a:solidFill>
                <a:latin typeface="Consolas"/>
              </a:rPr>
              <a:t>  "version": "2.1.0",</a:t>
            </a:r>
          </a:p>
          <a:p>
            <a:pPr algn="l"/>
            <a:r>
              <a:rPr sz="800">
                <a:solidFill>
                  <a:srgbClr val="E6E6E6"/>
                </a:solidFill>
                <a:latin typeface="Consolas"/>
              </a:rPr>
              <a:t>  "author": {</a:t>
            </a:r>
          </a:p>
          <a:p>
            <a:pPr algn="l"/>
            <a:r>
              <a:rPr sz="800">
                <a:solidFill>
                  <a:srgbClr val="E6E6E6"/>
                </a:solidFill>
                <a:latin typeface="Consolas"/>
              </a:rPr>
              <a:t>    "name": "Enterprise Team",</a:t>
            </a:r>
          </a:p>
          <a:p>
            <a:pPr algn="l"/>
            <a:r>
              <a:rPr sz="800">
                <a:solidFill>
                  <a:srgbClr val="E6E6E6"/>
                </a:solidFill>
                <a:latin typeface="Consolas"/>
              </a:rPr>
              <a:t>    "email": "enterprise@example.com"</a:t>
            </a:r>
          </a:p>
          <a:p>
            <a:pPr algn="l"/>
            <a:r>
              <a:rPr sz="800">
                <a:solidFill>
                  <a:srgbClr val="E6E6E6"/>
                </a:solidFill>
                <a:latin typeface="Consolas"/>
              </a:rPr>
              <a:t>  },</a:t>
            </a:r>
          </a:p>
          <a:p>
            <a:pPr algn="l"/>
            <a:r>
              <a:rPr sz="800">
                <a:solidFill>
                  <a:srgbClr val="E6E6E6"/>
                </a:solidFill>
                <a:latin typeface="Consolas"/>
              </a:rPr>
              <a:t>  "homepage": "https://docs.example.com/enterprise",</a:t>
            </a:r>
          </a:p>
          <a:p>
            <a:pPr algn="l"/>
            <a:r>
              <a:rPr sz="800">
                <a:solidFill>
                  <a:srgbClr val="E6E6E6"/>
                </a:solidFill>
                <a:latin typeface="Consolas"/>
              </a:rPr>
              <a:t>  "license": "MIT",</a:t>
            </a:r>
          </a:p>
          <a:p>
            <a:pPr algn="l"/>
            <a:r>
              <a:rPr sz="800">
                <a:solidFill>
                  <a:srgbClr val="E6E6E6"/>
                </a:solidFill>
                <a:latin typeface="Consolas"/>
              </a:rPr>
              <a:t>  "commands": ["./commands/core/", "./commands/enterprise/"],</a:t>
            </a:r>
          </a:p>
          <a:p>
            <a:pPr algn="l"/>
            <a:r>
              <a:rPr sz="800">
                <a:solidFill>
                  <a:srgbClr val="E6E6E6"/>
                </a:solidFill>
                <a:latin typeface="Consolas"/>
              </a:rPr>
              <a:t>  "agents": ["./agents/security-reviewer.md", "./agents/compliance-checker.md"],</a:t>
            </a:r>
          </a:p>
          <a:p>
            <a:pPr algn="l"/>
            <a:r>
              <a:rPr sz="800">
                <a:solidFill>
                  <a:srgbClr val="E6E6E6"/>
                </a:solidFill>
                <a:latin typeface="Consolas"/>
              </a:rPr>
              <a:t>  "hooks": {</a:t>
            </a:r>
          </a:p>
          <a:p>
            <a:pPr algn="l"/>
            <a:r>
              <a:rPr sz="800">
                <a:solidFill>
                  <a:srgbClr val="E6E6E6"/>
                </a:solidFill>
                <a:latin typeface="Consolas"/>
              </a:rPr>
              <a:t>    "PostToolUse": [{</a:t>
            </a:r>
          </a:p>
          <a:p>
            <a:pPr algn="l"/>
            <a:r>
              <a:rPr sz="800">
                <a:solidFill>
                  <a:srgbClr val="E6E6E6"/>
                </a:solidFill>
                <a:latin typeface="Consolas"/>
              </a:rPr>
              <a:t>      "matcher": "Write|Edit",</a:t>
            </a:r>
          </a:p>
          <a:p>
            <a:pPr algn="l"/>
            <a:r>
              <a:rPr sz="800">
                <a:solidFill>
                  <a:srgbClr val="E6E6E6"/>
                </a:solidFill>
                <a:latin typeface="Consolas"/>
              </a:rPr>
              <a:t>      "hooks": [{</a:t>
            </a:r>
          </a:p>
          <a:p>
            <a:pPr algn="l"/>
            <a:r>
              <a:rPr sz="800">
                <a:solidFill>
                  <a:srgbClr val="E6E6E6"/>
                </a:solidFill>
                <a:latin typeface="Consolas"/>
              </a:rPr>
              <a:t>        "type": "command",</a:t>
            </a:r>
          </a:p>
          <a:p>
            <a:pPr algn="l"/>
            <a:r>
              <a:rPr sz="800">
                <a:solidFill>
                  <a:srgbClr val="E6E6E6"/>
                </a:solidFill>
                <a:latin typeface="Consolas"/>
              </a:rPr>
              <a:t>        "command": "${CLAUDE_PLUGIN_ROOT}/scripts/validate.sh"</a:t>
            </a:r>
          </a:p>
          <a:p>
            <a:pPr algn="l"/>
            <a:r>
              <a:rPr sz="800">
                <a:solidFill>
                  <a:srgbClr val="E6E6E6"/>
                </a:solidFill>
                <a:latin typeface="Consolas"/>
              </a:rPr>
              <a:t>      }]</a:t>
            </a:r>
          </a:p>
          <a:p>
            <a:pPr algn="l"/>
            <a:r>
              <a:rPr sz="800">
                <a:solidFill>
                  <a:srgbClr val="E6E6E6"/>
                </a:solidFill>
                <a:latin typeface="Consolas"/>
              </a:rPr>
              <a:t>    }]</a:t>
            </a:r>
          </a:p>
          <a:p>
            <a:pPr algn="l"/>
            <a:r>
              <a:rPr sz="800">
                <a:solidFill>
                  <a:srgbClr val="E6E6E6"/>
                </a:solidFill>
                <a:latin typeface="Consolas"/>
              </a:rPr>
              <a:t>  },</a:t>
            </a:r>
          </a:p>
          <a:p>
            <a:pPr algn="l"/>
            <a:r>
              <a:rPr sz="800">
                <a:solidFill>
                  <a:srgbClr val="E6E6E6"/>
                </a:solidFill>
                <a:latin typeface="Consolas"/>
              </a:rPr>
              <a:t>  "mcpServers": {</a:t>
            </a:r>
          </a:p>
          <a:p>
            <a:pPr algn="l"/>
            <a:r>
              <a:rPr sz="800">
                <a:solidFill>
                  <a:srgbClr val="E6E6E6"/>
                </a:solidFill>
                <a:latin typeface="Consolas"/>
              </a:rPr>
              <a:t>    "enterprise-db": {</a:t>
            </a:r>
          </a:p>
          <a:p>
            <a:pPr algn="l"/>
            <a:r>
              <a:rPr sz="800">
                <a:solidFill>
                  <a:srgbClr val="E6E6E6"/>
                </a:solidFill>
                <a:latin typeface="Consolas"/>
              </a:rPr>
              <a:t>      "command": "${CLAUDE_PLUGIN_ROOT}/servers/db-server",</a:t>
            </a:r>
          </a:p>
          <a:p>
            <a:pPr algn="l"/>
            <a:r>
              <a:rPr sz="800">
                <a:solidFill>
                  <a:srgbClr val="E6E6E6"/>
                </a:solidFill>
                <a:latin typeface="Consolas"/>
              </a:rPr>
              <a:t>      "args": ["--config", "${CLAUDE_PLUGIN_ROOT}/config.json"]</a:t>
            </a:r>
          </a:p>
          <a:p>
            <a:pPr algn="l"/>
            <a:r>
              <a:rPr sz="800">
                <a:solidFill>
                  <a:srgbClr val="E6E6E6"/>
                </a:solidFill>
                <a:latin typeface="Consolas"/>
              </a:rPr>
              <a:t>    }</a:t>
            </a:r>
          </a:p>
          <a:p>
            <a:pPr algn="l"/>
            <a:r>
              <a:rPr sz="800">
                <a:solidFill>
                  <a:srgbClr val="E6E6E6"/>
                </a:solidFill>
                <a:latin typeface="Consolas"/>
              </a:rPr>
              <a:t>  },</a:t>
            </a:r>
          </a:p>
          <a:p>
            <a:pPr algn="l"/>
            <a:r>
              <a:rPr sz="800">
                <a:solidFill>
                  <a:srgbClr val="E6E6E6"/>
                </a:solidFill>
                <a:latin typeface="Consolas"/>
              </a:rPr>
              <a:t>  "strict": false</a:t>
            </a:r>
          </a:p>
          <a:p>
            <a:pPr algn="l"/>
            <a:r>
              <a:rPr sz="800">
                <a:solidFill>
                  <a:srgbClr val="E6E6E6"/>
                </a:solidFill>
                <a:latin typeface="Consolas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15544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75A1A"/>
                </a:solidFill>
                <a:latin typeface="Calibri"/>
              </a:rPr>
              <a:t>📌 重點提醒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192024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`commands` / `agents`：可指定多個目錄或檔案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路徑**相對於 plugin 根目錄**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`${CLAUDE_PLUGIN_ROOT}` 引用 plugin 安裝目錄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`${CLAUDE_PLUGIN_DATA}` 保留 plugin 更新後狀態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`strict: false` → marketplace 項目是完整定義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112772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600" b="1">
                <a:solidFill>
                  <a:srgbClr val="C75A1A"/>
                </a:solidFill>
                <a:latin typeface="Calibri"/>
              </a:rPr>
              <a:t>Part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2C2C2C"/>
                </a:solidFill>
                <a:latin typeface="Calibri"/>
              </a:rPr>
              <a:t>Plugin 來源（5 種）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i="1">
                <a:solidFill>
                  <a:srgbClr val="6B6B6B"/>
                </a:solidFill>
                <a:latin typeface="Calibri"/>
              </a:rPr>
              <a:t>從本機路徑到 npm 套件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5 種 Plugin 來源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決定 plugin 從哪裡取得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16 / 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來源：01 § Plugin 來源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54480"/>
            <a:ext cx="5577840" cy="841248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6420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C2C2C"/>
                </a:solidFill>
                <a:latin typeface="Calibri"/>
              </a:rPr>
              <a:t>📁  相對路徑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6B6B"/>
                </a:solidFill>
                <a:latin typeface="Calibri"/>
              </a:rPr>
              <a:t>marketplace 儲存庫內的本機目錄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0320" y="1719072"/>
            <a:ext cx="3383280" cy="5486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1719072"/>
            <a:ext cx="3383280" cy="54864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900">
                <a:solidFill>
                  <a:srgbClr val="E6E6E6"/>
                </a:solidFill>
                <a:latin typeface="Consolas"/>
              </a:rPr>
              <a:t>"./my-plugin"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468880"/>
            <a:ext cx="5577840" cy="841248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57860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C2C2C"/>
                </a:solidFill>
                <a:latin typeface="Calibri"/>
              </a:rPr>
              <a:t>🐙  GitHub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926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6B6B"/>
                </a:solidFill>
                <a:latin typeface="Calibri"/>
              </a:rPr>
              <a:t>最常用，自動 clone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0" y="2633472"/>
            <a:ext cx="3383280" cy="5486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60320" y="2633472"/>
            <a:ext cx="3383280" cy="54864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900">
                <a:solidFill>
                  <a:srgbClr val="E6E6E6"/>
                </a:solidFill>
                <a:latin typeface="Consolas"/>
              </a:rPr>
              <a:t>{"source":"github","repo":"owner/repo"}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383280"/>
            <a:ext cx="5577840" cy="841248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49300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C2C2C"/>
                </a:solidFill>
                <a:latin typeface="Calibri"/>
              </a:rPr>
              <a:t>🔗  Git URL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840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6B6B"/>
                </a:solidFill>
                <a:latin typeface="Calibri"/>
              </a:rPr>
              <a:t>任意 git 主機（GitLab、Bitbucket）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60320" y="3547872"/>
            <a:ext cx="3383280" cy="5486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60320" y="3547872"/>
            <a:ext cx="3383280" cy="54864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900">
                <a:solidFill>
                  <a:srgbClr val="E6E6E6"/>
                </a:solidFill>
                <a:latin typeface="Consolas"/>
              </a:rPr>
              <a:t>{"source":"url","url":"https://..."}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297680"/>
            <a:ext cx="5577840" cy="841248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40740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C2C2C"/>
                </a:solidFill>
                <a:latin typeface="Calibri"/>
              </a:rPr>
              <a:t>📦  Git 子目錄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754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6B6B"/>
                </a:solidFill>
                <a:latin typeface="Calibri"/>
              </a:rPr>
              <a:t>monorepo 用，稀疏複製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60320" y="4462272"/>
            <a:ext cx="3383280" cy="5486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560320" y="4462272"/>
            <a:ext cx="3383280" cy="54864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900">
                <a:solidFill>
                  <a:srgbClr val="E6E6E6"/>
                </a:solidFill>
                <a:latin typeface="Consolas"/>
              </a:rPr>
              <a:t>{"source":"git-subdir","path":"..."}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212080"/>
            <a:ext cx="5577840" cy="841248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32180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C2C2C"/>
                </a:solidFill>
                <a:latin typeface="Calibri"/>
              </a:rPr>
              <a:t>📚  npm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6692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6B6B"/>
                </a:solidFill>
                <a:latin typeface="Calibri"/>
              </a:rPr>
              <a:t>透過 `npm install` 安裝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560320" y="5376672"/>
            <a:ext cx="3383280" cy="5486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560320" y="5376672"/>
            <a:ext cx="3383280" cy="54864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900">
                <a:solidFill>
                  <a:srgbClr val="E6E6E6"/>
                </a:solidFill>
                <a:latin typeface="Consolas"/>
              </a:rPr>
              <a:t>{"source":"npm","package":"@acme/..."}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6172200"/>
            <a:ext cx="11277295" cy="27432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000">
                <a:solidFill>
                  <a:srgbClr val="2C2C2C"/>
                </a:solidFill>
                <a:latin typeface="Calibri"/>
              </a:rPr>
              <a:t>📌 同時設 `ref` + `sha` 時，`sha` 是有效的固定（即使分支被刪，只要 commit 還能取得就成功）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相對路徑的陷阱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URL-based marketplace 會失效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17 / 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來源：01 § 相對路徑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DC2626"/>
                </a:solidFill>
                <a:latin typeface="Calibri"/>
              </a:rPr>
              <a:t>⚠️ 失敗情境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2024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2C2C2C"/>
                </a:solidFill>
                <a:latin typeface="Calibri"/>
              </a:rPr>
              <a:t>• **症狀**：用 URL 加 marketplace，plugin 報「path not found」</a:t>
            </a:r>
          </a:p>
          <a:p>
            <a:pPr algn="l"/>
            <a:r>
              <a:rPr sz="1400">
                <a:solidFill>
                  <a:srgbClr val="2C2C2C"/>
                </a:solidFill>
                <a:latin typeface="Calibri"/>
              </a:rPr>
              <a:t>• **原因**：URL-based marketplace 只下載 `marketplace.json`，不下載其他檔案</a:t>
            </a:r>
          </a:p>
          <a:p>
            <a:pPr algn="l"/>
            <a:r>
              <a:rPr sz="1400">
                <a:solidFill>
                  <a:srgbClr val="2C2C2C"/>
                </a:solidFill>
                <a:latin typeface="Calibri"/>
              </a:rPr>
              <a:t>• **限制**：必須以 `./` 開頭，不能用 `../` 跳出根目錄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749039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6A34A"/>
                </a:solidFill>
                <a:latin typeface="Calibri"/>
              </a:rPr>
              <a:t>✅ 解決方案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1148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2C2C2C"/>
                </a:solidFill>
                <a:latin typeface="Calibri"/>
              </a:rPr>
              <a:t>• 改用外部來源（GitHub / npm / git URL）</a:t>
            </a:r>
          </a:p>
          <a:p>
            <a:pPr algn="l"/>
            <a:r>
              <a:rPr sz="1400">
                <a:solidFill>
                  <a:srgbClr val="2C2C2C"/>
                </a:solidFill>
                <a:latin typeface="Calibri"/>
              </a:rPr>
              <a:t>• 或用 **git-based marketplace**（會 clone 整個 repo）</a:t>
            </a:r>
          </a:p>
          <a:p>
            <a:pPr algn="l"/>
            <a:r>
              <a:rPr sz="1400">
                <a:solidFill>
                  <a:srgbClr val="2C2C2C"/>
                </a:solidFill>
                <a:latin typeface="Calibri"/>
              </a:rPr>
              <a:t>• 對於企業內部使用：考慮把整個 marketplace 託管在 GitHub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760720"/>
            <a:ext cx="11277295" cy="36576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💡 本機路徑相對於 **marketplace 根目錄**（包含 `.claude-plugin/` 的那層）解析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112772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600" b="1">
                <a:solidFill>
                  <a:srgbClr val="C75A1A"/>
                </a:solidFill>
                <a:latin typeface="Calibri"/>
              </a:rPr>
              <a:t>Part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2C2C2C"/>
                </a:solidFill>
                <a:latin typeface="Calibri"/>
              </a:rPr>
              <a:t>Strict Mode 與託管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i="1">
                <a:solidFill>
                  <a:srgbClr val="6B6B6B"/>
                </a:solidFill>
                <a:latin typeface="Calibri"/>
              </a:rPr>
              <a:t>企業環境的安全管控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Strict Mode 嚴格模式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控制 plugin.json 是否為元件定義的權威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19 / 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來源：01 § Strict Mode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54480"/>
            <a:ext cx="5577840" cy="4572000"/>
          </a:xfrm>
          <a:prstGeom prst="roundRect">
            <a:avLst/>
          </a:prstGeom>
          <a:solidFill>
            <a:srgbClr val="F3F0E9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554480"/>
            <a:ext cx="557784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55448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✅ strict: true（預設）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94560"/>
            <a:ext cx="5212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`plugin.json` 為**權威**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marketplace 項目可補充元件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兩者**合併**生效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大多數情境適用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plugin 有自己的 plugin.json 並管理元件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6655" y="1554480"/>
            <a:ext cx="5577840" cy="4572000"/>
          </a:xfrm>
          <a:prstGeom prst="roundRect">
            <a:avLst/>
          </a:prstGeom>
          <a:solidFill>
            <a:srgbClr val="F3F0E9"/>
          </a:solidFill>
          <a:ln w="2540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56655" y="1554480"/>
            <a:ext cx="5577840" cy="45720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56655" y="155448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⚠️ strict: false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9535" y="2194560"/>
            <a:ext cx="5212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marketplace 項目是**完整定義**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若 plugin 也有 plugin.json 宣告元件 → **衝突**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衝突 → **無法載入**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marketplace 運營商要完全控制時用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重組或策劃 plugin 的元件時適用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6309360"/>
            <a:ext cx="11277295" cy="36576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💡 經驗法則：用 strict: true 讓 plugin 自己管理，市場只補充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託管並分發 Marketplace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4 種託管選項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20 / 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來源：01 § 託管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54480"/>
            <a:ext cx="5577840" cy="4572000"/>
          </a:xfrm>
          <a:prstGeom prst="roundRect">
            <a:avLst/>
          </a:prstGeom>
          <a:solidFill>
            <a:srgbClr val="F3F0E9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554480"/>
            <a:ext cx="557784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55448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🐙 1. GitHub（推薦）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94560"/>
            <a:ext cx="5212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建立新 repo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加 `.claude-plugin/marketplace.json`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分享指令：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`/plugin marketplace add owner/repo`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免費、CI/CD 整合完善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6655" y="1554480"/>
            <a:ext cx="5577840" cy="4572000"/>
          </a:xfrm>
          <a:prstGeom prst="roundRect">
            <a:avLst/>
          </a:prstGeom>
          <a:solidFill>
            <a:srgbClr val="F3F0E9"/>
          </a:solidFill>
          <a:ln w="2540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56655" y="1554480"/>
            <a:ext cx="5577840" cy="45720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56655" y="155448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🌐 2. 其他 Git 主機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9535" y="2194560"/>
            <a:ext cx="5212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GitLab、Bitbucket、Gitea…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/plugin marketplace add https://gitlab.com/.../plugins.git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支援 SSH 與 HTTPS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私人 repo 用既有 git 認證助手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30936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C2626"/>
                </a:solidFill>
                <a:latin typeface="Calibri"/>
              </a:rPr>
              <a:t>🔐 3. 私人 repo：背景自動更新的挑戰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629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  <a:latin typeface="Calibri"/>
              </a:rPr>
              <a:t>預設 background refresh 對 `git pull` 停用認證助手 → HTTPS 認證失敗。解法：CLAUDE_CODE_PLUGIN_KEEP_MARKETPLACE_ON_FAILURE=1、gh auth setup-git、URL token 重寫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私人 Repo 認證：3 種解法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處理 background refresh 問題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21 / 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來源：01 § 私人 repo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75A1A"/>
                </a:solidFill>
                <a:latin typeface="Calibri"/>
              </a:rPr>
              <a:t>解法 1：保留最後副本（環境變數）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920240"/>
            <a:ext cx="10972800" cy="5486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20240"/>
            <a:ext cx="10972800" cy="54864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300">
                <a:solidFill>
                  <a:srgbClr val="E6E6E6"/>
                </a:solidFill>
                <a:latin typeface="Consolas"/>
              </a:rPr>
              <a:t>export CLAUDE_CODE_PLUGIN_KEEP_MARKETPLACE_ON_FAILURE=1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5176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75A1A"/>
                </a:solidFill>
                <a:latin typeface="Calibri"/>
              </a:rPr>
              <a:t>解法 2：全域 URL 重寫（嵌入 token）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017520"/>
            <a:ext cx="10972800" cy="210312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017520"/>
            <a:ext cx="10972800" cy="210312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# GitHub 範例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git config --global url."https://x-access-token:YOUR_TOKEN@github.com/acme-corp/plugins".insteadOf "https://github.com/acme-corp/plugins"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# GitLab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git config --global url."https://oauth2:YOUR_TOKEN@gitlab.com/acme-corp/plugins".insteadOf "https://gitlab.com/acme-corp/plugins"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# Bitbucket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git config --global url."https://x-token-auth:YOUR_TOKEN@bitbucket.org/acme-corp/plugins".insteadOf "https://bitbucket.org/acme-corp/plugins" 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303520"/>
            <a:ext cx="11277295" cy="36576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⚠️ 重寫以**純文字**儲存在 gitconfig，請用**唯讀** token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85216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B6B6B"/>
                </a:solidFill>
                <a:latin typeface="Calibri"/>
              </a:rPr>
              <a:t>💡 CI/CD：GitHub Actions 匯出 GH_TOKEN → `gh auth setup-git`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112772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600" b="1">
                <a:solidFill>
                  <a:srgbClr val="C75A1A"/>
                </a:solidFill>
                <a:latin typeface="Calibri"/>
              </a:rPr>
              <a:t>Part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2C2C2C"/>
                </a:solidFill>
                <a:latin typeface="Calibri"/>
              </a:rPr>
              <a:t>為團隊與容器預先配置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i="1">
                <a:solidFill>
                  <a:srgbClr val="6B6B6B"/>
                </a:solidFill>
                <a:latin typeface="Calibri"/>
              </a:rPr>
              <a:t>pre-config 與 seed dir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為團隊預先配置 Marketplace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.claude/settings.json 自動提示安裝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23 / 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來源：01 § 為團隊預先配置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54480"/>
            <a:ext cx="10972800" cy="27432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10972800" cy="274320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// .claude/settings.json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{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"extraKnownMarketplaces": {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"company-tools": {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  "source": {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    "source": "github",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    "repo": "your-org/claude-plugins"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  }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}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},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"enabledPlugins": {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"code-formatter@company-tools": true,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"deployment-tools@company-tools": true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}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團隊成員信任專案資料夾時**自動被提示安裝**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`enabledPlugins` 指定**預設啟用**的 plugin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Marketplace 狀態存於 `~/.claude/plugins/known_marketplaces.json`（每個使用者一份）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852160"/>
            <a:ext cx="11277295" cy="36576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📌 v2.1.195+：來自外部來源的 plugin 在團隊成員安裝前**不會載入**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為容器預先填充 Plugin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CI/CD 環境的 seed dir 機制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24 / 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來源：01 § 為容器預先填充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54480"/>
            <a:ext cx="10972800" cy="12801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10972800" cy="128016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300">
                <a:solidFill>
                  <a:srgbClr val="E6E6E6"/>
                </a:solidFill>
                <a:latin typeface="Consolas"/>
              </a:rPr>
              <a:t>$CLAUDE_CODE_PLUGIN_SEED_DIR/</a:t>
            </a:r>
          </a:p>
          <a:p>
            <a:pPr algn="l"/>
            <a:r>
              <a:rPr sz="1300">
                <a:solidFill>
                  <a:srgbClr val="E6E6E6"/>
                </a:solidFill>
                <a:latin typeface="Consolas"/>
              </a:rPr>
              <a:t>├── known_marketplaces.json</a:t>
            </a:r>
          </a:p>
          <a:p>
            <a:pPr algn="l"/>
            <a:r>
              <a:rPr sz="1300">
                <a:solidFill>
                  <a:srgbClr val="E6E6E6"/>
                </a:solidFill>
                <a:latin typeface="Consolas"/>
              </a:rPr>
              <a:t>├── marketplaces/&lt;name&gt;/...</a:t>
            </a:r>
          </a:p>
          <a:p>
            <a:pPr algn="l"/>
            <a:r>
              <a:rPr sz="1300">
                <a:solidFill>
                  <a:srgbClr val="E6E6E6"/>
                </a:solidFill>
                <a:latin typeface="Consolas"/>
              </a:rPr>
              <a:t>└── cache/&lt;marketplace&gt;/&lt;plugin&gt;/&lt;version&gt;/...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0175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75A1A"/>
                </a:solidFill>
                <a:latin typeface="Calibri"/>
              </a:rPr>
              <a:t>🛠️ 兩種建置方式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383280"/>
            <a:ext cx="5577840" cy="2103120"/>
          </a:xfrm>
          <a:prstGeom prst="roundRect">
            <a:avLst/>
          </a:prstGeom>
          <a:solidFill>
            <a:srgbClr val="F3F0E9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3383280"/>
            <a:ext cx="557784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38328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方式 A：建置時跑安裝再複製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023360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在建置中執行：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`claude plugin marketplace add ...`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`claude plugin install my-tool@...`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然後把 `~/.claude/plugins` 複製到映像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設 SEED_DIR 指向它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56655" y="3383280"/>
            <a:ext cx="5577840" cy="2103120"/>
          </a:xfrm>
          <a:prstGeom prst="roundRect">
            <a:avLst/>
          </a:prstGeom>
          <a:solidFill>
            <a:srgbClr val="F3F0E9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56655" y="3383280"/>
            <a:ext cx="5577840" cy="457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56655" y="338328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方式 B：直接安裝到目標路徑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9535" y="4023360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用 `CLAUDE_CODE_PLUGIN_CACHE_DIR` 環境變數：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`CLAUDE_CODE_PLUGIN_CACHE_DIR=/opt/claude-seed \`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  `claude plugin install my-tool@...`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Runtime 設 `CLAUDE_CODE_PLUGIN_SEED_DIR`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跳過複製步驟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**唯讀**：種子目錄永遠不會被寫入；自動更新被停用  /  **種子優先**：種子 marketplace 會覆寫使用者配置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**變更被擋**：`/plugin marketplace remove` 或 `update` 會失敗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112772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600" b="1">
                <a:solidFill>
                  <a:srgbClr val="C75A1A"/>
                </a:solidFill>
                <a:latin typeface="Calibri"/>
              </a:rPr>
              <a:t>Part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2C2C2C"/>
                </a:solidFill>
                <a:latin typeface="Calibri"/>
              </a:rPr>
              <a:t>受管 Marketplace 限制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i="1">
                <a:solidFill>
                  <a:srgbClr val="6B6B6B"/>
                </a:solidFill>
                <a:latin typeface="Calibri"/>
              </a:rPr>
              <a:t>企業級安全管控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受管 Marketplace 限制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用 strictKnownMarketplaces 控管來源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26 / 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來源：01 § 受管 Marketplace 限制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75A1A"/>
                </a:solidFill>
                <a:latin typeface="Calibri"/>
              </a:rPr>
              <a:t>🛡️ 限制如何運作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2024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在 marketplace **新增**以及 plugin 安裝、更新、重新整理、**自動更新**時檢查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在任何網路或檔案系統操作**之前**檢查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大多數來源類型用**精確匹配**（URL 結尾的 `/`、`.git` 後綴、`ssh://` vs `https://` 視為不同）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受管設定中，**使用者與專案配置無法覆蓋**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2976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75A1A"/>
                </a:solidFill>
                <a:latin typeface="Calibri"/>
              </a:rPr>
              <a:t>📋 4 種配置模式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4663440"/>
          <a:ext cx="11277295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329184">
                <a:tc>
                  <a:txBody>
                    <a:bodyPr lIns="45720" rIns="4572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配置</a:t>
                      </a:r>
                    </a:p>
                  </a:txBody>
                  <a:tcPr>
                    <a:solidFill>
                      <a:srgbClr val="C75A1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行為</a:t>
                      </a:r>
                    </a:p>
                  </a:txBody>
                  <a:tcPr>
                    <a:solidFill>
                      <a:srgbClr val="C75A1A"/>
                    </a:solidFill>
                  </a:tcPr>
                </a:tc>
              </a:tr>
              <a:tr h="329184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未定義（預設）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無限制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空陣列 `[]`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**完全鎖定**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</a:tr>
              <a:tr h="329184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來源清單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**只允許白名單**內的 marketplace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`hostPattern` / `pathPattern`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內部 git 伺服器 / 檔案系統路徑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457200" y="6400800"/>
            <a:ext cx="11277295" cy="27432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000">
                <a:solidFill>
                  <a:srgbClr val="2C2C2C"/>
                </a:solidFill>
                <a:latin typeface="Calibri"/>
              </a:rPr>
              <a:t>💡 `strictKnownMarketplaces` 只限制能新增的內容，不會自動註冊；搭配 `extraKnownMarketplaces` 才能自動供應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strictKnownMarketplaces 實戰配置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4 種典型場景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27 / 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來源：01 § 限制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C2626"/>
                </a:solidFill>
                <a:latin typeface="Calibri"/>
              </a:rPr>
              <a:t>🔒 完全鎖定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20240"/>
            <a:ext cx="5486400" cy="73152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920240"/>
            <a:ext cx="5486400" cy="73152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{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  "strictKnownMarketplaces": []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56655" y="1554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75A1A"/>
                </a:solidFill>
                <a:latin typeface="Calibri"/>
              </a:rPr>
              <a:t>📋 只允許白名單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56655" y="1920240"/>
            <a:ext cx="5486400" cy="210312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56655" y="1920240"/>
            <a:ext cx="5486400" cy="210312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900">
                <a:solidFill>
                  <a:srgbClr val="E6E6E6"/>
                </a:solidFill>
                <a:latin typeface="Consolas"/>
              </a:rPr>
              <a:t>{</a:t>
            </a:r>
          </a:p>
          <a:p>
            <a:pPr algn="l"/>
            <a:r>
              <a:rPr sz="900">
                <a:solidFill>
                  <a:srgbClr val="E6E6E6"/>
                </a:solidFill>
                <a:latin typeface="Consolas"/>
              </a:rPr>
              <a:t>  "strictKnownMarketplaces": [</a:t>
            </a:r>
          </a:p>
          <a:p>
            <a:pPr algn="l"/>
            <a:r>
              <a:rPr sz="900">
                <a:solidFill>
                  <a:srgbClr val="E6E6E6"/>
                </a:solidFill>
                <a:latin typeface="Consolas"/>
              </a:rPr>
              <a:t>    {</a:t>
            </a:r>
          </a:p>
          <a:p>
            <a:pPr algn="l"/>
            <a:r>
              <a:rPr sz="900">
                <a:solidFill>
                  <a:srgbClr val="E6E6E6"/>
                </a:solidFill>
                <a:latin typeface="Consolas"/>
              </a:rPr>
              <a:t>      "source": "github",</a:t>
            </a:r>
          </a:p>
          <a:p>
            <a:pPr algn="l"/>
            <a:r>
              <a:rPr sz="900">
                <a:solidFill>
                  <a:srgbClr val="E6E6E6"/>
                </a:solidFill>
                <a:latin typeface="Consolas"/>
              </a:rPr>
              <a:t>      "repo": "acme-corp/approved-plugins"</a:t>
            </a:r>
          </a:p>
          <a:p>
            <a:pPr algn="l"/>
            <a:r>
              <a:rPr sz="900">
                <a:solidFill>
                  <a:srgbClr val="E6E6E6"/>
                </a:solidFill>
                <a:latin typeface="Consolas"/>
              </a:rPr>
              <a:t>    },</a:t>
            </a:r>
          </a:p>
          <a:p>
            <a:pPr algn="l"/>
            <a:r>
              <a:rPr sz="900">
                <a:solidFill>
                  <a:srgbClr val="E6E6E6"/>
                </a:solidFill>
                <a:latin typeface="Consolas"/>
              </a:rPr>
              <a:t>    {</a:t>
            </a:r>
          </a:p>
          <a:p>
            <a:pPr algn="l"/>
            <a:r>
              <a:rPr sz="900">
                <a:solidFill>
                  <a:srgbClr val="E6E6E6"/>
                </a:solidFill>
                <a:latin typeface="Consolas"/>
              </a:rPr>
              <a:t>      "source": "github",</a:t>
            </a:r>
          </a:p>
          <a:p>
            <a:pPr algn="l"/>
            <a:r>
              <a:rPr sz="900">
                <a:solidFill>
                  <a:srgbClr val="E6E6E6"/>
                </a:solidFill>
                <a:latin typeface="Consolas"/>
              </a:rPr>
              <a:t>      "repo": "acme-corp/security-tools",</a:t>
            </a:r>
          </a:p>
          <a:p>
            <a:pPr algn="l"/>
            <a:r>
              <a:rPr sz="900">
                <a:solidFill>
                  <a:srgbClr val="E6E6E6"/>
                </a:solidFill>
                <a:latin typeface="Consolas"/>
              </a:rPr>
              <a:t>      "ref": "v2.0"</a:t>
            </a:r>
          </a:p>
          <a:p>
            <a:pPr algn="l"/>
            <a:r>
              <a:rPr sz="900">
                <a:solidFill>
                  <a:srgbClr val="E6E6E6"/>
                </a:solidFill>
                <a:latin typeface="Consolas"/>
              </a:rPr>
              <a:t>    }</a:t>
            </a:r>
          </a:p>
          <a:p>
            <a:pPr algn="l"/>
            <a:r>
              <a:rPr sz="900">
                <a:solidFill>
                  <a:srgbClr val="E6E6E6"/>
                </a:solidFill>
                <a:latin typeface="Consolas"/>
              </a:rPr>
              <a:t>  ]</a:t>
            </a:r>
          </a:p>
          <a:p>
            <a:pPr algn="l"/>
            <a:r>
              <a:rPr sz="900">
                <a:solidFill>
                  <a:srgbClr val="E6E6E6"/>
                </a:solidFill>
                <a:latin typeface="Consolas"/>
              </a:rPr>
              <a:t>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114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75A1A"/>
                </a:solidFill>
                <a:latin typeface="Calibri"/>
              </a:rPr>
              <a:t>🏢 內部 git 伺服器（hostPattern）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480560"/>
            <a:ext cx="5486400" cy="12801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480560"/>
            <a:ext cx="5486400" cy="128016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{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"strictKnownMarketplaces": [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  {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    "source": "hostPattern",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    "hostPattern": "^github\\.example\\.com$"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  }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]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56655" y="4114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75A1A"/>
                </a:solidFill>
                <a:latin typeface="Calibri"/>
              </a:rPr>
              <a:t>📂 檔案系統路徑（pathPattern）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56655" y="4480560"/>
            <a:ext cx="5486400" cy="12801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56655" y="4480560"/>
            <a:ext cx="5486400" cy="128016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{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"strictKnownMarketplaces": [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  {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    "source": "pathPattern",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    "pathPattern": "^/opt/approved/"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  }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]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}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897880"/>
            <a:ext cx="11277295" cy="54864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100">
                <a:solidFill>
                  <a:srgbClr val="2C2C2C"/>
                </a:solidFill>
                <a:latin typeface="Calibri"/>
              </a:rPr>
              <a:t>💡 允許任何檔案路徑但仍控管網路來源：pathPattern 用 `.*`  /  搭配 `disableSideloadFlags` (拒絕 CLI 旗標側載) 與 `pluginSuggestionMarketplaces` (目錄相關建議)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112772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600" b="1">
                <a:solidFill>
                  <a:srgbClr val="C75A1A"/>
                </a:solidFill>
                <a:latin typeface="Calibri"/>
              </a:rPr>
              <a:t>Part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2C2C2C"/>
                </a:solidFill>
                <a:latin typeface="Calibri"/>
              </a:rPr>
              <a:t>版本、發佈、驗證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i="1">
                <a:solidFill>
                  <a:srgbClr val="6B6B6B"/>
                </a:solidFill>
                <a:latin typeface="Calibri"/>
              </a:rPr>
              <a:t>semver、發行通道、CLI 指令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版本解析與發行通道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穩定 / 最新 分流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29 / 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來源：01 § 版本解析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75A1A"/>
                </a:solidFill>
                <a:latin typeface="Calibri"/>
              </a:rPr>
              <a:t>🔍 解析優先順序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2024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2C2C2C"/>
                </a:solidFill>
                <a:latin typeface="Calibri"/>
              </a:rPr>
              <a:t>• 1️⃣ `plugin.json` 的 version</a:t>
            </a:r>
          </a:p>
          <a:p>
            <a:pPr algn="l"/>
            <a:r>
              <a:rPr sz="1400">
                <a:solidFill>
                  <a:srgbClr val="2C2C2C"/>
                </a:solidFill>
                <a:latin typeface="Calibri"/>
              </a:rPr>
              <a:t>• 2️⃣ `marketplace.json` 項目的 version</a:t>
            </a:r>
          </a:p>
          <a:p>
            <a:pPr algn="l"/>
            <a:r>
              <a:rPr sz="1400">
                <a:solidFill>
                  <a:srgbClr val="2C2C2C"/>
                </a:solidFill>
                <a:latin typeface="Calibri"/>
              </a:rPr>
              <a:t>• 3️⃣ Plugin 來源的 git commit SHA</a:t>
            </a:r>
          </a:p>
          <a:p>
            <a:pPr algn="l"/>
            <a:r>
              <a:rPr sz="1400">
                <a:solidFill>
                  <a:srgbClr val="2C2C2C"/>
                </a:solidFill>
                <a:latin typeface="Calibri"/>
              </a:rPr>
              <a:t>• ⚠️ 同時設 plugin.json 和 marketplace.json 的 version → **前者優先**（且會靜默使用）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8404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75A1A"/>
                </a:solidFill>
                <a:latin typeface="Calibri"/>
              </a:rPr>
              <a:t>📊 固定版本的兩種方式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4206240"/>
          <a:ext cx="11277295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457200">
                <a:tc>
                  <a:txBody>
                    <a:bodyPr lIns="45720" rIns="4572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方法</a:t>
                      </a:r>
                    </a:p>
                  </a:txBody>
                  <a:tcPr>
                    <a:solidFill>
                      <a:srgbClr val="C75A1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更新行為</a:t>
                      </a:r>
                    </a:p>
                  </a:txBody>
                  <a:tcPr>
                    <a:solidFill>
                      <a:srgbClr val="C75A1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最適合</a:t>
                      </a:r>
                    </a:p>
                  </a:txBody>
                  <a:tcPr>
                    <a:solidFill>
                      <a:srgbClr val="C75A1A"/>
                    </a:solidFill>
                  </a:tcPr>
                </a:tc>
              </a:tr>
              <a:tr h="45720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**明確版本**（plugin.json 設 version）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使用者只在 version 變更時收到更新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穩定發行週期的已發佈 plugin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**Commit-SHA 版本**（省略 version）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每次新 commit 都被視為新版本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積極開發中的內部/團隊 plugin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457200" y="5760720"/>
            <a:ext cx="11277295" cy="36576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📌 若用明確版本，遵循 semver（MAJOR.MINOR.PATCH）並在 CHANGELOG.md 記錄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穩定 vs 最新 發行通道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用 ref 把使用者分流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30 / 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來源：01 § 發行通道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6A34A"/>
                </a:solidFill>
                <a:latin typeface="Calibri"/>
              </a:rPr>
              <a:t>🟢 stable-tools marketplace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20240"/>
            <a:ext cx="5486400" cy="24688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920240"/>
            <a:ext cx="5486400" cy="246888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{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"name": "stable-tools",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"plugins": [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{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  "name": "code-formatter",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  "source": {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    "source": "github",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    "repo": "acme-corp/code-formatter",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    "ref": "stable"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  }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}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]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56655" y="1554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C2626"/>
                </a:solidFill>
                <a:latin typeface="Calibri"/>
              </a:rPr>
              <a:t>🔥 latest-tools marketplace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56655" y="1920240"/>
            <a:ext cx="5486400" cy="24688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56655" y="1920240"/>
            <a:ext cx="5486400" cy="246888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{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"name": "latest-tools",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"plugins": [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{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  "name": "code-formatter",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  "source": {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    "source": "github",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    "repo": "acme-corp/code-formatter",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    "ref": "latest"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  }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}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]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38912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每個通道必須解析為**不同版本**（用 `version` → plugin.json 在每個 ref 都要不同；省略 → 不同 SHA）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指派給使用者群組：穩定群組 vs 早期存取群組（用 `extraKnownMarketplaces`）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Plugin 可用 semver 範圍限制依賴（慣例為 `{plugin-name}--v{version}` git 標籤）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重新命名或移除 Plugin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用 renames 自動遷移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31 / 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來源：01 § 重新命名或移除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Plugin 的 `name` 是**穩定識別碼**，更動會破壞現有安裝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想改 UI 顯示但保留識別 → 設 `displayName`、**保持 `name` 不變**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真的必須改 `name` 或從 `plugins` 移除 → 用頂層 `renames` 自動遷移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108960"/>
            <a:ext cx="10972800" cy="2286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108960"/>
            <a:ext cx="10972800" cy="228600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{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"name": "acme-tools",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"owner": { "name": "Acme" },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"plugins": [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{ "name": "code-formatter", "source": "./plugins/code-formatter" }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],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"renames": {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"formatter": "code-formatter",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"legacy-linter": null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}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4864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75A1A"/>
                </a:solidFill>
                <a:latin typeface="Calibri"/>
              </a:rPr>
              <a:t>📌 renames 行為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852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指向新名稱 → 載入新名稱並重寫 `enabledPlugins` / `pluginConfigs` 內的舊金鑰  /  指向 `null` → 刪除舊金鑰，通知已從 marketplace 移除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把 `renames` 視為**僅附加歷史**  /  跑 `claude plugin validate .` 避免鏈形成循環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驗證與測試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claude plugin validate 與常見錯誤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32 / 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來源：01 § 驗證與測試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54480"/>
            <a:ext cx="5486400" cy="18288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5486400" cy="182880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# 驗證 marketplace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claude plugin validate .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# 從 Claude Code 內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/plugin validate .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# 驗證個別 plugin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claude plugin validate ./plugins/my-plugin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39535" y="1554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75A1A"/>
                </a:solidFill>
                <a:latin typeface="Calibri"/>
              </a:rPr>
              <a:t>🔍 validate 會檢查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39535" y="192024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marketplace.json 架構錯誤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重複的 plugin 名稱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來源路徑遍歷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每個 plugin 的 plugin.json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項目 version 與 plugin.json 版本一致性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2976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C2626"/>
                </a:solidFill>
                <a:latin typeface="Calibri"/>
              </a:rPr>
              <a:t>⚠️ 常見錯誤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57200" y="4663440"/>
          <a:ext cx="11277295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274320">
                <a:tc>
                  <a:txBody>
                    <a:bodyPr lIns="45720" rIns="4572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錯誤</a:t>
                      </a:r>
                    </a:p>
                  </a:txBody>
                  <a:tcPr>
                    <a:solidFill>
                      <a:srgbClr val="C75A1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原因</a:t>
                      </a:r>
                    </a:p>
                  </a:txBody>
                  <a:tcPr>
                    <a:solidFill>
                      <a:srgbClr val="C75A1A"/>
                    </a:solidFill>
                  </a:tcPr>
                </a:tc>
              </a:tr>
              <a:tr h="27432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`File not found: .claude-plugin/marketplace.json`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缺少 manifest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`Invalid JSON syntax: Unexpected token...`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JSON 語法錯誤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</a:tr>
              <a:tr h="27432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`Duplicate plugin name "x"`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plugin 名稱重複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`plugins[0].source: Path contains ".."`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來源路徑含 `..`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</a:tr>
              <a:tr h="27432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`YAML frontmatter failed to parse`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skill/agent/command frontmatter 無效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CLI 指令速查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非互動式指令（用於腳本/CI）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33 / 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來源：01 § CLI 指令參考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54480"/>
            <a:ext cx="10972800" cy="438912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10972800" cy="438912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# 新增 marketplace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claude plugin marketplace add &lt;source&gt; [options]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-s, --scope &lt;user|project|local&gt;   位置（預設 user）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--sparse &lt;paths...&gt;                 限制 sparse-checkout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# 範例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claude plugin marketplace add acme-corp/claude-plugins         # GitHub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claude plugin marketplace add acme-corp/claude-plugins@v2.0    # 固定 tag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claude plugin marketplace add https://gitlab.example.com/.../plugins.git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claude plugin marketplace add ./my-marketplace                 # 本機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claude plugin marketplace add acme-corp/monorepo --sparse .claude-plugin plugins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# 其他指令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claude plugin marketplace list [--json]                         # 列出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claude plugin marketplace remove &lt;name&gt;                        # 移除（別名 rm）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claude plugin marketplace update [name]                        # 更新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6035040"/>
            <a:ext cx="11277295" cy="36576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100">
                <a:solidFill>
                  <a:srgbClr val="2C2C2C"/>
                </a:solidFill>
                <a:latin typeface="Calibri"/>
              </a:rPr>
              <a:t>⚠️ v2.1.196+ 起，未帶協議的主機（如 gitlab.example.com/...）會被拒絕為無效的 owner/repo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疑難排解速查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8 個常見問題與解法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34 / 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來源：01 § 疑難排解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554480"/>
          <a:ext cx="1127729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487680">
                <a:tc>
                  <a:txBody>
                    <a:bodyPr lIns="45720" rIns="4572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問題</a:t>
                      </a:r>
                    </a:p>
                  </a:txBody>
                  <a:tcPr>
                    <a:solidFill>
                      <a:srgbClr val="C75A1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解法</a:t>
                      </a:r>
                    </a:p>
                  </a:txBody>
                  <a:tcPr>
                    <a:solidFill>
                      <a:srgbClr val="C75A1A"/>
                    </a:solidFill>
                  </a:tcPr>
                </a:tc>
              </a:tr>
              <a:tr h="48768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1. Marketplace 未載入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驗證 URL 可存取 + 檢查 `.claude-plugin/marketplace.json` 存在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2. 驗證錯誤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跑 `claude plugin validate .` 取得具體錯誤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</a:tr>
              <a:tr h="48768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3. Plugin 安裝失敗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驗證 plugin 來源 URL + repo 公開或有權限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4. 私人 repo 驗證失敗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`gh auth status` 確認登入 + `git config credential.helper`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</a:tr>
              <a:tr h="48768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5. 離線環境更新失敗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`export CLAUDE_CODE_PLUGIN_KEEP_MARKETPLACE_ON_FAILURE=1`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6. Git 操作逾時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`export CLAUDE_CODE_PLUGIN_GIT_TIMEOUT_MS=300000`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</a:tr>
              <a:tr h="48768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7. URL-based 相對路徑失敗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改用 GitHub / npm / git URL，或 git-based marketplace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8. 安裝後找不到檔案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plugin 被複製到快取，參考 plugin 目錄外檔案失效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457200" y="6035040"/>
            <a:ext cx="11277295" cy="36576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100">
                <a:solidFill>
                  <a:srgbClr val="2C2C2C"/>
                </a:solidFill>
                <a:latin typeface="Calibri"/>
              </a:rPr>
              <a:t>💡 環境變數速查：CLAUDE_CODE_PLUGIN_PREFER_HTTPS、KEEP_MARKETPLACE_ON_FAILURE、GIT_TIMEOUT_MS、SEED_DIR、CACHE_DIR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重點回顧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重點整理與下一步行動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來源：01-plugin-marketplaces.md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75A1A"/>
                </a:solidFill>
                <a:latin typeface="Calibri"/>
              </a:rPr>
              <a:t>📌 關鍵要點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2C2C2C"/>
                </a:solidFill>
                <a:latin typeface="Calibri"/>
              </a:rPr>
              <a:t>• **Marketplace** = 別人加入來源、安裝你寫 plugin 的入口</a:t>
            </a:r>
          </a:p>
          <a:p>
            <a:pPr algn="l"/>
            <a:r>
              <a:rPr sz="1500">
                <a:solidFill>
                  <a:srgbClr val="2C2C2C"/>
                </a:solidFill>
                <a:latin typeface="Calibri"/>
              </a:rPr>
              <a:t>• **6 步驟建立本機 marketplace**：目錄 → SKILL.md → plugin.json → marketplace.json → 安裝 → 使用</a:t>
            </a:r>
          </a:p>
          <a:p>
            <a:pPr algn="l"/>
            <a:r>
              <a:rPr sz="1500">
                <a:solidFill>
                  <a:srgbClr val="2C2C2C"/>
                </a:solidFill>
                <a:latin typeface="Calibri"/>
              </a:rPr>
              <a:t>• **5 種 plugin 來源**：相對路徑、GitHub、git URL、git-subdir、npm</a:t>
            </a:r>
          </a:p>
          <a:p>
            <a:pPr algn="l"/>
            <a:r>
              <a:rPr sz="1500">
                <a:solidFill>
                  <a:srgbClr val="2C2C2C"/>
                </a:solidFill>
                <a:latin typeface="Calibri"/>
              </a:rPr>
              <a:t>• **Strict Mode** 控制 plugin.json 是否為元件定義的權威（預設 true）</a:t>
            </a:r>
          </a:p>
          <a:p>
            <a:pPr algn="l"/>
            <a:r>
              <a:rPr sz="1500">
                <a:solidFill>
                  <a:srgbClr val="2C2C2C"/>
                </a:solidFill>
                <a:latin typeface="Calibri"/>
              </a:rPr>
              <a:t>• **strictKnownMarketplaces** 是企業級安全管控的關鍵設定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3891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75A1A"/>
                </a:solidFill>
                <a:latin typeface="Calibri"/>
              </a:rPr>
              <a:t>🚀 下一步行動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8463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2C2C2C"/>
                </a:solidFill>
                <a:latin typeface="Calibri"/>
              </a:rPr>
              <a:t>• 建立你的第一個本機 marketplace（從 6 步驟範例開始）</a:t>
            </a:r>
          </a:p>
          <a:p>
            <a:pPr algn="l"/>
            <a:r>
              <a:rPr sz="1500">
                <a:solidFill>
                  <a:srgbClr val="2C2C2C"/>
                </a:solidFill>
                <a:latin typeface="Calibri"/>
              </a:rPr>
              <a:t>• 把它推上 GitHub，用 `/plugin marketplace add owner/repo` 測試</a:t>
            </a:r>
          </a:p>
          <a:p>
            <a:pPr algn="l"/>
            <a:r>
              <a:rPr sz="1500">
                <a:solidFill>
                  <a:srgbClr val="2C2C2C"/>
                </a:solidFill>
                <a:latin typeface="Calibri"/>
              </a:rPr>
              <a:t>• 進階：試著建立 `strict` 模式的多 plugin marketplace</a:t>
            </a:r>
          </a:p>
          <a:p>
            <a:pPr algn="l"/>
            <a:r>
              <a:rPr sz="1500">
                <a:solidFill>
                  <a:srgbClr val="2C2C2C"/>
                </a:solidFill>
                <a:latin typeface="Calibri"/>
              </a:rPr>
              <a:t>• 接著閱讀 `02-plugins.md` 深入學習 plugin 開發本身！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