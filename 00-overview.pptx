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Claude Code Plugin 學習系列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完整學習路徑 · 8 份文件 · 6,000+ 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系列總覽 · #00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為什麼需要了解 Claude Code Plugin？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擴展 Claude 的能力 · 打造個人化 AI 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來源：00-claude-code-plugins-series.md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😐 預設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通用對話能力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內建工具：檔案、搜尋、Bash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每次 session 都要重新解釋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無法自動化重複任務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無法團隊共享設定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個人風格無法持久化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🚀 使用 Plugin 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可重複使用的 Skills（/command）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隔離上下文的 Subagents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事件驅動的 Hooks（自動化）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團隊共享的 Marketplace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自動化的格式化與檢查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個人化 AI 助手工作流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這套系列的規模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完整覆蓋 Claude Code Plugin 系統的各個面向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來源：00-claude-code-plugins-series.md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2011680"/>
            <a:ext cx="3474720" cy="2286000"/>
          </a:xfrm>
          <a:prstGeom prst="roundRect">
            <a:avLst/>
          </a:prstGeom>
          <a:solidFill>
            <a:srgbClr val="F3F0E9"/>
          </a:solidFill>
          <a:ln w="381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75A1A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2C2C"/>
                </a:solidFill>
                <a:latin typeface="Calibri"/>
              </a:rPr>
              <a:t>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完整文件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2011680"/>
            <a:ext cx="3474720" cy="2286000"/>
          </a:xfrm>
          <a:prstGeom prst="roundRect">
            <a:avLst/>
          </a:prstGeom>
          <a:solidFill>
            <a:srgbClr val="F3F0E9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B82F6"/>
                </a:solidFill>
                <a:latin typeface="Calibri"/>
              </a:rPr>
              <a:t>6,682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487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2C2C"/>
                </a:solidFill>
                <a:latin typeface="Calibri"/>
              </a:rPr>
              <a:t>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487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繁體中文內容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527" y="2011680"/>
            <a:ext cx="3474720" cy="2286000"/>
          </a:xfrm>
          <a:prstGeom prst="roundRect">
            <a:avLst/>
          </a:prstGeom>
          <a:solidFill>
            <a:srgbClr val="F3F0E9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7527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6A34A"/>
                </a:solidFill>
                <a:latin typeface="Calibri"/>
              </a:rPr>
              <a:t>272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527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2C2C"/>
                </a:solidFill>
                <a:latin typeface="Calibri"/>
              </a:rPr>
              <a:t>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7527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總檔案大小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77295" cy="54864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📊  涵蓋 Claude Code v2.1.x（到 v2.1.236），所有內容整理自官方文件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建立日期：2026/01　|　授權：整理自官方文件，繁體中文教學用途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Claude Code 擴展生態系全景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了解整體架構與各元件的角色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Claude Code 擴展生態系：7 個核心元件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從基礎規則到進階自動化，層層堆疊的擴展能力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擴展全景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55448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8007" y="1554480"/>
            <a:ext cx="3474720" cy="3657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007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專案說明書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2331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每次 session 自動載入的規則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487" y="155448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8487" y="1554480"/>
            <a:ext cx="34747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487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487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可重用知識庫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487" y="2331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/name 觸發，隨叫隨到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67" y="155448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8967" y="1554480"/>
            <a:ext cx="347472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967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Subagents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967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隔離代理人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2331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獨立 context 的子任務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007" y="320040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8007" y="3200400"/>
            <a:ext cx="347472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007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007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事件自動化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7" y="3977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確定性觸發的腳本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8487" y="320040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58487" y="3200400"/>
            <a:ext cx="34747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8487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8487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外部服務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8487" y="3977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連接資料庫、API、瀏覽器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8967" y="320040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8967" y="3200400"/>
            <a:ext cx="3474720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8967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Plugins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8967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包裝箱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8967" y="3977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把上述元件打包成可發布單元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8007" y="4846320"/>
            <a:ext cx="347472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8007" y="4846320"/>
            <a:ext cx="3474720" cy="36576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007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Marketplaces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7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商店目錄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007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多個 plugin 的集合 + 版本管理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學習順序建議：CLAUDE.md → Skills → Plugins（其他元件視需求）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何時該用哪個元件？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依需求選擇最合適的擴展元件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元件使用時機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你的需求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推薦元件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原因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每次 session 都要遵守的規則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自動載入，零成本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重複使用的 SOP 或專業知識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隨時叫用，可重用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需要上下文隔離的任務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Subagent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不污染主對話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每次檔案編輯後自動跑 X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確定性觸發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連接外部資料庫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標準化介面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想把上述組合成可發布的套件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Plugin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統一打包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想分享給團隊 / 社群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版本管理 + 發布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🧩  元件之間可以組合：例如 Plugin 可以包含 Skills + Subagents + Hooks + MCP servers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8 份系列文件導覽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完整檔案地圖與學習路徑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8 份系列文件總覽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每份對應一個主題，獨立可閱讀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系列目錄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080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編號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檔名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主題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大小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00-claude-code-plugins-series.md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系列總覽（本文件）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8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01-plugin-marketplaces.md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集合的建立與發布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32 KB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02-plugins.md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Plugin 開發入門（從零開始）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20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03-plugins-reference.md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完整技術規格與 CLI 參考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44 KB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04-skills.md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Skills 設計、撰寫、評估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44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05-subagents.md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隔離上下文與平行任務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40 KB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06-hooks.md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事件驅動自動化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64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07-discover-plugins.md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從市場找到並使用 plugin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20 KB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📁  所有檔案在 /home/elan/pi-proj/ 目錄下，副檔名都是 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🟢 新手入門路徑（建議 1-2 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從零開始，快速建立第一個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學習路徑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72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78127" y="18288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812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先讀 #07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探索並安裝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實際裝幾個 plugin 玩玩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976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9836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12767" y="182880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76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836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讀 #04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36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24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學會寫簡單的 skill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0440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47407" y="1828800"/>
            <a:ext cx="731520" cy="73152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740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讀 #02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300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Plugin 開發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把 skill 包成 plugin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3904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6764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2047" y="182880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04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動手做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64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claude plugin init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052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建立第一個 plugin！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6072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🎯  重點：動手做比讀完更重要！每讀完一份，立刻實際操作一次。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🟡 進階使用者路徑（建議 3-5 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掌握 Subagents、Hooks、Marketplace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學習路徑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72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78127" y="18288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812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讀 #05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Subagents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隔離 context、平行任務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976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9836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12767" y="182880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76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836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讀 #06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36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24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事件驅動自動化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0440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47407" y="1828800"/>
            <a:ext cx="731520" cy="73152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740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讀 #01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300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Marketplaces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建立團隊 marketplace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3904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6764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2047" y="182880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04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實戰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64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完整 plugin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052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結合所有元件的專案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6072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🏆  挑戰：建立一個 Hook 自動跑 ESLint + Subagent 做程式碼審查 + 上傳到 Marketplace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🔴 專家 / 團隊負責人路徑（建議 1 週+）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建立企業級 plugin 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學習路徑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72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78127" y="18288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812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讀 #03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技術參考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掌握所有細節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976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9836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12767" y="182880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76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836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回頭讀 #01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36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Marketplace 進階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24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企業 marketplace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0440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47407" y="1828800"/>
            <a:ext cx="731520" cy="73152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740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300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所有元件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複雜多功能 plugin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39047" y="3474720"/>
            <a:ext cx="182880" cy="27432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67647" y="2011680"/>
            <a:ext cx="256032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2047" y="182880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047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647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企業級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0527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跨團隊 plugin 系統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6072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👑  進階：了解 strictKnownMarketplaces、managed settings、企業部署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任務導向索引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想做 X？看哪一份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任務導向索引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想做某個特定的事？從這裡開始找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任務索引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962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你的目標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該看哪份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找別人寫好的 plugin 來用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#07-discover-plugins.md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寫第一個 plugin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#02-plugins.md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寫可重用的 /command 指令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#04-skills.md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寫可重用的「代理人」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#05-subagents.md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編輯檔案後自動跑測試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#06-hooks.md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阻擋危險命令（rm -rf）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#06-hooks.md § PreToolUse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部署到團隊/公司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#01-plugin-marketplaces.md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提交到 Anthropic 官方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#02-plugins.md § 提交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理解完整技術規格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#03-plugins-reference.md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查特定 CLI 指令用法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#03-plugins-reference.md § CLI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962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解決疑難問題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2C2C2C"/>
                          </a:solidFill>
                          <a:latin typeface="Calibri"/>
                        </a:rPr>
                        <a:t>→ 各文件最後的「疑難排解」章節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推薦先裝的官方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 Marketplace 開始體驗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來源：07-discover-plugins.md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645920"/>
            <a:ext cx="530352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" y="1645920"/>
            <a:ext cx="13716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767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commit-commands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Git 提交工作流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適合所有人的日常必備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645920"/>
            <a:ext cx="530352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1645920"/>
            <a:ext cx="13716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security-guidance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自動安全審查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每次變更都檢查常見漏洞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447" y="2971800"/>
            <a:ext cx="530352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447" y="297180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767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pr-review-toolkit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767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PR 審查工具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767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團隊協作的利器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2971800"/>
            <a:ext cx="530352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8727" y="2971800"/>
            <a:ext cx="137160" cy="109728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5A1A"/>
                </a:solidFill>
                <a:latin typeface="Calibri"/>
              </a:rPr>
              <a:t>typescript-lsp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TypeScript 程式碼智慧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即時型別錯誤檢查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447" y="4297680"/>
            <a:ext cx="530352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447" y="4297680"/>
            <a:ext cx="137160" cy="109728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767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5A1A"/>
                </a:solidFill>
                <a:latin typeface="Calibri"/>
              </a:rPr>
              <a:t>pyright-lsp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767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Python 程式碼智慧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767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即時型別錯誤檢查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4297680"/>
            <a:ext cx="530352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8727" y="4297680"/>
            <a:ext cx="13716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3047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explanatory-output-style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047" y="4754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  <a:latin typeface="Calibri"/>
              </a:rPr>
              <a:t>教育性輸出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3047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學習 Claude 決策的推理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521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🚀  新手建議：先裝 commit-commands + security-guidance，體驗 10 分鐘就有感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7 大元件速覽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每個元件的核心概念與範例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1/7：CLAUDE.md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每次 session 都會看到的「專案說明書」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來源：memory + best-practices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📖 是什麼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Markdown 檔案，放在專案根目錄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每次 Claude Code 啟動時自動載入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作為「系統提示的一部分」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可放在 .claude/CLAUDE.md 或子目錄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可使用 @path 引用其他檔案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✨ 適合放什麼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專案慣例與風格指南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「Always do X」型規則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建構/測試指令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禁止事項的明確規定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新成員 onboarding 須知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📏  💡 規則：CLAUDE.md 保持在 200 行以下。複雜內容放 Skills 或 .claude/rules/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2/7：Skills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可重複使用的指令知識庫（/command 觸發）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來源：04-skills.md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基本結構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0292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0292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~/.claude/skills/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summarize-changes/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SKILL.md          ← 必需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reference.md       ← 選用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└── scripts/           ← 選用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└── helper.py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SKILL.md 範例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502920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029200" cy="20116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description: 總結未提交的變更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並標記風險內容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## Current changes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!`git diff HEAD`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## Instructions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Summarize in 2-3 bullets,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list risks you notice...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💡 兩種角色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參考型：API 慣例、命名規範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任務型：/deploy、/commit 流程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任務型加 disable-model-invocation: true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→ 防止 Claude 自動觸發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→ 只在你想執行時才會跑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🔧 動態上下文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0624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!`git diff HEAD` 預處理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呼叫 shell 取得即時資料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結果直接替換佔位符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 看到的是最終結果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3/7：Subagents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隔離上下文的子代理人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來源：05-subagents.md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🎯 核心特性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獨立 context 視窗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專門的系統提示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獨立的工具權限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可指定模型（便宜模型省錢）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完成後返回摘要給主對話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🚀 使用時機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旁支任務會淹沒主對話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需要強制工具限制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可平行執行的獨立任務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想重用某個專門設定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想用 Haiku 省成本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🛠  3 個內建 Subagent：Explore（唯讀）、Plan（計畫模式）、general-purpose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4/7：Hooks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事件驅動的確定性自動化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來源：06-hooks.md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⚡ Hook 5 種類型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command：執行 shell 命令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http：POST 到 URL endpoint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mcp_tool：呼叫 MCP 工具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prompt：用 LLM 評估（Haiku）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agent：subagent 驗證器（實驗性）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🎯 熱門使用場景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PostToolUse 自動跑 formatter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PreToolUse 阻擋 rm -rf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SessionStart 載入專案 context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Notification 發送桌面通知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Stop 自動跑測試再停止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🔄 主要生命週期事件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594360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828800"/>
            <a:ext cx="5943600" cy="4114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SessionStart      ← session 開始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UserPromptSubmit   ← 提交 prompt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PreToolUse         ← 工具執行前（可阻擋）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PostToolUse        ← 工具成功後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PostToolUseFailure ← 工具失敗後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Notification       ← 系統通知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SubagentStart/Stop ← subagent 生命週期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PreCompact         ← context 壓縮前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Stop               ← Claude 完成回應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SessionEnd         ← session 結束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（總共 28 個事件）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5/7：MCP (Model Context Protocol)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連接外部服務的標準化介面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來源：MCP 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🔌 MCP = 連接外部世界的標準協議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MCP 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外部工具和資料存取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資料庫查詢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Slack 訊息發送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瀏覽器控制（Playwright）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GitHub/GitLab 整合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統一認證和連線管理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🎁 範例 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github：原始碼控制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gitlab：原始碼控制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atlassian：Jira/Confluence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figma：設計整合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vercel：基礎設施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sentry：監控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💎  Skills 教你怎麼用好 MCP！MCP 提供工具 + Skills 教策略 = 完美組合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6/7：Plugins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把所有元件打包成可發布的單元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來源：02-plugins.md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📦 Plugin = 上述所有元件的包裝箱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標準目錄結構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3035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5303520" cy="3657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my-plugin/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.claude-plugin/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plugin.json     ← manifest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skills/             ← /name 觸發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hello/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    └── SKILL.md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agents/             ← 專門代理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hooks/              ← 事件處理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│   └── hooks.json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.mcp.json           ← MCP servers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├── .lsp.json           ← LSP servers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└── bin/                ← 可執行檔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03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🎯 為什麼用 Plugin？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688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與團隊共享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跨專案重用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版本控制（明確版本 / git SHA）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輕鬆更新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社群分享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⚠️ 命名空間：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/my-plugin:hello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避免 plugin 間衝突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元件 7/7：Marketplaces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集合的「商店目錄」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來源：01-plugin-marketplaces.md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🏪 Marketplace = 多個 Plugin 的版本化目錄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  <a:latin typeface="Calibri"/>
              </a:rPr>
              <a:t>三種 Marketplace 來源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127" y="2560320"/>
            <a:ext cx="365760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127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📦 官方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27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onsolas"/>
              </a:rPr>
              <a:t>claude-plugins-official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Anthropic 策展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007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安裝方式：自動註冊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2560320"/>
            <a:ext cx="365760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047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🌐 社群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onsolas"/>
              </a:rPr>
              <a:t>claude-plugins-community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9927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第三方提交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安裝方式：手動加入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8967" y="2560320"/>
            <a:ext cx="3657600" cy="13716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8967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🛠 自建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onsolas"/>
              </a:rPr>
              <a:t>你的 marketplace.json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完全自訂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3657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安裝方式：手動加入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C2C2C"/>
                </a:solidFill>
                <a:latin typeface="Calibri"/>
              </a:rPr>
              <a:t>🔐 受管設定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4754880"/>
            <a:ext cx="8534095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754880"/>
            <a:ext cx="8534095" cy="128016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strictKnownMarketplaces: 限制使用者能新增的 marketplace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disableSideloadFlags: 拒絕 CLI 側載 plugin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pluginSuggestionMarketplaces: 允許內容相關建議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實戰：所有元件的組合應用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可以包含 Skills + Subagents + Hooks +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4876495" cy="2743200"/>
          </a:xfrm>
          <a:prstGeom prst="roundRect">
            <a:avLst/>
          </a:prstGeom>
          <a:solidFill>
            <a:srgbClr val="F3F0E9"/>
          </a:solidFill>
          <a:ln w="381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4876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75A1A"/>
                </a:solidFill>
                <a:latin typeface="Calibri"/>
              </a:rPr>
              <a:t>📦 Plugin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1287" y="246888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1287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1287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onsolas"/>
              </a:rPr>
              <a:t>/my-plugin:hello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46888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7287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onsolas"/>
              </a:rPr>
              <a:t>code-reviewer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1287" y="347472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1287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287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onsolas"/>
              </a:rPr>
              <a:t>PostToolUse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474720"/>
            <a:ext cx="2103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onsolas"/>
              </a:rPr>
              <a:t>github, slack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743200"/>
            <a:ext cx="2286000" cy="914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7C66"/>
                </a:solidFill>
                <a:latin typeface="Calibri"/>
              </a:rPr>
              <a:t>🏪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多個 plugins
+ 版本管理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503920" y="3063240"/>
            <a:ext cx="640080" cy="274320"/>
          </a:xfrm>
          <a:prstGeom prst="rightArrow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2743200"/>
            <a:ext cx="2743200" cy="914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2C2C"/>
                </a:solidFill>
                <a:latin typeface="Calibri"/>
              </a:rPr>
              <a:t>📋 CLAUDE.md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每次 session 載入
的專案說明書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200400" y="3063240"/>
            <a:ext cx="457200" cy="274320"/>
          </a:xfrm>
          <a:prstGeom prst="rightArrow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🌟  完整 Plugin 範例：typeform-feedback 插件（整合 Form、Slack、GitHub Issue）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onsolas"/>
              </a:rPr>
              <a:t>真實世界：每個你看到的「整合 Claude + X」背後，都是這個組合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實際案例與最佳實踐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從理論到實戰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4 個真實世界的 Plugin 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看看別人怎麼用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來源：各 plugin 範例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303520" cy="219456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安全審查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security-guidance 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每次 Claude 寫程式時自動檢查 SQL injection、XSS、敏感資料洩漏。發現問題就指示 Claude 在同一輪修復。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54480"/>
            <a:ext cx="5303520" cy="219456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程式碼審查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1031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code-reviewer subagent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使用唯讀工具掃描 PR 變更，輸出 Critical/Warning/Suggestion 三級分類。隔離 context 讓主對話保持乾淨。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5303520" cy="219456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Calibri"/>
              </a:rPr>
              <a:t>PR 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572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commit-commands plugin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/commit-commands:commit 自動暫存 → 產生訊息 → 建立 commit。/pr 自動推 PR + 填寫模板。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023360"/>
            <a:ext cx="5303520" cy="219456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4206240"/>
            <a:ext cx="640080" cy="64008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206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資料視覺化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572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onsolas"/>
              </a:rPr>
              <a:t>codebase-visualizer 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9377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!`find . -type f` 預處理 → Python 腳本生成互動式 HTML → 在瀏覽器打開可摺疊樹狀圖。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開發 Plugin 的最佳實踐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從一開始就做對，減少重構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開發指南 + 03 § 技術參考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應該做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從獨立配置開始（.claude/）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確定能用後再包成 Plugin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Plugin 命名統一 kebab-case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寫詳細的 description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完整 README.md（安裝、使用）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用 !`command` 預處理動態資料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在 SKILL.md 中參考支援檔案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✅ Skills 控制在 500 行以內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❌ 不該做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元件放在 .claude-plugin/ 內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在 .claude-plugin/ 放其他目錄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跨 plugin 目錄共享（../）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絕對路徑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一次寫太大，慢慢組合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Hook 沒給可執行權限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沒驗證就 commit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❌ 忽略 validate 警告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新手常見的 5 個陷阱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別讓這些小錯誤浪費你的時間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來源：各章節疑難排解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🚫 元件放錯位置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commands/agents/skills/hooks 必須在 plugin 根目錄，不是 .claude-plugin/ 內。只有 plugin.json 屬於 .claude-plugin/。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🚫 沒 chmod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Hook 腳本沒設可執行權限 → 靜默失敗。記得 chmod +x script.sh。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🚫 絕對路徑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Plugin 必須用相對路徑（./），絕對路徑在其他機器會壞掉。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🚫 ../ 路徑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Plugin 被複製到快取，../shared 不會被複製。需要共享用 symlinks。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🚫 跳過驗證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claude plugin validate 警告也要看。拼錯欄位名是常見錯誤。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🔍  養成習慣：寫完先 claude plugin validate，跑過再測試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來源：00-claude-code-plugins-series.md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7 個核心元件：CLAUDE.md、Skills、Subagents、Hooks、MCP、Plugins、Marketplaces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8 份文件、6,682 行、272 KB — 涵蓋 Claude Code v2.1.x 完整功能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學習路徑：新手（07→04→02）→ 進階（05→06→01）→ 專家（03 細讀）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推薦起手：先裝官方 plugin（commit-commands）→ 寫第一個 skill → 包成 plugin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設計原則：標準型 + 詳細型密度，每頁一個核心概念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🎯 立刻：執行 /plugin，安裝 commit-commands 試試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📚 30 分鐘：翻完 #04-skills.md 的目錄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🛠 2 小時：跟著 #02-plugins.md 步驟建立第一個 plugin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🚀 一週：完成學習路徑中的「實戰」項目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📊 本簡報系列總覽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4 份 PPTX 對應 4 個學習主題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簡報系列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427" y="201168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427" y="2011680"/>
            <a:ext cx="2651760" cy="5486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427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📄 本檔案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onsolas"/>
              </a:rPr>
              <a:t>00-overview.pptx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系列總覽、生態系、學習路徑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5A1A"/>
                </a:solidFill>
                <a:latin typeface="Calibri"/>
              </a:rPr>
              <a:t>30 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9787" y="201168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9787" y="2011680"/>
            <a:ext cx="26517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9787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📄 Plugin 開發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266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onsolas"/>
              </a:rPr>
              <a:t>02-plugins.pptx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2667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從零建立第一個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2667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25 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201168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147" y="2011680"/>
            <a:ext cx="265176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0147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📄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onsolas"/>
              </a:rPr>
              <a:t>04-skills.pptx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3027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Skills 設計、撰寫、評估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027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40 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0507" y="201168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0507" y="2011680"/>
            <a:ext cx="265176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0507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📄 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3387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onsolas"/>
              </a:rPr>
              <a:t>06-hooks.pptx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3387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事件驅動自動化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3387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50 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292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📅  剩下 4 份（marketplaces、reference、subagents、discover-plugins）依需求再做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所有 PPTX 都在 /home/elan/pi-proj/ 目錄下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C75A1A"/>
                </a:solidFill>
                <a:latin typeface="Calibri"/>
              </a:rPr>
              <a:t>開始你的 Plugin 之旅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2C2C"/>
                </a:solidFill>
                <a:latin typeface="Calibri"/>
              </a:rPr>
              <a:t>從 #02-plugins.md 開始，建立你的第一個 plugin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457200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Claude Code Plugin 完整學習系列 · 2026/01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整理自官方文件（code.claude.com/docs）· 繁體中文教學用途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