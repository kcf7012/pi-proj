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C75A1A"/>
                </a:solidFill>
                <a:latin typeface="Calibri"/>
              </a:rPr>
              <a:t>Hooks 自動化指南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>
                <a:solidFill>
                  <a:srgbClr val="2C2C2C"/>
                </a:solidFill>
                <a:latin typeface="Calibri"/>
              </a:rPr>
              <a:t>事件驅動的確定性工作流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6B6B6B"/>
                </a:solidFill>
                <a:latin typeface="Calibri"/>
              </a:rPr>
              <a:t>#06 · Hooks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0990" y="5120640"/>
            <a:ext cx="1828800" cy="73152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本章你會學到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從基礎到進階的 Hook 完整知識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來源：06-hooks.md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06727" y="15544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06727" y="1645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2C2C"/>
                </a:solidFill>
                <a:latin typeface="Calibri"/>
              </a:rPr>
              <a:t>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46807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Hook 是什麼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89607" y="2194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確定性 vs LLM 判斷的差異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24247" y="15544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4247" y="1645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2C2C"/>
                </a:solidFill>
                <a:latin typeface="Calibri"/>
              </a:rPr>
              <a:t>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4327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Hook 生命週期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7127" y="2194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28 個事件完整解析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41767" y="15544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41767" y="1645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2C2C"/>
                </a:solidFill>
                <a:latin typeface="Calibri"/>
              </a:rPr>
              <a:t>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1847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Hook 設定位置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4647" y="2194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使用者/專案/Plugin/Skill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06727" y="31546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06727" y="3246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2C2C"/>
                </a:solidFill>
                <a:latin typeface="Calibri"/>
              </a:rPr>
              <a:t>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46807" y="32461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Matcher 模式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89607" y="37947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正則、字串、混用規則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24247" y="31546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4247" y="3246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2C2C"/>
                </a:solidFill>
                <a:latin typeface="Calibr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4327" y="32461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5 種 Handler 類型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07127" y="37947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command、http、mcp_tool、prompt、agent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41767" y="31546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41767" y="3246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2C2C"/>
                </a:solidFill>
                <a:latin typeface="Calibri"/>
              </a:rPr>
              <a:t>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1847" y="32461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Hook 輸入/輸出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4647" y="37947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JSON 格式與退出碼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706727" y="47548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06727" y="4846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2C2C"/>
                </a:solidFill>
                <a:latin typeface="Calibri"/>
              </a:rPr>
              <a:t>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46807" y="4846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決策控制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89607" y="5394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allow/deny/ask/改寫輸入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24247" y="47548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24247" y="4846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2C2C"/>
                </a:solidFill>
                <a:latin typeface="Calibri"/>
              </a:rPr>
              <a:t>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64327" y="4846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安全最佳實踐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07127" y="5394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避免踩坑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41767" y="4754880"/>
            <a:ext cx="2743200" cy="13716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41767" y="4846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C2C2C"/>
                </a:solidFill>
                <a:latin typeface="Calibri"/>
              </a:rPr>
              <a:t>🐛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1847" y="4846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除錯技巧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24647" y="5394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debug 模式與日誌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Hook 基礎概念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理解確定性 vs 判斷性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什麼是 Hook？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使用者定義的自動化執行點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什麼是 Hook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C2626"/>
                </a:solidFill>
                <a:latin typeface="Calibri"/>
              </a:rPr>
              <a:t>🎣 Hook = 在生命週期事件上自動觸發的腳本/HTTP/LLM 評估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77840" cy="4572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✅ Hook 提供（確定性）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使用者定義的 shell 命令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HTTP endpoint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LLM prompt（半確定）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Subagent 驗證器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特定點必觸發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適合：lint、阻擋、通知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6655" y="1554480"/>
            <a:ext cx="5577840" cy="4572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6655" y="155448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6655" y="1554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🧠 由 Claude 判斷（不確定）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9535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Claude 自行決定何時做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依賴 LLM 理解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可能漏掉或做錯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適合：開放性任務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不可強制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179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400">
                <a:solidFill>
                  <a:srgbClr val="2C2C2C"/>
                </a:solidFill>
                <a:latin typeface="Calibri"/>
              </a:rPr>
              <a:t>💡  口訣：「必須做的事」用 Hook，「希望做的事」用 CLAUDE.md/Skill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Hook 生命週期：3 個節奏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28 個事件分屬三類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生命週期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45920"/>
            <a:ext cx="3657600" cy="32004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3B82F6"/>
                </a:solidFill>
                <a:latin typeface="Calibri"/>
              </a:rPr>
              <a:t>⏱ 每個 Session 一次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onsolas"/>
              </a:rPr>
              <a:t>SessionStart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onsolas"/>
              </a:rPr>
              <a:t>SessionEnd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7472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6B6B"/>
                </a:solidFill>
                <a:latin typeface="Calibri"/>
              </a:rPr>
              <a:t>Session 開始或結束時各執行一次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645920"/>
            <a:ext cx="3657600" cy="32004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828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6A34A"/>
                </a:solidFill>
                <a:latin typeface="Calibri"/>
              </a:rPr>
              <a:t>🔄 每輪一次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4688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onsolas"/>
              </a:rPr>
              <a:t>UserPromptSubmit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8346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onsolas"/>
              </a:rPr>
              <a:t>Stop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47472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6B6B"/>
                </a:solidFill>
                <a:latin typeface="Calibri"/>
              </a:rPr>
              <a:t>StopFailure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645920"/>
            <a:ext cx="3657600" cy="32004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828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C2626"/>
                </a:solidFill>
                <a:latin typeface="Calibri"/>
              </a:rPr>
              <a:t>🛠 每次工具呼叫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4688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onsolas"/>
              </a:rPr>
              <a:t>PreToolUse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8346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onsolas"/>
              </a:rPr>
              <a:t>PostToolUse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347472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6B6B"/>
                </a:solidFill>
                <a:latin typeface="Calibri"/>
              </a:rPr>
              <a:t>PostToolUseFailure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12064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📋  完整 28 個事件見 06-hooks.md § 完整事件表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Hook 解析流程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從事件觸發到決策執行的完整路徑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6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解析流程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C2626"/>
                </a:solidFill>
                <a:latin typeface="Calibri"/>
              </a:rPr>
              <a:t>範例：阻擋 rm -rf 命令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74520"/>
            <a:ext cx="457200" cy="45720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1783080"/>
            <a:ext cx="6400800" cy="64008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182880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  <a:latin typeface="Calibri"/>
              </a:rPr>
              <a:t>PreToolUse 事件觸發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130552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Claude 送 JSON 到 stdin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48640" y="2331720"/>
            <a:ext cx="274320" cy="182880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7200" y="265176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651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2560320"/>
            <a:ext cx="6400800" cy="64008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260604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Matcher 匹配 Bash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2907792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工具名稱過濾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548640" y="3108960"/>
            <a:ext cx="274320" cy="182880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" y="3429000"/>
            <a:ext cx="457200" cy="45720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429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97280" y="3337560"/>
            <a:ext cx="6400800" cy="64008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338328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A34A"/>
                </a:solidFill>
                <a:latin typeface="Calibri"/>
              </a:rPr>
              <a:t>if 條件匹配 rm *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3685032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細部命令過濾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48640" y="3886200"/>
            <a:ext cx="274320" cy="182880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7200" y="4206240"/>
            <a:ext cx="457200" cy="457200"/>
          </a:xfrm>
          <a:prstGeom prst="ellipse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206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7280" y="4114800"/>
            <a:ext cx="6400800" cy="64008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80160" y="416052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75A1A"/>
                </a:solidFill>
                <a:latin typeface="Calibri"/>
              </a:rPr>
              <a:t>腳本執行 + 輸出 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4462272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permissionDecision: deny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548640" y="4663440"/>
            <a:ext cx="274320" cy="182880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7200" y="4983480"/>
            <a:ext cx="457200" cy="457200"/>
          </a:xfrm>
          <a:prstGeom prst="ellipse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983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97280" y="4892040"/>
            <a:ext cx="6400800" cy="64008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2C2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0160" y="493776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Claude Code 阻擋工具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5239512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向 Claude 顯示原因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1783080"/>
            <a:ext cx="4114800" cy="16459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0" y="1783080"/>
            <a:ext cx="4114800" cy="16459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"hookSpecificOutput":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"hookEventName": "PreToolUse",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"permissionDecision": "deny",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"permissionDecisionReason": "Destructive command blocked"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35204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75A1A"/>
                </a:solidFill>
                <a:latin typeface="Calibri"/>
              </a:rPr>
              <a:t>JSON 決策輸出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12648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📖  完整 hook 腳本見 06-hooks.md § 解析流程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Hook 設定與位置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6 個位置決定範圍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Hook 設定的 6 個位置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範圍決定誰能觸發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8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Hook 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447" y="1554480"/>
            <a:ext cx="3474720" cy="20116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447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  <a:latin typeface="Calibri"/>
              </a:rPr>
              <a:t>🏠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327" y="2194560"/>
            <a:ext cx="3108960" cy="640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327" y="2194560"/>
            <a:ext cx="3108960" cy="6400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~/.claude/settings.json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28346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  <a:latin typeface="Calibri"/>
              </a:rPr>
              <a:t>範圍：你的所有專案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327" y="3108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  <a:latin typeface="Calibri"/>
              </a:rPr>
              <a:t>特性：個人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8487" y="1554480"/>
            <a:ext cx="3474720" cy="20116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8487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  <a:latin typeface="Calibri"/>
              </a:rPr>
              <a:t>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41367" y="2194560"/>
            <a:ext cx="3108960" cy="640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1367" y="2194560"/>
            <a:ext cx="3108960" cy="6400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.claude/settings.json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1367" y="28346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  <a:latin typeface="Calibri"/>
              </a:rPr>
              <a:t>範圍：單一專案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1367" y="3108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  <a:latin typeface="Calibri"/>
              </a:rPr>
              <a:t>特性：可 commit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7527" y="1554480"/>
            <a:ext cx="3474720" cy="20116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07527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  <a:latin typeface="Calibri"/>
              </a:rPr>
              <a:t>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90407" y="2194560"/>
            <a:ext cx="3108960" cy="640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0407" y="2194560"/>
            <a:ext cx="3108960" cy="6400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.claude/settings.local.json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407" y="28346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  <a:latin typeface="Calibri"/>
              </a:rPr>
              <a:t>範圍：單一專案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0407" y="3108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  <a:latin typeface="Calibri"/>
              </a:rPr>
              <a:t>特性：gitignored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447" y="3840480"/>
            <a:ext cx="3474720" cy="20116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447" y="3977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  <a:latin typeface="Calibri"/>
              </a:rPr>
              <a:t>🏢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327" y="4480560"/>
            <a:ext cx="3108960" cy="640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327" y="4480560"/>
            <a:ext cx="3108960" cy="6400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Managed policy settings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327" y="51206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  <a:latin typeface="Calibri"/>
              </a:rPr>
              <a:t>範圍：組織範圍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327" y="5394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  <a:latin typeface="Calibri"/>
              </a:rPr>
              <a:t>特性：管理員控制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58487" y="3840480"/>
            <a:ext cx="3474720" cy="20116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58487" y="3977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  <a:latin typeface="Calibri"/>
              </a:rPr>
              <a:t>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41367" y="4480560"/>
            <a:ext cx="3108960" cy="640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41367" y="4480560"/>
            <a:ext cx="3108960" cy="6400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Plugin hooks/hooks.json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1367" y="51206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  <a:latin typeface="Calibri"/>
              </a:rPr>
              <a:t>範圍：啟用 plugin 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41367" y="5394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  <a:latin typeface="Calibri"/>
              </a:rPr>
              <a:t>特性：隨 plugin 打包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07527" y="3840480"/>
            <a:ext cx="3474720" cy="20116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07527" y="3977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  <a:latin typeface="Calibri"/>
              </a:rPr>
              <a:t>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90407" y="4480560"/>
            <a:ext cx="3108960" cy="640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90407" y="4480560"/>
            <a:ext cx="3108960" cy="6400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Skill/Subagent frontmatter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0407" y="51206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  <a:latin typeface="Calibri"/>
              </a:rPr>
              <a:t>範圍：限定範圍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90407" y="5394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2C2C"/>
                </a:solidFill>
                <a:latin typeface="Calibri"/>
              </a:rPr>
              <a:t>特性：跟著元件走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612648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💡  Plugin hooks 自動跟著 plugin 啟用/停用，最容易管理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Matcher 模式詳解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控制 hook 何時觸發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9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Matcher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75A1A"/>
                </a:solidFill>
                <a:latin typeface="Calibri"/>
              </a:rPr>
              <a:t>🎯 三種匹配方式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8308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81000"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Matcher 值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評估為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範例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3810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"*"、"" 或省略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匹配所有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任何工具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Bash、Edit、Write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精確字串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只匹配該工具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3810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Edit|Write、Bash,Read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清單（\| 或 ,）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匹配任一工具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mcp__.*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JavaScript regex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所有 MCP 工具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3810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^Edit$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錨定 regex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只匹配 Edit（不匹配 NotebookEdit）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4206240"/>
            <a:ext cx="5577840" cy="20116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20624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20624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常見工具名 matchers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4632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Bash — shell 命令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Edit|Write — 檔案修改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Read — 檔案讀取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Agent — subagent 委派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mcp__github__.* — GitHub 工具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6655" y="4206240"/>
            <a:ext cx="5577840" cy="20116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6655" y="420624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6655" y="420624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事件特定 matchers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9535" y="484632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SessionStart: startup|resume|clear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Notification: permission_prompt|idle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SubagentStart: Explore|Plan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StopFailure: rate_limit|overloaded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ConfigChange: user|project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常見 Matcher 範例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可直接複製貼上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10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Matcher 範例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1277295" cy="32004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11277295" cy="32004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// Bash 工具的所有呼叫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"matcher": "Bash"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// 編輯或寫入檔案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"matcher": "Edit|Write"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// 特定的 MCP 工具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"matcher": "mcp__github__search_repositories"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// 特定 server 的所有工具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"matcher": "mcp__memory__.*"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// 寫入所有 mcp 工具（用 regex）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"matcher": "mcp__.*__write.*"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// 排除字首匹配（用 regex 錨定）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"matcher": "^Edit$"  // 只匹配 Edit，不匹配 NotebookEdit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93776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⚠️  MCP server 名稱含連字號（如 brave-search）需用 mcp__brave-search__.* 形式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alibri"/>
              </a:rPr>
              <a:t>Plugin 提供的 MCP server 用 plugin:: 範圍（如 plugin:my-plugin:db）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94360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🔧  Plugin 範圍名稱含 : → matcher 走 regex 路徑 → 用 ^ $ 錨定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5 種 Hook Handler 類型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從簡單到強大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Hook Handler 5 種類型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選擇最適合的工具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12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Handler 類型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127" y="1645920"/>
            <a:ext cx="2194560" cy="22860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5127" y="18288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2C2C2C"/>
                </a:solidFill>
                <a:latin typeface="Calibri"/>
              </a:rPr>
              <a:t>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127" y="24231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B82F6"/>
                </a:solidFill>
                <a:latin typeface="Consolas"/>
              </a:rPr>
              <a:t>command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007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執行 shell 命令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007" y="3246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6B6B"/>
                </a:solidFill>
                <a:latin typeface="Calibri"/>
              </a:rPr>
              <a:t>標籤：預設選項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007" y="3566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6B6B"/>
                </a:solidFill>
                <a:latin typeface="Calibri"/>
              </a:rPr>
              <a:t>用途：lint、部署、阻擋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66847" y="1645920"/>
            <a:ext cx="2194560" cy="22860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66847" y="18288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2C2C2C"/>
                </a:solidFill>
                <a:latin typeface="Calibri"/>
              </a:rPr>
              <a:t>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66847" y="24231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6A34A"/>
                </a:solidFill>
                <a:latin typeface="Consolas"/>
              </a:rPr>
              <a:t>http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49727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POST 到 URL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49727" y="3246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6B6B"/>
                </a:solidFill>
                <a:latin typeface="Calibri"/>
              </a:rPr>
              <a:t>標籤：外部服務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566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6B6B"/>
                </a:solidFill>
                <a:latin typeface="Calibri"/>
              </a:rPr>
              <a:t>用途：共用稽核、Slack 通知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98567" y="1645920"/>
            <a:ext cx="2194560" cy="22860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98567" y="18288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2C2C2C"/>
                </a:solidFill>
                <a:latin typeface="Calibri"/>
              </a:rPr>
              <a:t>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98567" y="24231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75A1A"/>
                </a:solidFill>
                <a:latin typeface="Consolas"/>
              </a:rPr>
              <a:t>mcp_tool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447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呼叫 MCP 工具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1447" y="3246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6B6B"/>
                </a:solidFill>
                <a:latin typeface="Calibri"/>
              </a:rPr>
              <a:t>標籤：用 MCP 做事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1447" y="3566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6B6B"/>
                </a:solidFill>
                <a:latin typeface="Calibri"/>
              </a:rPr>
              <a:t>用途：安全掃描、資料庫查詢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30287" y="1645920"/>
            <a:ext cx="2194560" cy="22860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30287" y="18288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2C2C2C"/>
                </a:solidFill>
                <a:latin typeface="Calibri"/>
              </a:rPr>
              <a:t>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30287" y="24231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C2626"/>
                </a:solidFill>
                <a:latin typeface="Consolas"/>
              </a:rPr>
              <a:t>prompt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3167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LLM 評估（Haiku）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3167" y="3246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6B6B"/>
                </a:solidFill>
                <a:latin typeface="Calibri"/>
              </a:rPr>
              <a:t>標籤：需要判斷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3167" y="3566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6B6B"/>
                </a:solidFill>
                <a:latin typeface="Calibri"/>
              </a:rPr>
              <a:t>用途：任務完成度檢查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62007" y="1645920"/>
            <a:ext cx="2194560" cy="228600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62007" y="18288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2C2C2C"/>
                </a:solidFill>
                <a:latin typeface="Calibri"/>
              </a:rPr>
              <a:t>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2007" y="24231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7C3AED"/>
                </a:solidFill>
                <a:latin typeface="Consolas"/>
              </a:rPr>
              <a:t>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44887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Subagent 驗證器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44887" y="3246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6B6B"/>
                </a:solidFill>
                <a:latin typeface="Calibri"/>
              </a:rPr>
              <a:t>標籤：複雜驗證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44887" y="3566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6B6B"/>
                </a:solidFill>
                <a:latin typeface="Calibri"/>
              </a:rPr>
              <a:t>用途：實驗性、檢查測試結果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4297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Calibri"/>
              </a:rPr>
              <a:t>預設逾時：command/http/mcp_tool = 10 分鐘 · prompt = 30 秒 · agent = 60 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8463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⚠️ 並非所有事件都支援所有類型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457200" y="5394960"/>
          <a:ext cx="11277295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251460">
                <a:tc>
                  <a:txBody>
                    <a:bodyPr lIns="45720" rIns="45720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支援事件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類型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25146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所有 5 種工具事件（PreToolUse 等）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command、http、mcp_tool、prompt、agent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SessionStart、Setup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僅 command、mcp_tool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25146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大多數其他事件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command、http、mcp_tool（無 prompt/agent）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Command Hook 詳解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最常用的類型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13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Command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400800" cy="31089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6400800" cy="310896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"hooks":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"PostToolUse": [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"matcher": "Edit|Write",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"hooks": [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  "type": "command",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  "command": "/path/to/script.sh",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  "args": [],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  "timeout": 30,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  "if": "Edit(*.ts)"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  ]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]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495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🔧 Exec form vs Shell 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62495" y="1737360"/>
            <a:ext cx="4572000" cy="26517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62495" y="1737360"/>
            <a:ext cx="4572000" cy="265176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// Exec form（有 args）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"type": "command",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"command": "node",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"args": ["${CLAUDE_PLUGIN_ROOT}/script.js"]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// Shell form（無 args）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"type": "command",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"command": "node "${CLAUDE_PLUGIN_ROOT}"/script.js"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720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⚠️ 引用路徑佔位符時用 exec 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377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Windows 上的 .cmd/.bat shim 不是可執行檔 → 用 exec form 必須透過 node 呼叫腳本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394960"/>
            <a:ext cx="11277295" cy="45720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🔒  Plugin 用 ${user_config.*} 必須用 exec form（shell form 會被拒絕）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HTTP、MCP Tool、Prompt 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另外 3 種類型快速了解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14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其他類型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6A34A"/>
                </a:solidFill>
                <a:latin typeface="Calibri"/>
              </a:rPr>
              <a:t>🌐 HTTP Hook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3657600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3657600" cy="22860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"type": "http",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"url": "http://localhost:8080/hooks",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"headers":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"Authorization": "Bearer $MY_TOKEN"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},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"allowedEnvVars": ["MY_TOKEN"]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// POST JSON 輸入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// 回應 2xx + JSON 決策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7855" y="1554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🔌 MCP Tool Hook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7855" y="1920240"/>
            <a:ext cx="3657600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7855" y="1920240"/>
            <a:ext cx="3657600" cy="22860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"type": "mcp_tool",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"server": "my_server",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"tool": "security_scan",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"input":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"file_path": "${tool_input.file_path}"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// 呼叫已連接 MCP server 的工具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9424" y="1554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  <a:latin typeface="Calibri"/>
              </a:rPr>
              <a:t>🧠 Prompt Hook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9424" y="1920240"/>
            <a:ext cx="3657600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9424" y="1920240"/>
            <a:ext cx="3657600" cy="22860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"type": "prompt",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"prompt": "Evaluate if Claude should stop: $ARGUMENTS. Check if all tasks are complete.",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"timeout": 30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// LLM 回應 {ok, reason, impossible}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5577840" cy="18288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48056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Prompt 回應語意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206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ok: true → 允許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ok: false + reason → 阻擋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ok: false + impossible: true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  → 條件不可能滿足，允許停止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依事件而定的回應處理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6655" y="4480560"/>
            <a:ext cx="5577840" cy="18288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6655" y="448056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56655" y="448056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Agent Hook 差異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9535" y="51206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可使用工具（Read、Grep、Glob）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多輪驗證，最多 50 輪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預設 60 秒逾時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實驗性，可能變動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用於複雜驗證（檢查測試結果）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Hook 輸入/輸出與退出碼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資料格式與決策控制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Hook 輸入：JSON 格式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從 stdin 接收的資料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16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輸入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📥 範例：Bash 命令的 PreToolUse 輸入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11277295" cy="2743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277295" cy="27432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"session_id": "abc123",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"prompt_id": "550e8400-e29b-41d4-a716-446655440000",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"transcript_path": "/home/user/.claude/projects/.../transcript.jsonl",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"cwd": "/home/user/my-project",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"permission_mode": "default",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"hook_event_name": "PreToolUse",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"tool_name": "Bash",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"tool_input":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"command": "npm test",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"description": "Run test suite",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"timeout": 120000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},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"tool_use_id": "toolu_01ABC123..."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8463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常見輸入欄位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5212080"/>
          <a:ext cx="11277295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198120">
                <a:tc>
                  <a:txBody>
                    <a:bodyPr lIns="45720" rIns="45720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欄位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描述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19812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session_id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目前 session 識別碼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812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cwd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目前工作目錄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19812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permission_mode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default/plan/acceptEdits/auto/dontAsk/bypassPermissions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812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hook_event_name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事件名稱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19812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tool_name + tool_input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2C2C2C"/>
                          </a:solidFill>
                          <a:latin typeface="Calibri"/>
                        </a:rPr>
                        <a:t>工具名稱與輸入（僅工具事件）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退出碼語意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Exit code 決定 Claude 接下來做什麼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17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退出碼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退出碼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意義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stdout 處理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4572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成功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若有有效 JSON → 決策；純文字 → 寫入 debug 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阻塞錯誤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stderr 作為原因，阻擋該動作（多數事件）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4572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其他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取決於 stdout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純文字 → 非阻塞錯誤；JSON → 套用 JSON 決策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3383280"/>
            <a:ext cx="11277295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383280"/>
            <a:ext cx="11277295" cy="22860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#!/bin/bash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 阻擋 rm 命令的 hook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input=$(cat)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command=$(echo "$input" | jq -r '.tool_input.command')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if [[ "$command" == rm* ]]; then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echo "Blocked: rm commands are not allowed" &gt;&amp;2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exit 2  # 阻塞錯誤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fi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exit 0  # 允許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7607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⚠️  exit 2 對大多數事件阻擋，但 PermissionRequest、PostToolUse 等不阻擋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C2626"/>
                </a:solidFill>
                <a:latin typeface="Calibri"/>
              </a:rPr>
              <a:t>WorktreeCreate 例外：任何非零退出碼都會失敗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JSON 決策控制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比退出碼更精細的權限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18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JSON 輸出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75A1A"/>
                </a:solidFill>
                <a:latin typeface="Calibri"/>
              </a:rPr>
              <a:t>🎯 退出 0 + JSON = 結構化控制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11277295" cy="2560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1277295" cy="25603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"continue": false,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"stopReason": "Build failed, fix errors before continuing",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"systemMessage": "⚠️ Lint errors detected",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"hookSpecificOutput":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"hookEventName": "PreToolUse",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"permissionDecision": "deny",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"permissionDecisionReason": "Use rg instead of grep for better performance",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"updatedInput":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"command": "rg pattern"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},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"additionalContext": "Current environment: production. Proceed with caution."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5262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通用欄位 vs 事件特定欄位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892040"/>
            <a:ext cx="5577840" cy="15544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89204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9204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通用欄位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3212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continue: 完全停止 Claude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stopReason: 停止原因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systemMessage: 警告訊息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terminalSequence: 終端跳脫序列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6655" y="4892040"/>
            <a:ext cx="5577840" cy="15544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6655" y="489204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56655" y="489204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事件特定欄位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9535" y="553212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PreToolUse: permissionDecision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PostToolUse: updatedToolOutput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Stop: decision + reason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UserPromptSubmit: additionalContext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決策優先級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多個 hook 衝突時的規則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19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決策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DC2626"/>
                </a:solidFill>
                <a:latin typeface="Calibri"/>
              </a:rPr>
              <a:t>🎯 PreToolUse 多個 hook 衝突時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887" y="1828800"/>
            <a:ext cx="2560320" cy="155448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887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DC2626"/>
                </a:solidFill>
                <a:latin typeface="Consolas"/>
              </a:rPr>
              <a:t>deny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0887" y="2514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6B6B"/>
                </a:solidFill>
                <a:latin typeface="Calibri"/>
              </a:rPr>
              <a:t>1. 最高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887" y="2926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C2C2C"/>
                </a:solidFill>
                <a:latin typeface="Calibri"/>
              </a:rPr>
              <a:t>阻擋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279495" y="2468880"/>
            <a:ext cx="146304" cy="274320"/>
          </a:xfrm>
          <a:prstGeom prst="rightArrow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44087" y="1828800"/>
            <a:ext cx="2560320" cy="155448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4087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75A1A"/>
                </a:solidFill>
                <a:latin typeface="Consolas"/>
              </a:rPr>
              <a:t>defer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4087" y="2514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6B6B"/>
                </a:solidFill>
                <a:latin typeface="Calibri"/>
              </a:rPr>
              <a:t>2. 次高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4087" y="2926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C2C2C"/>
                </a:solidFill>
                <a:latin typeface="Calibri"/>
              </a:rPr>
              <a:t>延後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22695" y="2468880"/>
            <a:ext cx="146304" cy="274320"/>
          </a:xfrm>
          <a:prstGeom prst="rightArrow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87287" y="1828800"/>
            <a:ext cx="2560320" cy="155448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B82F6"/>
                </a:solidFill>
                <a:latin typeface="Consolas"/>
              </a:rPr>
              <a:t>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7287" y="2514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6B6B"/>
                </a:solidFill>
                <a:latin typeface="Calibri"/>
              </a:rPr>
              <a:t>3. 確認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7287" y="2926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C2C2C"/>
                </a:solidFill>
                <a:latin typeface="Calibri"/>
              </a:rPr>
              <a:t>詢問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765895" y="2468880"/>
            <a:ext cx="146304" cy="274320"/>
          </a:xfrm>
          <a:prstGeom prst="rightArrow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30487" y="1828800"/>
            <a:ext cx="2560320" cy="155448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0487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6A34A"/>
                </a:solidFill>
                <a:latin typeface="Consolas"/>
              </a:rPr>
              <a:t>allow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0487" y="2514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6B6B"/>
                </a:solidFill>
                <a:latin typeface="Calibri"/>
              </a:rPr>
              <a:t>4. 最低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30487" y="2926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C2C2C"/>
                </a:solidFill>
                <a:latin typeface="Calibri"/>
              </a:rPr>
              <a:t>允許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57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C2C2C"/>
                </a:solidFill>
                <a:latin typeface="Calibri"/>
              </a:rPr>
              <a:t>📌 其他事件（如 Stop）用 top-level decision + reason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0" y="4206240"/>
            <a:ext cx="8534095" cy="13716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28800" y="4206240"/>
            <a:ext cx="8534095" cy="13716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"decision": "block",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  "reason": "Tests must pass before stopping"</a:t>
            </a:r>
          </a:p>
          <a:p>
            <a:pPr algn="l"/>
            <a:r>
              <a:rPr sz="12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重要事件詳解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PreToolUse、PostToolUse、Stop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PreToolUse：工具執行前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最常用的事件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21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PreToolUse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C2626"/>
                </a:solidFill>
                <a:latin typeface="Calibri"/>
              </a:rPr>
              <a:t>🛡 用途：阻擋、修改、自動批准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11680"/>
            <a:ext cx="5486400" cy="16459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011680"/>
            <a:ext cx="5486400" cy="16459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"hookSpecificOutput":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"hookEventName": "PreToolUse",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"permissionDecision": "deny",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"permissionDecisionReason": "Destructive command blocked"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8095" y="2011680"/>
            <a:ext cx="5486400" cy="1828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8095" y="2011680"/>
            <a:ext cx="5486400" cy="18288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"hookSpecificOutput":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"hookEventName": "PreToolUse",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"permissionDecision": "allow",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"updatedInput":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  "command": "rg pattern"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B82F6"/>
                </a:solidFill>
                <a:latin typeface="Calibri"/>
              </a:rPr>
              <a:t>💡 注意：PreToolUse 只在 Claude 呼叫工具時執行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4805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檔案用 @ 引用 → 不觸發 PreToolUse（Read 也跳過）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EndConversation → 不觸發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若想阻擋 @ 引用：使用 Read deny 規則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94360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🔒  PreToolUse 不會被 hook 自動 deny 規則取代；deny 規則仍生效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PostToolUse：工具成功後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自動 lint、格式化、通知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22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PostToolUse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400800" cy="2560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6400800" cy="25603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// 編輯後自動跑 prettier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"hooks":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"PostToolUse": [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"matcher": "Edit|Write",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"hooks": [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 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    "type": "command",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    "command": "jq -r '.tool_input.file_path' | xargs npx prettier --write"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]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]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495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📊 進階：替換工具輸出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62495" y="1737360"/>
            <a:ext cx="4572000" cy="23774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62495" y="1737360"/>
            <a:ext cx="4572000" cy="23774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"hookSpecificOutput": 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"hookEventName": "PostToolUse",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"additionalContext": "File is generated; edit src/schema.ts",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"updatedToolOutput": 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"stdout": "[redacted]",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"stderr": "",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"interrupted": false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// updatedToolOutput 必須匹配工具輸出形狀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02336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⚠️  ⚠️ updatedToolOutput 只改 Claude 看到的內容；工具實際執行結果不變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5262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📋 寬鬆匹配技巧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920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省略 matcher 或設 * → 任何工具後執行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若想特定檔案變更時觸發 → 用 FileChanged 事件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FileChanged 無決策控制，但有 watchPaths 動態管理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Stop Hook：Claude 完成時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確保任務完整結束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23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Stop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7295" cy="26517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77295" cy="265176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"hooks":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"Stop": [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"hooks": [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 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    "type": "prompt",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    "prompt": "Check if all tasks are complete. If not, respond with {ok: false, reason: 'what remains'}."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]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]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// 當 ok: false → reason 給 Claude 繼續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// 當 ok: true 或 ok: false + impossible: true → 允許停止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60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  <a:latin typeface="Calibri"/>
              </a:rPr>
              <a:t>⚠️ Stop hook 連續 8 次阻擋會被覆寫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572000"/>
            <a:ext cx="11277295" cy="1554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572000"/>
            <a:ext cx="11277295" cy="15544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#!/bin/bash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 避免無限迴圈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input=$(cat)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if [ "$(echo "$input" | jq -r '.stop_hook_active')" = "true" ]; then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exit 0  # 已被觸發過，允許停止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fi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 ... 你的檢查邏輯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62179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🎯  /goal 是 session-scoped Stop hook 的內建快捷方式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SessionStart 與 SessionEnd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Session 生命週期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24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Session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400800" cy="23774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6400800" cy="23774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// 載入專案 context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"hooks": 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"SessionStart": [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"matcher": "compact",    // 只在 compaction 後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"hooks": [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  "type": "command",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  "command": "echo 'Reminder: use Bun, not npm. Run bun test before committing.'"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]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]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495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SessionStart matchers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495" y="173736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startup — 新 session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resume — /resume 或 --continue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clear — /clear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compact — auto/manual compaction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fork — 從現有 session 分叉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862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💡 SessionStart hooks 在每個 session 都執行 → 保持快速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97680"/>
            <a:ext cx="11277295" cy="1554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297680"/>
            <a:ext cx="11277295" cy="15544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// 持久化環境變數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#!/bin/bash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if [ -n "$CLAUDE_ENV_FILE" ]; then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echo 'export NODE_ENV=production' &gt;&gt; "$CLAUDE_ENV_FILE"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echo 'export PATH="$PATH:./node_modules/.bin"' &gt;&gt; "$CLAUDE_ENV_FILE"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fi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SessionEnd：清理任務、記錄 session 統計、儲存狀態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Notification 事件：通知觸發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桌面通知、Slack 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25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Notification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6400800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6400800" cy="22860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"hooks": 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"Notification": [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"matcher": "permission_prompt",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"hooks": [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  "type": "command",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  "command": "osascript -e 'display notification "Claude needs your attention" with title "Claude Code"'"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]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]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495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跨平台桌面通知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495" y="164592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macOS: osascript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Linux: notify-send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Windows: powershell MessageBox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Notification matchers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402336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26571"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Matcher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觸發時機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326571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permission_prompt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Claude 需要權限批准，等待約 6 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idle_prompt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Claude 完成回應約 60 秒，你未輸入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326571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auth_success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認證完成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elicitation_dialog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MCP server 打開 elicitation 表格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326571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agent_needs_input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背景 session 等待輸入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agent_completed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背景 session 完成或失敗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背景執行 Hooks（async）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不阻擋 Claude 的長時間任務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26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背景執行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1277295" cy="24688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7295" cy="24688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"hooks": 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"PostToolUse": [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"matcher": "Write",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"hooks": [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  "type": "command",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  "command": "/path/to/run-tests.sh",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  "async": true,         ← 背景執行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  "timeout": 300         ← 最長 5 分鐘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]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]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40480"/>
            <a:ext cx="5577840" cy="20116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84048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840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✅ 背景 hook 可用於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8056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跑測試套件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部署到 staging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上傳到 S3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產生報告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長時間 lint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6655" y="3840480"/>
            <a:ext cx="5577840" cy="201168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6655" y="384048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6655" y="3840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❌ 背景 hook 不能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9535" y="448056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阻擋 Claude 動作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改變決策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修改工具輸入/輸出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被立刻讀取結果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（下次 session 才知道）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94360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⏱  async 結果在下個 session 開始時可見（--continue 時讀取）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為 Claude 新增上下文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additionalContext 的使用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27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上下文注入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1277295" cy="1554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11277295" cy="15544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"hookSpecificOutput": {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"hookEventName": "PostToolUse",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  "additionalContext": "This file is generated. Edit src/schema.ts and run `bun generate` instead."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}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// additionalContext 會包裝為系統提醒插入對話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918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6A34A"/>
                </a:solidFill>
                <a:latin typeface="Calibri"/>
              </a:rPr>
              <a:t>📌 適合的內容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6576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環境狀態：目前 branch、deployment target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條件式規則：哪些目錄是唯讀的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外部資料：分配給你的 open issues、最近 CI 結果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專案特定的測試指令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2120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  <a:latin typeface="Calibri"/>
              </a:rPr>
              <a:t>📝 寫成事實陳述而非系統指令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5778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✅ 「部署目標是 production」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❌ 「你必須部署到 production」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事實讀起來像資訊；指令可能觸發 prompt-injection 防禦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發送終端通知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桌面通知、視窗標題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28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終端通知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1277295" cy="1828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11277295" cy="18288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#!/bin/bash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# 從 Notification hook 觸發桌面通知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input=$(cat)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title="Claude Code"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body=$(jq -r '.message // "Needs your attention"' &lt;&lt;&lt;"$input")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seq=$(printf '\033]777;notify;%s;%s\007' "$title" "$body")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jq -nc --arg seq "$seq" '{terminalSequence: $seq}'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5661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🎯 terminalSequence 支援的跳脫序列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931920"/>
            <a:ext cx="5577840" cy="18288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9319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桌面通知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OSC 9：iTerm2、ConEmu、WezTerm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OSC 99：Kitty 通知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OSC 777：urxvt、Ghostty、Warp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BEL：基本鈴聲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6655" y="3931920"/>
            <a:ext cx="5577840" cy="18288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56655" y="393192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6655" y="39319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視窗控制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9535" y="457200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OSC 0：視窗標題 + icon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OSC 1：icon 標題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OSC 2：視窗標題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其他 OSC 會被忽略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94360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💡  terminalSequence 在非互動模式（-p）和 Agent SDK 中會被忽略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安全性與最佳實踐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避免踩坑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安全性：認真對待 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⚠️ Hooks 以你的完整權限執行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30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安全性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11277295" cy="64008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⚠️  Command hooks 以你的完整使用者權限執行 shell 命令。它們可以修改、刪除或訪問你的使用者帳戶可訪問的任何檔案。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C2626"/>
                </a:solidFill>
                <a:latin typeface="Calibri"/>
              </a:rPr>
              <a:t>🔒 工作區信任機制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688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互動式 session：每個 hooks 都需工作區信任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-p / SDK session：永遠不顯示對話框，直接執行（⚠️ 危險）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外部 repo 用 --bare 或 --settings '{"disableAllHooks": true}'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657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6A34A"/>
                </a:solidFill>
                <a:latin typeface="Calibri"/>
              </a:rPr>
              <a:t>🛡 安全最佳實踐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23360"/>
            <a:ext cx="5577840" cy="219456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02336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02336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✅ 應該做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66344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驗證所有輸入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永遠用雙引號包變數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檢查路徑遍歷（..）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使用絕對路徑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跳過敏感檔案（.env、.git/）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6655" y="4023360"/>
            <a:ext cx="5577840" cy="219456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6655" y="402336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56655" y="402336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❌ 不該做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9535" y="466344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盲目信任輸入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不引號包 shell 變數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從未驗證的 repo 跑 hooks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在 plugin 內用 ../ 共享檔案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Hook 除錯技巧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找不到問題時的標準流程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31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除錯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75A1A"/>
                </a:solidFill>
                <a:latin typeface="Calibri"/>
              </a:rPr>
              <a:t>🔍 標準除錯流程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1. /hooks 確認 hook 已註冊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2. claude --debug 啟動看完整日誌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3. 手動測試：echo '{...}' | ./hook.sh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4. 確認 chmod +x（最重要的常見錯誤！）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5. 確認 jq 已安裝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6. 看退出碼：echo $?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# 完整除錯命令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claude --debug-file /tmp/claude.log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# 在另一個 terminal</a:t>
            </a:r>
          </a:p>
          <a:p>
            <a:pPr algn="l"/>
            <a:r>
              <a:rPr sz="1100">
                <a:solidFill>
                  <a:srgbClr val="E6E6E6"/>
                </a:solidFill>
                <a:latin typeface="Consolas"/>
              </a:rPr>
              <a:t>tail -f /tmp/claude.log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548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  <a:latin typeface="Calibri"/>
              </a:rPr>
              <a:t>📌 4 個最常見錯誤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1206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2C2C2C"/>
                </a:solidFill>
                <a:latin typeface="Calibri"/>
              </a:rPr>
              <a:t>• ❌ matcher 拼錯 → 沉默失敗（用 /hooks 確認）</a:t>
            </a:r>
          </a:p>
          <a:p>
            <a:pPr algn="l"/>
            <a:r>
              <a:rPr sz="1000">
                <a:solidFill>
                  <a:srgbClr val="2C2C2C"/>
                </a:solidFill>
                <a:latin typeface="Calibri"/>
              </a:rPr>
              <a:t>• ❌ chmod 沒給 → 退出 126（檢查 echo $?）</a:t>
            </a:r>
          </a:p>
          <a:p>
            <a:pPr algn="l"/>
            <a:r>
              <a:rPr sz="1000">
                <a:solidFill>
                  <a:srgbClr val="2C2C2C"/>
                </a:solidFill>
                <a:latin typeface="Calibri"/>
              </a:rPr>
              <a:t>• ❌ jq 沒裝 → parse 錯誤（apt install jq）</a:t>
            </a:r>
          </a:p>
          <a:p>
            <a:pPr algn="l"/>
            <a:r>
              <a:rPr sz="1000">
                <a:solidFill>
                  <a:srgbClr val="2C2C2C"/>
                </a:solidFill>
                <a:latin typeface="Calibri"/>
              </a:rPr>
              <a:t>• ❌ hook JSON 沒生效 → 檢查 shell profile 沒有 echo 干擾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PowerShell on Windows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在 Windows 上執行 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32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PowerShell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400800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6400800" cy="22860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"hooks": 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"PostToolUse": [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"matcher": "Write",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"hooks": [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  "type": "command",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  "shell": "powershell",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  "command": "Write-Host 'File written'"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]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]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495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💡 PowerShell 注意事項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495" y="173736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用 $env:CLAUDE_PROJECT_DIR 讀環境變數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不要寫裸 $CLAUDE_PROJECT_DIR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（會被解析為 null）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Claude Code 自動重寫為 ${env:NAME}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Windows .cmd/.bat shim 必須 shell form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840480"/>
            <a:ext cx="11277295" cy="1554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40480"/>
            <a:ext cx="11277295" cy="15544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// 安全寫法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"type": "command",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"shell": "powershell",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"command": "&amp; "$env:CLAUDE_PROJECT_DIR\.claude\hooks\check.ps1""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57784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🌐  跨平台 plugin 建議：用 exec form 搭配 node 處理差異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5 個常見的 Hook 模式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複製貼上就能用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33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常用模式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200400" cy="7315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1. 編輯後自動格式化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371600"/>
            <a:ext cx="8076895" cy="7315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1371600"/>
            <a:ext cx="7955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6E6E6"/>
                </a:solidFill>
                <a:latin typeface="Consolas"/>
              </a:rPr>
              <a:t>{ ·   "hooks": { ·     "PostToolUse": [ ·       { ·         "matcher": "Edit|Write", ·         "hooks": [ ·           { "type": "c...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3200400" cy="7315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2402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2. 阻擋危險命令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2240280"/>
            <a:ext cx="8076895" cy="7315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39" y="2240280"/>
            <a:ext cx="7955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6E6E6"/>
                </a:solidFill>
                <a:latin typeface="Consolas"/>
              </a:rPr>
              <a:t>{ ·   "hooks": { ·     "PreToolUse": [ ·       { ·         "matcher": "Bash", ·         "hooks": [ ·           { "type": "command"...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08960"/>
            <a:ext cx="3200400" cy="7315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1089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3. 桌面通知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0" y="3108960"/>
            <a:ext cx="8076895" cy="7315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3108960"/>
            <a:ext cx="7955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6E6E6"/>
                </a:solidFill>
                <a:latin typeface="Consolas"/>
              </a:rPr>
              <a:t>{ ·   "hooks": { ·     "Notification": [ ·       { ·         "matcher": "", ·         "hooks": [ ·           { "type": "command", ...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77640"/>
            <a:ext cx="3200400" cy="73152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9776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4. 阻擋編輯敏感檔案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0" y="3977640"/>
            <a:ext cx="8076895" cy="7315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49039" y="3977640"/>
            <a:ext cx="7955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6E6E6"/>
                </a:solidFill>
                <a:latin typeface="Consolas"/>
              </a:rPr>
              <a:t>{ ·   "hooks": { ·     "PreToolUse": [ ·       { ·         "matcher": "Edit|Write", ·         "hooks": [ ·           { "type": "co...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46320"/>
            <a:ext cx="3200400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463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5. Session 開始時載入 context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0" y="4846320"/>
            <a:ext cx="8076895" cy="7315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39" y="4846320"/>
            <a:ext cx="7955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6E6E6"/>
                </a:solidFill>
                <a:latin typeface="Consolas"/>
              </a:rPr>
              <a:t>{ ·   "hooks": { ·     "SessionStart": [ ·       { ·         "matcher": "startup", ·         "hooks": [ ·           { "type": "com...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7607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📖  完整可運行的 hook 範例見 06-hooks.md § 背景執行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實戰：阻擋 rm -rf 完整實作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10 分鐘學會 hook 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34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來源：綜合實戰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C2626"/>
                </a:solidFill>
                <a:latin typeface="Calibri"/>
              </a:rPr>
              <a:t>🎯 目標：阻擋危險的 rm -rf 命令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Step 1：建立 hook 腳本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77440"/>
            <a:ext cx="5486400" cy="2560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377440"/>
            <a:ext cx="5486400" cy="25603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#!/bin/bash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 ~/.claude/hooks/block-rm-rf.sh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input=$(cat)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COMMAND=$(echo "$input" | jq -r '.tool_input.command // empty')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 阻擋 rm -rf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if echo "$COMMAND" | grep -qE 'rm\s+(-[a-zA-Z]*r[a-zA-Z]*f|-[a-zA-Z]*f[a-zA-Z]*r|-rf|-fr)'; then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echo "Blocked: rm -rf is not allowed" &gt;&amp;2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exit 2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fi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exit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8095" y="2011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Step 2：設定 hook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8095" y="2377440"/>
            <a:ext cx="5486400" cy="1828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8095" y="2377440"/>
            <a:ext cx="5486400" cy="18288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// ~/.claude/settings.json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"hooks":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"PreToolUse": [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"matcher": "Bash",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"hooks": [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 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    "type": "command",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    "command": "~/.claude/hooks/block-rm-rf.sh"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  ]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]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8095" y="4389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Step 3：賦予執行權限並測試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8095" y="4754880"/>
            <a:ext cx="5486400" cy="16459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8095" y="4754880"/>
            <a:ext cx="5486400" cy="16459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$ chmod +x ~/.claude/hooks/block-rm-rf.sh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# 測試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$ echo '{"tool_name":"Bash","tool_input":{"command":"rm -rf /"}}' \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| ~/.claude/hooks/block-rm-rf.sh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Blocked: rm -rf is not allowed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$ echo $?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640080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🛡  完成！現在 Claude 嘗試 rm -rf 會被阻擋，stderr 訊息會給 Claude 看到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實戰：編輯後背景跑測試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async + JSON 回報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35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來源：綜合實戰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6A34A"/>
                </a:solidFill>
                <a:latin typeface="Calibri"/>
              </a:rPr>
              <a:t>🎯 目標：編輯 .ts/.js 後背景跑測試，結果回報給 Claude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11680"/>
            <a:ext cx="6400800" cy="32004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011680"/>
            <a:ext cx="6400800" cy="32004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#!/bin/bash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# ~/.claude/hooks/run-tests-async.sh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input=$(cat)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FILE_PATH=$(echo "$input" | jq -r '.tool_input.file_path // empty')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if [[ "$FILE_PATH" != *.ts &amp;&amp; "$FILE_PATH" != *.js ]]; then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exit 0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fi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RESULT=$(npm test 2&gt;&amp;1)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EXIT_CODE=$?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if [ $EXIT_CODE -eq 0 ]; then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MSG="Tests passed after $FILE_PATH"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else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MSG="Tests failed: $RESULT"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fi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jq -nc --arg msg "$MSG" '{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hookSpecificOutput: 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hookEventName: "PostToolUse",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additionalContext: $msg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}'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495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設定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62495" y="2377440"/>
            <a:ext cx="4572000" cy="30175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62495" y="2377440"/>
            <a:ext cx="4572000" cy="30175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"hooks": 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"PostToolUse": [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"matcher": "Write|Edit",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"hooks": [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{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  "type": "command",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  "command": "~/.claude/hooks/run-tests-async.sh",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  "async": true,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  "timeout": 300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]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]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}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// async: Claude 不等結果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// timeout: 5 分鐘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// additionalContext: 結果在下輪回報給 Claude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85216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📖  完整背景 hooks 機制：06-hooks.md § 背景執行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Hooks 在 Skill 和 Subagent 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frontmatter 限定範圍的 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36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Skills/Agents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11277295" cy="32918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77295" cy="32918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# Skill 中的 hook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name: secure-operations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hooks: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PreToolUse: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- matcher: "Bash"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hooks: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- type: command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    command: "./scripts/security-check.sh"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# Subagent 中的 hook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name: code-reviewer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hooks: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PreToolUse: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- matcher: "Bash"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hooks: [{ type: command, command: "./scripts/validate-command.sh" }]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PostToolUse: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- matcher: "Edit|Write"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     hooks: [{ type: command, command: "./scripts/run-linter.sh" }]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# 當 subagent 觸發，Stop 自動轉 SubagentStop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617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5A1A"/>
                </a:solidFill>
                <a:latin typeface="Calibri"/>
              </a:rPr>
              <a:t>📌 Hook 生命週期差異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83480"/>
            <a:ext cx="5577840" cy="146304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98348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983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Skill hooks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2356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Skill 叫用時註冊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整個 session 持續執行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once: true 可限制為一次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6655" y="4983480"/>
            <a:ext cx="5577840" cy="146304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56655" y="498348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6655" y="4983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Subagent hooks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9535" y="562356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Subagent 啟動時註冊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Subagent 完成時移除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Stop 自動轉 SubagentStop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常見問題與疑難排解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實戰中會遇到的狀況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疑難排解速查表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症狀 → 原因 → 解決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38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疑難排解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2560320" cy="777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🚫 Hook 未觸發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554480"/>
            <a:ext cx="8716975" cy="777240"/>
          </a:xfrm>
          <a:prstGeom prst="rect">
            <a:avLst/>
          </a:prstGeom>
          <a:solidFill>
            <a:srgbClr val="F3F0E9"/>
          </a:solidFill>
          <a:ln w="635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60020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原因：matcher 拼錯、事件名錯、permission 未批准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9659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6A34A"/>
                </a:solidFill>
                <a:latin typeface="Calibri"/>
              </a:rPr>
              <a:t>解法：用 /hooks 確認；/debug 看日誌；檢查大小寫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468880"/>
            <a:ext cx="2560320" cy="777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46888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🚫 Hook 報錯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2468880"/>
            <a:ext cx="8716975" cy="777240"/>
          </a:xfrm>
          <a:prstGeom prst="rect">
            <a:avLst/>
          </a:prstGeom>
          <a:solidFill>
            <a:srgbClr val="F3F0E9"/>
          </a:solidFill>
          <a:ln w="635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251460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原因：腳本退出非零、jq 找不到、權限不足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803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6A34A"/>
                </a:solidFill>
                <a:latin typeface="Calibri"/>
              </a:rPr>
              <a:t>解法：echo {...} | ./hook.sh 手動測試；echo $?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83280"/>
            <a:ext cx="2560320" cy="777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38328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🚫 /hooks 沒顯示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3383280"/>
            <a:ext cx="8716975" cy="777240"/>
          </a:xfrm>
          <a:prstGeom prst="rect">
            <a:avLst/>
          </a:prstGeom>
          <a:solidFill>
            <a:srgbClr val="F3F0E9"/>
          </a:solidFill>
          <a:ln w="635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342900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原因：JSON 格式錯、檔案權限、檔案監視器漏掉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7947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6A34A"/>
                </a:solidFill>
                <a:latin typeface="Calibri"/>
              </a:rPr>
              <a:t>解法：重啟 session；驗證 JSON 語法；檢查 settings 路徑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97680"/>
            <a:ext cx="2560320" cy="777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29768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🚫 Stop hook 卡住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17520" y="4297680"/>
            <a:ext cx="8716975" cy="777240"/>
          </a:xfrm>
          <a:prstGeom prst="rect">
            <a:avLst/>
          </a:prstGeom>
          <a:solidFill>
            <a:srgbClr val="F3F0E9"/>
          </a:solidFill>
          <a:ln w="635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434340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原因：連續 8 次阻擋被覆寫；stop_hook_active 沒檢查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7091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6A34A"/>
                </a:solidFill>
                <a:latin typeface="Calibri"/>
              </a:rPr>
              <a:t>解法：在腳本中檢查 stop_hook_active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212080"/>
            <a:ext cx="2560320" cy="777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21208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🚫 JSON 沒生效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17520" y="5212080"/>
            <a:ext cx="8716975" cy="777240"/>
          </a:xfrm>
          <a:prstGeom prst="rect">
            <a:avLst/>
          </a:prstGeom>
          <a:solidFill>
            <a:srgbClr val="F3F0E9"/>
          </a:solidFill>
          <a:ln w="635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0" y="525780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原因：shell profile 有 echo 干擾；解析失敗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235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6A34A"/>
                </a:solidFill>
                <a:latin typeface="Calibri"/>
              </a:rPr>
              <a:t>解法：if [[ $- == *i* ]] 包裝 echo；檢查 stdout 第一字元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12648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🔍  Ctrl+O 打開 transcript 看 hook 執行的詳細結果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除錯工作流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6 步找到問題根源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39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Debug 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29687" y="1554480"/>
            <a:ext cx="3474720" cy="8229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621127" y="1691640"/>
            <a:ext cx="548640" cy="54864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21127" y="16916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1207" y="16002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2C2C"/>
                </a:solidFill>
                <a:latin typeface="Calibri"/>
              </a:rPr>
              <a:t>確認 hook 註冊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61207" y="1920240"/>
            <a:ext cx="2651760" cy="274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61207" y="1920240"/>
            <a:ext cx="2651760" cy="2743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/hooks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1554480"/>
            <a:ext cx="3474720" cy="8229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278727" y="1691640"/>
            <a:ext cx="548640" cy="54864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16916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8807" y="16002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2C2C"/>
                </a:solidFill>
                <a:latin typeface="Calibri"/>
              </a:rPr>
              <a:t>確認事件觸發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8807" y="1920240"/>
            <a:ext cx="2651760" cy="274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18807" y="1920240"/>
            <a:ext cx="2651760" cy="2743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/debug 啟動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29687" y="2560320"/>
            <a:ext cx="3474720" cy="8229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21127" y="2697480"/>
            <a:ext cx="548640" cy="54864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1127" y="26974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61207" y="26060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2C2C"/>
                </a:solidFill>
                <a:latin typeface="Calibri"/>
              </a:rPr>
              <a:t>手動測試腳本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61207" y="2926080"/>
            <a:ext cx="2651760" cy="274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61207" y="2926080"/>
            <a:ext cx="2651760" cy="2743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echo JSON | ./hook.sh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2560320"/>
            <a:ext cx="3474720" cy="8229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278727" y="2697480"/>
            <a:ext cx="548640" cy="54864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78727" y="26974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18807" y="26060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2C2C"/>
                </a:solidFill>
                <a:latin typeface="Calibri"/>
              </a:rPr>
              <a:t>檢查退出碼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18807" y="2926080"/>
            <a:ext cx="2651760" cy="274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18807" y="2926080"/>
            <a:ext cx="2651760" cy="2743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echo $?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29687" y="3566160"/>
            <a:ext cx="3474720" cy="8229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621127" y="3703320"/>
            <a:ext cx="548640" cy="54864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21127" y="37033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1207" y="36118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2C2C"/>
                </a:solidFill>
                <a:latin typeface="Calibri"/>
              </a:rPr>
              <a:t>檢查 stdout 第一字元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61207" y="3931920"/>
            <a:ext cx="2651760" cy="274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61207" y="3931920"/>
            <a:ext cx="2651760" cy="2743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第一字元決定 JSON 或純文字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87287" y="3566160"/>
            <a:ext cx="3474720" cy="8229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278727" y="3703320"/>
            <a:ext cx="548640" cy="54864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78727" y="37033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18807" y="36118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2C2C"/>
                </a:solidFill>
                <a:latin typeface="Calibri"/>
              </a:rPr>
              <a:t>檢查 stderr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918807" y="3931920"/>
            <a:ext cx="2651760" cy="274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18807" y="3931920"/>
            <a:ext cx="2651760" cy="2743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900">
                <a:solidFill>
                  <a:srgbClr val="E6E6E6"/>
                </a:solidFill>
                <a:latin typeface="Consolas"/>
              </a:rPr>
              <a:t>若非 0，看 stderr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8463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400">
                <a:solidFill>
                  <a:srgbClr val="2C2C2C"/>
                </a:solidFill>
                <a:latin typeface="Calibri"/>
              </a:rPr>
              <a:t>🎯  99% 的 hook 問題都是：chmod 沒給、jq 沒裝、JSON 格式錯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53949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B6B"/>
                </a:solidFill>
                <a:latin typeface="Calibri"/>
              </a:rPr>
              <a:t>完整 6 步流程見 06-hooks.md § Debug 技巧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  <a:latin typeface="Calibri"/>
              </a:rPr>
              <a:t>🔧 進階：CLAUDE_CODE_DEBUG_LOG_LEVEL=verbose 取得更詳細的 matcher 記錄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退出碼 + JSON 速查表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實戰中隨手查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40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速查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1127729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00050"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退出碼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stdout 狀態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效果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40005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純文字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寫入 debug log；多數事件無效果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有效 JSON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JSON 決策生效（permissionDecision 等）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40005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無效 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非阻塞錯誤；hook error 通知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任何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阻塞錯誤（多數事件）；stderr 給 Claude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40005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其他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純文字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非阻塞錯誤；hook error 通知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其他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有效 JSON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忽略退出碼，JSON 決策生效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40005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其他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無效 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非阻塞錯誤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9377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  <a:latin typeface="Calibri"/>
              </a:rPr>
              <a:t>⚠️ 重要例外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035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WorktreeCreate：任何非零退出碼都會失敗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PermissionRequest：exit 2 不被尊重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PostToolUse、PostToolUseFailure、Notification 等：exit 2 不阻塞</a:t>
            </a:r>
          </a:p>
          <a:p>
            <a:pPr algn="l"/>
            <a:r>
              <a:rPr sz="1100">
                <a:solidFill>
                  <a:srgbClr val="2C2C2C"/>
                </a:solidFill>
                <a:latin typeface="Calibri"/>
              </a:rPr>
              <a:t>• PreToolUse、UserPromptSubmit、Stop：exit 2 阻塞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0" b="1">
                <a:solidFill>
                  <a:srgbClr val="C75A1A"/>
                </a:solidFill>
                <a:latin typeface="Calibri"/>
              </a:rPr>
              <a:t>Part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2C2C"/>
                </a:solidFill>
                <a:latin typeface="Calibri"/>
              </a:rPr>
              <a:t>練習題與實戰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B6B6B"/>
                </a:solidFill>
                <a:latin typeface="Calibri"/>
              </a:rPr>
              <a:t>鞏固所學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練習題：5 個實作挑戰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由淺入深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42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來源：練習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1097280" cy="7772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6916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2C2C"/>
                </a:solidFill>
                <a:latin typeface="Calibri"/>
              </a:rPr>
              <a:t>桌面通知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0574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Notification hook 用 osascript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645920"/>
            <a:ext cx="3962095" cy="777240"/>
          </a:xfrm>
          <a:prstGeom prst="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645920"/>
            <a:ext cx="3962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C2626"/>
                </a:solidFill>
                <a:latin typeface="Calibri"/>
              </a:rPr>
              <a:t>⏱ 10 分鐘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60320"/>
            <a:ext cx="1097280" cy="7772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560320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6060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2C2C"/>
                </a:solidFill>
                <a:latin typeface="Calibri"/>
              </a:rPr>
              <a:t>阻擋 rm -rf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718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PreToolUse + exit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2560320"/>
            <a:ext cx="3962095" cy="777240"/>
          </a:xfrm>
          <a:prstGeom prst="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2560320"/>
            <a:ext cx="3962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C2626"/>
                </a:solidFill>
                <a:latin typeface="Calibri"/>
              </a:rPr>
              <a:t>⏱ 20 分鐘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74720"/>
            <a:ext cx="1097280" cy="77724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474720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5204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2C2C"/>
                </a:solidFill>
                <a:latin typeface="Calibri"/>
              </a:rPr>
              <a:t>自動跑 ESLint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38862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PostToolUse 編輯後跑 lint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0" y="3474720"/>
            <a:ext cx="3962095" cy="777240"/>
          </a:xfrm>
          <a:prstGeom prst="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0" y="3474720"/>
            <a:ext cx="3962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C2626"/>
                </a:solidFill>
                <a:latin typeface="Calibri"/>
              </a:rPr>
              <a:t>⏱ 30 分鐘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389120"/>
            <a:ext cx="1097280" cy="77724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389120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44348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2C2C"/>
                </a:solidFill>
                <a:latin typeface="Calibri"/>
              </a:rPr>
              <a:t>背景跑測試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48006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async + additionalContext 回報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4389120"/>
            <a:ext cx="3962095" cy="777240"/>
          </a:xfrm>
          <a:prstGeom prst="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0" y="4389120"/>
            <a:ext cx="3962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C2626"/>
                </a:solidFill>
                <a:latin typeface="Calibri"/>
              </a:rPr>
              <a:t>⏱ 40 分鐘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303520"/>
            <a:ext cx="1097280" cy="777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5303520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5920" y="53492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2C2C"/>
                </a:solidFill>
                <a:latin typeface="Calibri"/>
              </a:rPr>
              <a:t>完整 plugin 整合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45920" y="57150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B6B"/>
                </a:solidFill>
                <a:latin typeface="Calibri"/>
              </a:rPr>
              <a:t>hooks + skill + agent 組合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5303520"/>
            <a:ext cx="3962095" cy="777240"/>
          </a:xfrm>
          <a:prstGeom prst="rect">
            <a:avLst/>
          </a:prstGeom>
          <a:solidFill>
            <a:srgbClr val="F3F0E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5303520"/>
            <a:ext cx="3962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C2626"/>
                </a:solidFill>
                <a:latin typeface="Calibri"/>
              </a:rPr>
              <a:t>⏱ 1 小時+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2179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400">
                <a:solidFill>
                  <a:srgbClr val="2C2C2C"/>
                </a:solidFill>
                <a:latin typeface="Calibri"/>
              </a:rPr>
              <a:t>🎓  完成後，你已掌握事件驅動自動化的核心能力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Hooks 與其他元件的組合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建立完整自動化流程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43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來源：綜合應用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1127729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609600"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組合模式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效果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範例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6096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Hook + Skill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Skill 觸發後，Hook 自動跑後續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Skill 跑測試，Hook 自動通知 Slack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Hook + Subagent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Hook 觸發 subagent 處理複雜任務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PostToolUse 觸發 code-reviewer subagent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6096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Hook + 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Hook 用 MCP 工具做外部操作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PreToolUse 用 Slack MCP 通知團隊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Skill + Subagent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Skill 在 subagent 中執行（context: fork）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deep-research skill 用 Explore agent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6096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完整整合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Plugin 包含所有元件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  <a:latin typeface="Calibri"/>
                        </a:rPr>
                        <a:t>code-review plugin：skill + agent + hook + 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39496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400">
                <a:solidFill>
                  <a:srgbClr val="2C2C2C"/>
                </a:solidFill>
                <a:latin typeface="Calibri"/>
              </a:rPr>
              <a:t>🧩  完整 plugin = skills + agents + hooks + MCP servers + LSP servers + monitors + themes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B6B"/>
                </a:solidFill>
                <a:latin typeface="Calibri"/>
              </a:rPr>
              <a:t>進階 plugin 設計：見 02-plugins.md § 開發更複雜的 Plugins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Hook 設計模式總結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什麼情況用什麼 hook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44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設計模式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5577840" cy="4572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🔧 確定性動作 → Command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Lint 自動跑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格式化自動套用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阻擋危險命令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桌面通知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部署、構建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檔案備份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6655" y="1554480"/>
            <a:ext cx="5577840" cy="4572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56655" y="155448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6655" y="1554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🧠 需要判斷 → Prompt/Agent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9535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任務完成度檢查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程式碼品質審查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安全性評估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「是否違反原則」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需要讀檔才能判斷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需要 LLM 推理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2179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💡  不確定時：先試 command（簡單、確定），不夠用再加 prompt/agent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Hook 對決策的精細控制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不只是阻擋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45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決策控制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75A1A"/>
                </a:solidFill>
                <a:latin typeface="Calibri"/>
              </a:rPr>
              <a:t>🎯 Hook 不只能「yes/no」，還能「改寫」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❶ 改寫工具輸入（updatedInput）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5486400" cy="16459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468880"/>
            <a:ext cx="5486400" cy="16459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// grep → rg 自動改寫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"hookSpecificOutput":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"hookEventName": "PreToolUse",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"permissionDecision": "allow",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"updatedInput":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"command": "rg pattern"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8095" y="2103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❷ 改寫工具輸出（updatedToolOutput）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8095" y="2468880"/>
            <a:ext cx="5486400" cy="1828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8095" y="2468880"/>
            <a:ext cx="5486400" cy="18288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// 遮罩敏感輸出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"hookSpecificOutput":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"hookEventName": "PostToolUse",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"updatedToolOutput":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"stdout": "[redacted]",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"stderr": "",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  "interrupted": false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480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❸ 為 Claude 新增 context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846320"/>
            <a:ext cx="5486400" cy="13716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846320"/>
            <a:ext cx="5486400" cy="13716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"hookSpecificOutput": {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"hookEventName": "UserPromptSubmit",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  "additionalContext": "Current branch: main. Run tests before committing."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/>
            <a:r>
              <a:rPr sz="10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640080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🎨  PreToolUse 改輸入、PostToolUse 改輸出、UserPromptSubmit 加 context、Stop 阻擋或加反饋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完整 Hook 速查表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實戰中隨時參考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46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速查表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1127729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457200"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事件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可阻擋？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通用 JSON 欄位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  <a:tc>
                  <a:txBody>
                    <a:bodyPr lIns="45720" rIns="4572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特定欄位</a:t>
                      </a:r>
                    </a:p>
                  </a:txBody>
                  <a:tcPr>
                    <a:solidFill>
                      <a:srgbClr val="C75A1A"/>
                    </a:solidFill>
                  </a:tcPr>
                </a:tc>
              </a:tr>
              <a:tr h="4572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PreToolUse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continue、systemMessage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permissionDecision、updatedInput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PostToolUse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continue、systemMessage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updatedToolOutput、additionalContext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4572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continue、systemMessage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decision: block + reason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UserPromptSubmit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continue、systemMessage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additionalContext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  <a:tr h="4572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SessionStart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systemMessage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additionalContext、initialUserMessage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Notification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terminalSequence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  <a:tc>
                  <a:txBody>
                    <a:bodyPr lIns="45720" rIns="45720" tIns="36576" bIns="36576" wrap="square"/>
                    <a:lstStyle/>
                    <a:p>
                      <a:pPr algn="l"/>
                      <a:r>
                        <a:rPr sz="1100">
                          <a:solidFill>
                            <a:srgbClr val="2C2C2C"/>
                          </a:solidFill>
                          <a:latin typeface="Calibri"/>
                        </a:rPr>
                        <a:t>（無特定欄位）</a:t>
                      </a:r>
                    </a:p>
                  </a:txBody>
                  <a:tcPr>
                    <a:solidFill>
                      <a:srgbClr val="F3F0E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9377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B6B"/>
                </a:solidFill>
                <a:latin typeface="Calibri"/>
              </a:rPr>
              <a:t>📚 完整 28 個事件見 06-hooks.md § 完整事件表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9496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200">
                <a:solidFill>
                  <a:srgbClr val="2C2C2C"/>
                </a:solidFill>
                <a:latin typeface="Calibri"/>
              </a:rPr>
              <a:t>💡  通用欄位：continue、stopReason、systemMessage、terminalSequence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521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Calibri"/>
              </a:rPr>
              <a:t>所有 hooks 平行執行；多個結果合併：最嚴格的決策勝出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Hook 開發最佳實踐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從一開始就做對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47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 § 最佳實踐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5577840" cy="4572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557784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✅ 應該做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保持 hook 快速（10 分鐘預設）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輸入驗證，不盲目信任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用 exec form 引用路徑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為錯誤日誌寫到 stderr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為阻塞錯誤用 exit 2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UserPromptSubmit 用 30s timeout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所有 hook 寫到 plugin 的 hooks/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6655" y="1554480"/>
            <a:ext cx="5577840" cy="4572000"/>
          </a:xfrm>
          <a:prstGeom prst="roundRect">
            <a:avLst/>
          </a:prstGeom>
          <a:solidFill>
            <a:srgbClr val="F3F0E9"/>
          </a:solidFill>
          <a:ln w="2540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56655" y="1554480"/>
            <a:ext cx="5577840" cy="45720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6655" y="15544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❌ 不該做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9535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hook 太慢（阻擋 Claude）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未驗證的輸入（安全風險）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用 shell form 引用路徑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忘記 chmod +x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在 hook 中執行用戶提供的代碼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覆寫 manage settings 控制的 hook</a:t>
            </a:r>
          </a:p>
          <a:p>
            <a:pPr algn="l"/>
            <a:r>
              <a:rPr sz="1300">
                <a:solidFill>
                  <a:srgbClr val="2C2C2C"/>
                </a:solidFill>
                <a:latin typeface="Calibri"/>
              </a:rPr>
              <a:t>• 把 hooks 放在 .claude-plugin/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21792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400">
                <a:solidFill>
                  <a:srgbClr val="2C2C2C"/>
                </a:solidFill>
                <a:latin typeface="Calibri"/>
              </a:rPr>
              <a:t>💎  口訣：Hook 越簡單越好；能用 command 解決就不要 prompt/agent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重點回顧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重點整理與下一步行動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來源：06-hooks.md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75A1A"/>
                </a:solidFill>
                <a:latin typeface="Calibri"/>
              </a:rPr>
              <a:t>📌 關鍵要點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Hook = 確定性觸發的腳本/HTTP/LLM（與 Skills/Subagents 互補）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28 個事件分屬 3 個節奏：Session、Per-turn、Per-tool-call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5 種 handler 類型：command、http、mcp_tool、prompt、agent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退出碼 0/2 決定阻擋與否；JSON 提供更精細的決策控制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決策優先級：deny &gt; defer &gt; ask &gt; allow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always-on、必 chmod、jq、路徑佔位符等注意事項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75A1A"/>
                </a:solidFill>
                <a:latin typeface="Calibri"/>
              </a:rPr>
              <a:t>🚀 下一步行動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🎯 立即：寫一個 Notification hook 桌面通知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📚 進階：寫 PreToolUse hook 阻擋危險命令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🛠 整合：把常用 hooks 打包到 plugin</a:t>
            </a:r>
          </a:p>
          <a:p>
            <a:pPr algn="l"/>
            <a:r>
              <a:rPr sz="1500">
                <a:solidFill>
                  <a:srgbClr val="2C2C2C"/>
                </a:solidFill>
                <a:latin typeface="Calibri"/>
              </a:rPr>
              <a:t>• 🚀 自動化：建立團隊的開發流程 hooks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2C2C2C"/>
                </a:solidFill>
                <a:latin typeface="Calibri"/>
              </a:rPr>
              <a:t>系列回顧：你已完成的學習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i="1">
                <a:solidFill>
                  <a:srgbClr val="6B6B6B"/>
                </a:solidFill>
                <a:latin typeface="Calibri"/>
              </a:rPr>
              <a:t>4 份簡報的累積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2743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49 /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B6B6B"/>
                </a:solidFill>
                <a:latin typeface="Calibri"/>
              </a:rPr>
              <a:t>📖 來源：00 § 全系列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75A1A"/>
                </a:solidFill>
                <a:latin typeface="Calibri"/>
              </a:rPr>
              <a:t>Claude Code Plugin 完整學習系列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75A1A"/>
                </a:solidFill>
                <a:latin typeface="Calibri"/>
              </a:rPr>
              <a:t>🎉 你已掌握 Claude Code Plugin 完整知識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9427" y="2194560"/>
            <a:ext cx="2651760" cy="256032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9427" y="2194560"/>
            <a:ext cx="2651760" cy="548640"/>
          </a:xfrm>
          <a:prstGeom prst="rect">
            <a:avLst/>
          </a:prstGeom>
          <a:solidFill>
            <a:srgbClr val="C75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427" y="2194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#00 系列總覽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307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  <a:latin typeface="Consolas"/>
              </a:rPr>
              <a:t>30 張 | 簡報 #00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307" y="33832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生態系全景、學習路徑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307" y="4297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Calibri"/>
              </a:rPr>
              <a:t>✅ 已完成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9787" y="2194560"/>
            <a:ext cx="2651760" cy="256032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29787" y="2194560"/>
            <a:ext cx="265176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29787" y="2194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#02 Plugin 開發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2667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  <a:latin typeface="Consolas"/>
              </a:rPr>
              <a:t>25 張 | 簡報 #02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2667" y="33832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5 步建立第一個 plugin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2667" y="4297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Calibri"/>
              </a:rPr>
              <a:t>✅ 已完成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0147" y="2194560"/>
            <a:ext cx="2651760" cy="256032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0147" y="2194560"/>
            <a:ext cx="2651760" cy="548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0147" y="2194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#04 Skills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3027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  <a:latin typeface="Consolas"/>
              </a:rPr>
              <a:t>40 張 | 簡報 #04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3027" y="33832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Skills 設計、撰寫、評估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3027" y="4297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Calibri"/>
              </a:rPr>
              <a:t>✅ 已完成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90507" y="2194560"/>
            <a:ext cx="2651760" cy="2560320"/>
          </a:xfrm>
          <a:prstGeom prst="roundRect">
            <a:avLst/>
          </a:prstGeom>
          <a:solidFill>
            <a:srgbClr val="F3F0E9"/>
          </a:solidFill>
          <a:ln w="317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90507" y="2194560"/>
            <a:ext cx="2651760" cy="5486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90507" y="2194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#06 Hooks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73387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  <a:latin typeface="Consolas"/>
              </a:rPr>
              <a:t>50 張 | 簡報 #06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73387" y="33832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  <a:latin typeface="Calibri"/>
              </a:rPr>
              <a:t>事件驅動自動化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73387" y="4297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Calibri"/>
              </a:rPr>
              <a:t>✅ 已完成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1206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75A1A"/>
                </a:solidFill>
                <a:latin typeface="Calibri"/>
              </a:rPr>
              <a:t>🏆 總計 145 張投影片，覆蓋 4 個核心主題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778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6B6B"/>
                </a:solidFill>
                <a:latin typeface="Calibri"/>
              </a:rPr>
              <a:t>未涵蓋（依需求再做）：#01 Marketplaces、#03 技術參考、#05 Subagents、#07 探索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126480"/>
            <a:ext cx="11277295" cy="365760"/>
          </a:xfrm>
          <a:prstGeom prst="roundRect">
            <a:avLst/>
          </a:prstGeom>
          <a:solidFill>
            <a:srgbClr val="F3F0E9"/>
          </a:solidFill>
          <a:ln w="19050">
            <a:solidFill>
              <a:srgbClr val="C75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400">
                <a:solidFill>
                  <a:srgbClr val="2C2C2C"/>
                </a:solidFill>
                <a:latin typeface="Calibri"/>
              </a:rPr>
              <a:t>🚀  下一步：應用所學，建立你自己的 production plugin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400" b="1">
                <a:solidFill>
                  <a:srgbClr val="DC2626"/>
                </a:solidFill>
                <a:latin typeface="Calibri"/>
              </a:rPr>
              <a:t>Hooks 大師之路 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C2C2C"/>
                </a:solidFill>
                <a:latin typeface="Calibri"/>
              </a:rPr>
              <a:t>從一個簡單的 hook 開始，建立自動化流程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9487" y="4389120"/>
            <a:ext cx="320040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9487" y="4526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C2626"/>
                </a:solidFill>
                <a:latin typeface="Calibri"/>
              </a:rPr>
              <a:t>🎯 確定性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9487" y="4937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  <a:latin typeface="Calibri"/>
              </a:rPr>
              <a:t>必須做的事 → Hook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5647" y="4389120"/>
            <a:ext cx="320040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5647" y="4526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6A34A"/>
                </a:solidFill>
                <a:latin typeface="Calibri"/>
              </a:rPr>
              <a:t>🛡 安全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647" y="4937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  <a:latin typeface="Calibri"/>
              </a:rPr>
              <a:t>信任、chmod、路徑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1807" y="4389120"/>
            <a:ext cx="320040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1807" y="4526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B82F6"/>
                </a:solidFill>
                <a:latin typeface="Calibri"/>
              </a:rPr>
              <a:t>🧩 組合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1807" y="4937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  <a:latin typeface="Calibri"/>
              </a:rPr>
              <a:t>Hook + Skill + Agent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0990" y="5852160"/>
            <a:ext cx="182880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12648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C2C2C"/>
                </a:solidFill>
                <a:latin typeface="Calibri"/>
              </a:rPr>
              <a:t>Claude Code Plugin 完整學習系列 · #06 · 系列完結 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58368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6B6B"/>
                </a:solidFill>
                <a:latin typeface="Calibri"/>
              </a:rPr>
              <a:t>整理自 code.claude.com/docs 官方文件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