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3628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>
                <a:solidFill>
                  <a:srgbClr val="C75A1A"/>
                </a:solidFill>
                <a:latin typeface="Calibri"/>
              </a:rPr>
              <a:t>Hooks 自動化指南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>
                <a:solidFill>
                  <a:srgbClr val="2C2C2C"/>
                </a:solidFill>
                <a:latin typeface="Calibri"/>
              </a:rPr>
              <a:t>事件驅動的確定性工作流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486400"/>
            <a:ext cx="103628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i="1">
                <a:solidFill>
                  <a:srgbClr val="6B6B6B"/>
                </a:solidFill>
                <a:latin typeface="Calibri"/>
              </a:rPr>
              <a:t>#06 · Hooks</a:t>
            </a:r>
          </a:p>
        </p:txBody>
      </p:sp>
      <p:sp>
        <p:nvSpPr>
          <p:cNvPr id="5" name="Rectangle 4"/>
          <p:cNvSpPr/>
          <p:nvPr/>
        </p:nvSpPr>
        <p:spPr>
          <a:xfrm>
            <a:off x="5180990" y="5120640"/>
            <a:ext cx="1828800" cy="73152"/>
          </a:xfrm>
          <a:prstGeom prst="rect">
            <a:avLst/>
          </a:prstGeom>
          <a:solidFill>
            <a:srgbClr val="C75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C75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2C2C2C"/>
                </a:solidFill>
                <a:latin typeface="Calibri"/>
              </a:rPr>
              <a:t>本章你會學到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i="1">
                <a:solidFill>
                  <a:srgbClr val="6B6B6B"/>
                </a:solidFill>
                <a:latin typeface="Calibri"/>
              </a:rPr>
              <a:t>從基礎到進階的 Hook 完整知識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27432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2 / 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649224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i="1">
                <a:solidFill>
                  <a:srgbClr val="6B6B6B"/>
                </a:solidFill>
                <a:latin typeface="Calibri"/>
              </a:rPr>
              <a:t>📖 來源：06-hooks.md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C75A1A"/>
                </a:solidFill>
                <a:latin typeface="Calibri"/>
              </a:rPr>
              <a:t>Claude Code Plugin 完整學習系列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706727" y="1554480"/>
            <a:ext cx="2743200" cy="1371600"/>
          </a:xfrm>
          <a:prstGeom prst="roundRect">
            <a:avLst/>
          </a:prstGeom>
          <a:solidFill>
            <a:srgbClr val="F3F0E9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706727" y="164592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2C2C2C"/>
                </a:solidFill>
                <a:latin typeface="Calibri"/>
              </a:rPr>
              <a:t>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46807" y="164592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C2C2C"/>
                </a:solidFill>
                <a:latin typeface="Calibri"/>
              </a:rPr>
              <a:t>Hook 是什麼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89607" y="219456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6B6B"/>
                </a:solidFill>
                <a:latin typeface="Calibri"/>
              </a:rPr>
              <a:t>確定性 vs LLM 判斷的差異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24247" y="1554480"/>
            <a:ext cx="2743200" cy="1371600"/>
          </a:xfrm>
          <a:prstGeom prst="roundRect">
            <a:avLst/>
          </a:prstGeom>
          <a:solidFill>
            <a:srgbClr val="F3F0E9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24247" y="164592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2C2C2C"/>
                </a:solidFill>
                <a:latin typeface="Calibri"/>
              </a:rPr>
              <a:t>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64327" y="164592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C2C2C"/>
                </a:solidFill>
                <a:latin typeface="Calibri"/>
              </a:rPr>
              <a:t>Hook 生命週期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07127" y="219456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6B6B"/>
                </a:solidFill>
                <a:latin typeface="Calibri"/>
              </a:rPr>
              <a:t>28 個事件完整解析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41767" y="1554480"/>
            <a:ext cx="2743200" cy="1371600"/>
          </a:xfrm>
          <a:prstGeom prst="roundRect">
            <a:avLst/>
          </a:prstGeom>
          <a:solidFill>
            <a:srgbClr val="F3F0E9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41767" y="164592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2C2C2C"/>
                </a:solidFill>
                <a:latin typeface="Calibri"/>
              </a:rPr>
              <a:t>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81847" y="164592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C2C2C"/>
                </a:solidFill>
                <a:latin typeface="Calibri"/>
              </a:rPr>
              <a:t>Hook 設定位置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24647" y="219456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6B6B"/>
                </a:solidFill>
                <a:latin typeface="Calibri"/>
              </a:rPr>
              <a:t>使用者/專案/Plugin/Skill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706727" y="3154680"/>
            <a:ext cx="2743200" cy="1371600"/>
          </a:xfrm>
          <a:prstGeom prst="roundRect">
            <a:avLst/>
          </a:prstGeom>
          <a:solidFill>
            <a:srgbClr val="F3F0E9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706727" y="324612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2C2C2C"/>
                </a:solidFill>
                <a:latin typeface="Calibri"/>
              </a:rPr>
              <a:t>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46807" y="324612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C2C2C"/>
                </a:solidFill>
                <a:latin typeface="Calibri"/>
              </a:rPr>
              <a:t>Matcher 模式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89607" y="379476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6B6B"/>
                </a:solidFill>
                <a:latin typeface="Calibri"/>
              </a:rPr>
              <a:t>正則、字串、混用規則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724247" y="3154680"/>
            <a:ext cx="2743200" cy="1371600"/>
          </a:xfrm>
          <a:prstGeom prst="roundRect">
            <a:avLst/>
          </a:prstGeom>
          <a:solidFill>
            <a:srgbClr val="F3F0E9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24247" y="324612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2C2C2C"/>
                </a:solidFill>
                <a:latin typeface="Calibri"/>
              </a:rPr>
              <a:t>🔧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64327" y="324612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C2C2C"/>
                </a:solidFill>
                <a:latin typeface="Calibri"/>
              </a:rPr>
              <a:t>5 種 Handler 類型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07127" y="379476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6B6B"/>
                </a:solidFill>
                <a:latin typeface="Calibri"/>
              </a:rPr>
              <a:t>command、http、mcp_tool、prompt、agent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741767" y="3154680"/>
            <a:ext cx="2743200" cy="1371600"/>
          </a:xfrm>
          <a:prstGeom prst="roundRect">
            <a:avLst/>
          </a:prstGeom>
          <a:solidFill>
            <a:srgbClr val="F3F0E9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41767" y="324612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2C2C2C"/>
                </a:solidFill>
                <a:latin typeface="Calibri"/>
              </a:rPr>
              <a:t>📥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81847" y="324612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C2C2C"/>
                </a:solidFill>
                <a:latin typeface="Calibri"/>
              </a:rPr>
              <a:t>Hook 輸入/輸出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924647" y="379476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6B6B"/>
                </a:solidFill>
                <a:latin typeface="Calibri"/>
              </a:rPr>
              <a:t>JSON 格式與退出碼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706727" y="4754880"/>
            <a:ext cx="2743200" cy="1371600"/>
          </a:xfrm>
          <a:prstGeom prst="roundRect">
            <a:avLst/>
          </a:prstGeom>
          <a:solidFill>
            <a:srgbClr val="F3F0E9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706727" y="484632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2C2C2C"/>
                </a:solidFill>
                <a:latin typeface="Calibri"/>
              </a:rPr>
              <a:t>🎯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346807" y="484632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C2C2C"/>
                </a:solidFill>
                <a:latin typeface="Calibri"/>
              </a:rPr>
              <a:t>決策控制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89607" y="539496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6B6B"/>
                </a:solidFill>
                <a:latin typeface="Calibri"/>
              </a:rPr>
              <a:t>allow/deny/ask/改寫輸入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724247" y="4754880"/>
            <a:ext cx="2743200" cy="1371600"/>
          </a:xfrm>
          <a:prstGeom prst="roundRect">
            <a:avLst/>
          </a:prstGeom>
          <a:solidFill>
            <a:srgbClr val="F3F0E9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724247" y="484632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2C2C2C"/>
                </a:solidFill>
                <a:latin typeface="Calibri"/>
              </a:rPr>
              <a:t>🛡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364327" y="484632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C2C2C"/>
                </a:solidFill>
                <a:latin typeface="Calibri"/>
              </a:rPr>
              <a:t>安全最佳實踐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907127" y="539496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6B6B"/>
                </a:solidFill>
                <a:latin typeface="Calibri"/>
              </a:rPr>
              <a:t>避免踩坑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741767" y="4754880"/>
            <a:ext cx="2743200" cy="1371600"/>
          </a:xfrm>
          <a:prstGeom prst="roundRect">
            <a:avLst/>
          </a:prstGeom>
          <a:solidFill>
            <a:srgbClr val="F3F0E9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741767" y="484632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2C2C2C"/>
                </a:solidFill>
                <a:latin typeface="Calibri"/>
              </a:rPr>
              <a:t>🐛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81847" y="484632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C2C2C"/>
                </a:solidFill>
                <a:latin typeface="Calibri"/>
              </a:rPr>
              <a:t>除錯技巧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924647" y="539496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6B6B"/>
                </a:solidFill>
                <a:latin typeface="Calibri"/>
              </a:rPr>
              <a:t>debug 模式與日誌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0"/>
            <a:ext cx="11277295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600" b="1">
                <a:solidFill>
                  <a:srgbClr val="C75A1A"/>
                </a:solidFill>
                <a:latin typeface="Calibri"/>
              </a:rPr>
              <a:t>Part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65760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2C2C2C"/>
                </a:solidFill>
                <a:latin typeface="Calibri"/>
              </a:rPr>
              <a:t>Hook 基礎概念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75488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i="1">
                <a:solidFill>
                  <a:srgbClr val="6B6B6B"/>
                </a:solidFill>
                <a:latin typeface="Calibri"/>
              </a:rPr>
              <a:t>理解確定性 vs 判斷性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C75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2C2C2C"/>
                </a:solidFill>
                <a:latin typeface="Calibri"/>
              </a:rPr>
              <a:t>什麼是 Hook？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i="1">
                <a:solidFill>
                  <a:srgbClr val="6B6B6B"/>
                </a:solidFill>
                <a:latin typeface="Calibri"/>
              </a:rPr>
              <a:t>使用者定義的自動化執行點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27432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4 / 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649224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i="1">
                <a:solidFill>
                  <a:srgbClr val="6B6B6B"/>
                </a:solidFill>
                <a:latin typeface="Calibri"/>
              </a:rPr>
              <a:t>📖 來源：06 § 什麼是 Hook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C75A1A"/>
                </a:solidFill>
                <a:latin typeface="Calibri"/>
              </a:rPr>
              <a:t>Claude Code Plugin 完整學習系列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5448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DC2626"/>
                </a:solidFill>
                <a:latin typeface="Calibri"/>
              </a:rPr>
              <a:t>🎣 Hook = 在生命週期事件上自動觸發的腳本/HTTP/LLM 評估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5577840" cy="4572000"/>
          </a:xfrm>
          <a:prstGeom prst="roundRect">
            <a:avLst/>
          </a:prstGeom>
          <a:solidFill>
            <a:srgbClr val="F3F0E9"/>
          </a:solidFill>
          <a:ln w="254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554480"/>
            <a:ext cx="5577840" cy="4572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554480"/>
            <a:ext cx="5577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✅ Hook 提供（確定性）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194560"/>
            <a:ext cx="52120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使用者定義的 shell 命令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HTTP endpoint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LLM prompt（半確定）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Subagent 驗證器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特定點必觸發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適合：lint、阻擋、通知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56655" y="1554480"/>
            <a:ext cx="5577840" cy="4572000"/>
          </a:xfrm>
          <a:prstGeom prst="roundRect">
            <a:avLst/>
          </a:prstGeom>
          <a:solidFill>
            <a:srgbClr val="F3F0E9"/>
          </a:solidFill>
          <a:ln w="25400">
            <a:solidFill>
              <a:srgbClr val="C75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56655" y="1554480"/>
            <a:ext cx="5577840" cy="457200"/>
          </a:xfrm>
          <a:prstGeom prst="rect">
            <a:avLst/>
          </a:prstGeom>
          <a:solidFill>
            <a:srgbClr val="C75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56655" y="1554480"/>
            <a:ext cx="5577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🧠 由 Claude 判斷（不確定）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39535" y="2194560"/>
            <a:ext cx="52120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Claude 自行決定何時做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依賴 LLM 理解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可能漏掉或做錯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適合：開放性任務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不可強制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6217920"/>
            <a:ext cx="11277295" cy="365760"/>
          </a:xfrm>
          <a:prstGeom prst="roundRect">
            <a:avLst/>
          </a:prstGeom>
          <a:solidFill>
            <a:srgbClr val="F3F0E9"/>
          </a:solidFill>
          <a:ln w="19050">
            <a:solidFill>
              <a:srgbClr val="C75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/>
            <a:r>
              <a:rPr sz="1400">
                <a:solidFill>
                  <a:srgbClr val="2C2C2C"/>
                </a:solidFill>
                <a:latin typeface="Calibri"/>
              </a:rPr>
              <a:t>💡  口訣：「必須做的事」用 Hook，「希望做的事」用 CLAUDE.md/Skill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C75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2C2C2C"/>
                </a:solidFill>
                <a:latin typeface="Calibri"/>
              </a:rPr>
              <a:t>Hook 生命週期：3 個節奏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i="1">
                <a:solidFill>
                  <a:srgbClr val="6B6B6B"/>
                </a:solidFill>
                <a:latin typeface="Calibri"/>
              </a:rPr>
              <a:t>28 個事件分屬三類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27432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5 / 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649224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i="1">
                <a:solidFill>
                  <a:srgbClr val="6B6B6B"/>
                </a:solidFill>
                <a:latin typeface="Calibri"/>
              </a:rPr>
              <a:t>📖 來源：06 § 生命週期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C75A1A"/>
                </a:solidFill>
                <a:latin typeface="Calibri"/>
              </a:rPr>
              <a:t>Claude Code Plugin 完整學習系列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645920"/>
            <a:ext cx="3657600" cy="3200400"/>
          </a:xfrm>
          <a:prstGeom prst="roundRect">
            <a:avLst/>
          </a:prstGeom>
          <a:solidFill>
            <a:srgbClr val="F3F0E9"/>
          </a:solidFill>
          <a:ln w="317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82880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3B82F6"/>
                </a:solidFill>
                <a:latin typeface="Calibri"/>
              </a:rPr>
              <a:t>⏱ 每個 Session 一次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46888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C2C2C"/>
                </a:solidFill>
                <a:latin typeface="Consolas"/>
              </a:rPr>
              <a:t>SessionStart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83464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C2C2C"/>
                </a:solidFill>
                <a:latin typeface="Consolas"/>
              </a:rPr>
              <a:t>SessionEnd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474720"/>
            <a:ext cx="32918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B6B6B"/>
                </a:solidFill>
                <a:latin typeface="Calibri"/>
              </a:rPr>
              <a:t>Session 開始或結束時各執行一次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89120" y="1645920"/>
            <a:ext cx="3657600" cy="3200400"/>
          </a:xfrm>
          <a:prstGeom prst="roundRect">
            <a:avLst/>
          </a:prstGeom>
          <a:solidFill>
            <a:srgbClr val="F3F0E9"/>
          </a:solidFill>
          <a:ln w="317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9120" y="182880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16A34A"/>
                </a:solidFill>
                <a:latin typeface="Calibri"/>
              </a:rPr>
              <a:t>🔄 每輪一次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246888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C2C2C"/>
                </a:solidFill>
                <a:latin typeface="Consolas"/>
              </a:rPr>
              <a:t>UserPromptSubmit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283464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C2C2C"/>
                </a:solidFill>
                <a:latin typeface="Consolas"/>
              </a:rPr>
              <a:t>Stop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3474720"/>
            <a:ext cx="32918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B6B6B"/>
                </a:solidFill>
                <a:latin typeface="Calibri"/>
              </a:rPr>
              <a:t>StopFailure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321040" y="1645920"/>
            <a:ext cx="3657600" cy="3200400"/>
          </a:xfrm>
          <a:prstGeom prst="roundRect">
            <a:avLst/>
          </a:prstGeom>
          <a:solidFill>
            <a:srgbClr val="F3F0E9"/>
          </a:solidFill>
          <a:ln w="317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1040" y="182880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DC2626"/>
                </a:solidFill>
                <a:latin typeface="Calibri"/>
              </a:rPr>
              <a:t>🛠 每次工具呼叫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20" y="246888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C2C2C"/>
                </a:solidFill>
                <a:latin typeface="Consolas"/>
              </a:rPr>
              <a:t>PreToolUse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283464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C2C2C"/>
                </a:solidFill>
                <a:latin typeface="Consolas"/>
              </a:rPr>
              <a:t>PostToolUse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03920" y="3474720"/>
            <a:ext cx="32918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B6B6B"/>
                </a:solidFill>
                <a:latin typeface="Calibri"/>
              </a:rPr>
              <a:t>PostToolUseFailure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5120640"/>
            <a:ext cx="11277295" cy="365760"/>
          </a:xfrm>
          <a:prstGeom prst="roundRect">
            <a:avLst/>
          </a:prstGeom>
          <a:solidFill>
            <a:srgbClr val="F3F0E9"/>
          </a:solidFill>
          <a:ln w="19050">
            <a:solidFill>
              <a:srgbClr val="C75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📋  完整 28 個事件見 06-hooks.md § 完整事件表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C75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2C2C2C"/>
                </a:solidFill>
                <a:latin typeface="Calibri"/>
              </a:rPr>
              <a:t>Hook 解析流程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i="1">
                <a:solidFill>
                  <a:srgbClr val="6B6B6B"/>
                </a:solidFill>
                <a:latin typeface="Calibri"/>
              </a:rPr>
              <a:t>從事件觸發到決策執行的完整路徑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27432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6 / 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649224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i="1">
                <a:solidFill>
                  <a:srgbClr val="6B6B6B"/>
                </a:solidFill>
                <a:latin typeface="Calibri"/>
              </a:rPr>
              <a:t>📖 來源：06 § 解析流程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C75A1A"/>
                </a:solidFill>
                <a:latin typeface="Calibri"/>
              </a:rPr>
              <a:t>Claude Code Plugin 完整學習系列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544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DC2626"/>
                </a:solidFill>
                <a:latin typeface="Calibri"/>
              </a:rPr>
              <a:t>範例：阻擋 rm -rf 命令</a:t>
            </a:r>
          </a:p>
        </p:txBody>
      </p:sp>
      <p:sp>
        <p:nvSpPr>
          <p:cNvPr id="9" name="Oval 8"/>
          <p:cNvSpPr/>
          <p:nvPr/>
        </p:nvSpPr>
        <p:spPr>
          <a:xfrm>
            <a:off x="457200" y="2240280"/>
            <a:ext cx="457200" cy="457200"/>
          </a:xfrm>
          <a:prstGeom prst="ellipse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22402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97280" y="2103120"/>
            <a:ext cx="6400800" cy="731520"/>
          </a:xfrm>
          <a:prstGeom prst="roundRect">
            <a:avLst/>
          </a:prstGeom>
          <a:solidFill>
            <a:srgbClr val="F3F0E9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80160" y="2194560"/>
            <a:ext cx="6035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DC2626"/>
                </a:solidFill>
                <a:latin typeface="Calibri"/>
              </a:rPr>
              <a:t>PreToolUse 事件觸發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2514600"/>
            <a:ext cx="6035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6B6B"/>
                </a:solidFill>
                <a:latin typeface="Calibri"/>
              </a:rPr>
              <a:t>Claude 送 JSON 到 stdin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548640" y="2743200"/>
            <a:ext cx="274320" cy="228600"/>
          </a:xfrm>
          <a:prstGeom prst="downArrow">
            <a:avLst/>
          </a:prstGeom>
          <a:solidFill>
            <a:srgbClr val="6B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57200" y="3154680"/>
            <a:ext cx="457200" cy="45720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31546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97280" y="3017520"/>
            <a:ext cx="6400800" cy="731520"/>
          </a:xfrm>
          <a:prstGeom prst="roundRect">
            <a:avLst/>
          </a:prstGeom>
          <a:solidFill>
            <a:srgbClr val="F3F0E9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3108960"/>
            <a:ext cx="6035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B82F6"/>
                </a:solidFill>
                <a:latin typeface="Calibri"/>
              </a:rPr>
              <a:t>Matcher 匹配 Bash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3429000"/>
            <a:ext cx="6035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6B6B"/>
                </a:solidFill>
                <a:latin typeface="Calibri"/>
              </a:rPr>
              <a:t>工具名稱過濾</a:t>
            </a:r>
          </a:p>
        </p:txBody>
      </p:sp>
      <p:sp>
        <p:nvSpPr>
          <p:cNvPr id="20" name="Down Arrow 19"/>
          <p:cNvSpPr/>
          <p:nvPr/>
        </p:nvSpPr>
        <p:spPr>
          <a:xfrm>
            <a:off x="548640" y="3657600"/>
            <a:ext cx="274320" cy="228600"/>
          </a:xfrm>
          <a:prstGeom prst="downArrow">
            <a:avLst/>
          </a:prstGeom>
          <a:solidFill>
            <a:srgbClr val="6B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57200" y="4069080"/>
            <a:ext cx="457200" cy="457200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0690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97280" y="3931920"/>
            <a:ext cx="6400800" cy="731520"/>
          </a:xfrm>
          <a:prstGeom prst="roundRect">
            <a:avLst/>
          </a:prstGeom>
          <a:solidFill>
            <a:srgbClr val="F3F0E9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280160" y="4023360"/>
            <a:ext cx="6035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6A34A"/>
                </a:solidFill>
                <a:latin typeface="Calibri"/>
              </a:rPr>
              <a:t>if 條件匹配 rm *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80160" y="4343400"/>
            <a:ext cx="6035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6B6B"/>
                </a:solidFill>
                <a:latin typeface="Calibri"/>
              </a:rPr>
              <a:t>細部命令過濾</a:t>
            </a:r>
          </a:p>
        </p:txBody>
      </p:sp>
      <p:sp>
        <p:nvSpPr>
          <p:cNvPr id="26" name="Down Arrow 25"/>
          <p:cNvSpPr/>
          <p:nvPr/>
        </p:nvSpPr>
        <p:spPr>
          <a:xfrm>
            <a:off x="548640" y="4572000"/>
            <a:ext cx="274320" cy="228600"/>
          </a:xfrm>
          <a:prstGeom prst="downArrow">
            <a:avLst/>
          </a:prstGeom>
          <a:solidFill>
            <a:srgbClr val="6B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457200" y="4983480"/>
            <a:ext cx="457200" cy="457200"/>
          </a:xfrm>
          <a:prstGeom prst="ellipse">
            <a:avLst/>
          </a:prstGeom>
          <a:solidFill>
            <a:srgbClr val="C75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49834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97280" y="4846320"/>
            <a:ext cx="6400800" cy="731520"/>
          </a:xfrm>
          <a:prstGeom prst="roundRect">
            <a:avLst/>
          </a:prstGeom>
          <a:solidFill>
            <a:srgbClr val="F3F0E9"/>
          </a:solidFill>
          <a:ln w="19050">
            <a:solidFill>
              <a:srgbClr val="C75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280160" y="4937760"/>
            <a:ext cx="6035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75A1A"/>
                </a:solidFill>
                <a:latin typeface="Calibri"/>
              </a:rPr>
              <a:t>腳本執行 + 輸出 JSON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80160" y="5257800"/>
            <a:ext cx="6035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6B6B"/>
                </a:solidFill>
                <a:latin typeface="Calibri"/>
              </a:rPr>
              <a:t>permissionDecision: deny</a:t>
            </a:r>
          </a:p>
        </p:txBody>
      </p:sp>
      <p:sp>
        <p:nvSpPr>
          <p:cNvPr id="32" name="Down Arrow 31"/>
          <p:cNvSpPr/>
          <p:nvPr/>
        </p:nvSpPr>
        <p:spPr>
          <a:xfrm>
            <a:off x="548640" y="5486400"/>
            <a:ext cx="274320" cy="228600"/>
          </a:xfrm>
          <a:prstGeom prst="downArrow">
            <a:avLst/>
          </a:prstGeom>
          <a:solidFill>
            <a:srgbClr val="6B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457200" y="5897880"/>
            <a:ext cx="457200" cy="457200"/>
          </a:xfrm>
          <a:prstGeom prst="ellipse">
            <a:avLst/>
          </a:prstGeom>
          <a:solidFill>
            <a:srgbClr val="2C2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" y="58978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97280" y="5760720"/>
            <a:ext cx="6400800" cy="731520"/>
          </a:xfrm>
          <a:prstGeom prst="roundRect">
            <a:avLst/>
          </a:prstGeom>
          <a:solidFill>
            <a:srgbClr val="F3F0E9"/>
          </a:solidFill>
          <a:ln w="19050">
            <a:solidFill>
              <a:srgbClr val="2C2C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280160" y="5852160"/>
            <a:ext cx="6035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C2C2C"/>
                </a:solidFill>
                <a:latin typeface="Calibri"/>
              </a:rPr>
              <a:t>Claude Code 阻擋工具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280160" y="6172200"/>
            <a:ext cx="6035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6B6B"/>
                </a:solidFill>
                <a:latin typeface="Calibri"/>
              </a:rPr>
              <a:t>向 Claude 顯示原因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772400" y="2103120"/>
            <a:ext cx="4114800" cy="182880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772400" y="2103120"/>
            <a:ext cx="4114800" cy="1828800"/>
          </a:xfrm>
          <a:prstGeom prst="rect">
            <a:avLst/>
          </a:prstGeom>
          <a:noFill/>
        </p:spPr>
        <p:txBody>
          <a:bodyPr wrap="square" lIns="137160" tIns="91440" rIns="137160" bIns="91440">
            <a:spAutoFit/>
          </a:bodyPr>
          <a:lstStyle/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{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  "hookSpecificOutput": {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    "hookEventName": "PreToolUse",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    "permissionDecision": "deny",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    "permissionDecisionReason": "Destructive command blocked"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  }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}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72400" y="402336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75A1A"/>
                </a:solidFill>
                <a:latin typeface="Calibri"/>
              </a:rPr>
              <a:t>JSON 決策輸出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57200" y="6126480"/>
            <a:ext cx="11277295" cy="365760"/>
          </a:xfrm>
          <a:prstGeom prst="roundRect">
            <a:avLst/>
          </a:prstGeom>
          <a:solidFill>
            <a:srgbClr val="F3F0E9"/>
          </a:solidFill>
          <a:ln w="19050">
            <a:solidFill>
              <a:srgbClr val="C75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/>
            <a:r>
              <a:rPr sz="1200">
                <a:solidFill>
                  <a:srgbClr val="2C2C2C"/>
                </a:solidFill>
                <a:latin typeface="Calibri"/>
              </a:rPr>
              <a:t>📖  完整 hook 腳本見 06-hooks.md § 解析流程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0"/>
            <a:ext cx="11277295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600" b="1">
                <a:solidFill>
                  <a:srgbClr val="C75A1A"/>
                </a:solidFill>
                <a:latin typeface="Calibri"/>
              </a:rPr>
              <a:t>Part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65760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2C2C2C"/>
                </a:solidFill>
                <a:latin typeface="Calibri"/>
              </a:rPr>
              <a:t>Hook 設定與位置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75488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i="1">
                <a:solidFill>
                  <a:srgbClr val="6B6B6B"/>
                </a:solidFill>
                <a:latin typeface="Calibri"/>
              </a:rPr>
              <a:t>6 個位置決定範圍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C75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2C2C2C"/>
                </a:solidFill>
                <a:latin typeface="Calibri"/>
              </a:rPr>
              <a:t>Hook 設定的 6 個位置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i="1">
                <a:solidFill>
                  <a:srgbClr val="6B6B6B"/>
                </a:solidFill>
                <a:latin typeface="Calibri"/>
              </a:rPr>
              <a:t>範圍決定誰能觸發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27432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8 / 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649224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i="1">
                <a:solidFill>
                  <a:srgbClr val="6B6B6B"/>
                </a:solidFill>
                <a:latin typeface="Calibri"/>
              </a:rPr>
              <a:t>📖 來源：06 § Hook 位置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C75A1A"/>
                </a:solidFill>
                <a:latin typeface="Calibri"/>
              </a:rPr>
              <a:t>Claude Code Plugin 完整學習系列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9447" y="1554480"/>
            <a:ext cx="3474720" cy="2011680"/>
          </a:xfrm>
          <a:prstGeom prst="roundRect">
            <a:avLst/>
          </a:prstGeom>
          <a:solidFill>
            <a:srgbClr val="F3F0E9"/>
          </a:solidFill>
          <a:ln w="254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9447" y="169164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2C2C2C"/>
                </a:solidFill>
                <a:latin typeface="Calibri"/>
              </a:rPr>
              <a:t>🏠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2327" y="2194560"/>
            <a:ext cx="3108960" cy="64008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2327" y="2194560"/>
            <a:ext cx="3108960" cy="640080"/>
          </a:xfrm>
          <a:prstGeom prst="rect">
            <a:avLst/>
          </a:prstGeom>
          <a:noFill/>
        </p:spPr>
        <p:txBody>
          <a:bodyPr wrap="square" lIns="137160" tIns="91440" rIns="137160" bIns="91440">
            <a:spAutoFit/>
          </a:bodyPr>
          <a:lstStyle/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~/.claude/settings.json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2327" y="283464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C2C2C"/>
                </a:solidFill>
                <a:latin typeface="Calibri"/>
              </a:rPr>
              <a:t>範圍：你的所有專案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2327" y="310896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C2C2C"/>
                </a:solidFill>
                <a:latin typeface="Calibri"/>
              </a:rPr>
              <a:t>特性：個人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58487" y="1554480"/>
            <a:ext cx="3474720" cy="2011680"/>
          </a:xfrm>
          <a:prstGeom prst="roundRect">
            <a:avLst/>
          </a:prstGeom>
          <a:solidFill>
            <a:srgbClr val="F3F0E9"/>
          </a:solidFill>
          <a:ln w="254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58487" y="169164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2C2C2C"/>
                </a:solidFill>
                <a:latin typeface="Calibri"/>
              </a:rPr>
              <a:t>📁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41367" y="2194560"/>
            <a:ext cx="3108960" cy="64008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41367" y="2194560"/>
            <a:ext cx="3108960" cy="640080"/>
          </a:xfrm>
          <a:prstGeom prst="rect">
            <a:avLst/>
          </a:prstGeom>
          <a:noFill/>
        </p:spPr>
        <p:txBody>
          <a:bodyPr wrap="square" lIns="137160" tIns="91440" rIns="137160" bIns="91440">
            <a:spAutoFit/>
          </a:bodyPr>
          <a:lstStyle/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.claude/settings.json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41367" y="283464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C2C2C"/>
                </a:solidFill>
                <a:latin typeface="Calibri"/>
              </a:rPr>
              <a:t>範圍：單一專案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41367" y="310896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C2C2C"/>
                </a:solidFill>
                <a:latin typeface="Calibri"/>
              </a:rPr>
              <a:t>特性：可 commit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07527" y="1554480"/>
            <a:ext cx="3474720" cy="2011680"/>
          </a:xfrm>
          <a:prstGeom prst="roundRect">
            <a:avLst/>
          </a:prstGeom>
          <a:solidFill>
            <a:srgbClr val="F3F0E9"/>
          </a:solidFill>
          <a:ln w="254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07527" y="169164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2C2C2C"/>
                </a:solidFill>
                <a:latin typeface="Calibri"/>
              </a:rPr>
              <a:t>🔒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90407" y="2194560"/>
            <a:ext cx="3108960" cy="64008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90407" y="2194560"/>
            <a:ext cx="3108960" cy="640080"/>
          </a:xfrm>
          <a:prstGeom prst="rect">
            <a:avLst/>
          </a:prstGeom>
          <a:noFill/>
        </p:spPr>
        <p:txBody>
          <a:bodyPr wrap="square" lIns="137160" tIns="91440" rIns="137160" bIns="91440">
            <a:spAutoFit/>
          </a:bodyPr>
          <a:lstStyle/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.claude/settings.local.json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90407" y="283464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C2C2C"/>
                </a:solidFill>
                <a:latin typeface="Calibri"/>
              </a:rPr>
              <a:t>範圍：單一專案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90407" y="310896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C2C2C"/>
                </a:solidFill>
                <a:latin typeface="Calibri"/>
              </a:rPr>
              <a:t>特性：gitignored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09447" y="3840480"/>
            <a:ext cx="3474720" cy="2011680"/>
          </a:xfrm>
          <a:prstGeom prst="roundRect">
            <a:avLst/>
          </a:prstGeom>
          <a:solidFill>
            <a:srgbClr val="F3F0E9"/>
          </a:solidFill>
          <a:ln w="25400">
            <a:solidFill>
              <a:srgbClr val="C75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9447" y="397764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2C2C2C"/>
                </a:solidFill>
                <a:latin typeface="Calibri"/>
              </a:rPr>
              <a:t>🏢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92327" y="4480560"/>
            <a:ext cx="3108960" cy="64008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92327" y="4480560"/>
            <a:ext cx="3108960" cy="640080"/>
          </a:xfrm>
          <a:prstGeom prst="rect">
            <a:avLst/>
          </a:prstGeom>
          <a:noFill/>
        </p:spPr>
        <p:txBody>
          <a:bodyPr wrap="square" lIns="137160" tIns="91440" rIns="137160" bIns="91440">
            <a:spAutoFit/>
          </a:bodyPr>
          <a:lstStyle/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Managed policy settings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2327" y="512064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C2C2C"/>
                </a:solidFill>
                <a:latin typeface="Calibri"/>
              </a:rPr>
              <a:t>範圍：組織範圍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92327" y="539496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C2C2C"/>
                </a:solidFill>
                <a:latin typeface="Calibri"/>
              </a:rPr>
              <a:t>特性：管理員控制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358487" y="3840480"/>
            <a:ext cx="3474720" cy="2011680"/>
          </a:xfrm>
          <a:prstGeom prst="roundRect">
            <a:avLst/>
          </a:prstGeom>
          <a:solidFill>
            <a:srgbClr val="F3F0E9"/>
          </a:solidFill>
          <a:ln w="254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58487" y="397764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2C2C2C"/>
                </a:solidFill>
                <a:latin typeface="Calibri"/>
              </a:rPr>
              <a:t>📦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41367" y="4480560"/>
            <a:ext cx="3108960" cy="64008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41367" y="4480560"/>
            <a:ext cx="3108960" cy="640080"/>
          </a:xfrm>
          <a:prstGeom prst="rect">
            <a:avLst/>
          </a:prstGeom>
          <a:noFill/>
        </p:spPr>
        <p:txBody>
          <a:bodyPr wrap="square" lIns="137160" tIns="91440" rIns="137160" bIns="91440">
            <a:spAutoFit/>
          </a:bodyPr>
          <a:lstStyle/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Plugin hooks/hooks.json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41367" y="512064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C2C2C"/>
                </a:solidFill>
                <a:latin typeface="Calibri"/>
              </a:rPr>
              <a:t>範圍：啟用 plugin 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41367" y="539496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C2C2C"/>
                </a:solidFill>
                <a:latin typeface="Calibri"/>
              </a:rPr>
              <a:t>特性：隨 plugin 打包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107527" y="3840480"/>
            <a:ext cx="3474720" cy="2011680"/>
          </a:xfrm>
          <a:prstGeom prst="roundRect">
            <a:avLst/>
          </a:prstGeom>
          <a:solidFill>
            <a:srgbClr val="F3F0E9"/>
          </a:solidFill>
          <a:ln w="25400">
            <a:solidFill>
              <a:srgbClr val="0E7C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107527" y="397764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2C2C2C"/>
                </a:solidFill>
                <a:latin typeface="Calibri"/>
              </a:rPr>
              <a:t>📝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290407" y="4480560"/>
            <a:ext cx="3108960" cy="64008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290407" y="4480560"/>
            <a:ext cx="3108960" cy="640080"/>
          </a:xfrm>
          <a:prstGeom prst="rect">
            <a:avLst/>
          </a:prstGeom>
          <a:noFill/>
        </p:spPr>
        <p:txBody>
          <a:bodyPr wrap="square" lIns="137160" tIns="91440" rIns="137160" bIns="91440">
            <a:spAutoFit/>
          </a:bodyPr>
          <a:lstStyle/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Skill/Subagent frontmatter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90407" y="512064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C2C2C"/>
                </a:solidFill>
                <a:latin typeface="Calibri"/>
              </a:rPr>
              <a:t>範圍：限定範圍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90407" y="539496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C2C2C"/>
                </a:solidFill>
                <a:latin typeface="Calibri"/>
              </a:rPr>
              <a:t>特性：跟著元件走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57200" y="6126480"/>
            <a:ext cx="11277295" cy="365760"/>
          </a:xfrm>
          <a:prstGeom prst="roundRect">
            <a:avLst/>
          </a:prstGeom>
          <a:solidFill>
            <a:srgbClr val="F3F0E9"/>
          </a:solidFill>
          <a:ln w="19050">
            <a:solidFill>
              <a:srgbClr val="C75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💡  Plugin hooks 自動跟著 plugin 啟用/停用，最容易管理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C75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2C2C2C"/>
                </a:solidFill>
                <a:latin typeface="Calibri"/>
              </a:rPr>
              <a:t>Matcher 模式詳解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i="1">
                <a:solidFill>
                  <a:srgbClr val="6B6B6B"/>
                </a:solidFill>
                <a:latin typeface="Calibri"/>
              </a:rPr>
              <a:t>控制 hook 何時觸發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27432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9 / 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649224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i="1">
                <a:solidFill>
                  <a:srgbClr val="6B6B6B"/>
                </a:solidFill>
                <a:latin typeface="Calibri"/>
              </a:rPr>
              <a:t>📖 來源：06 § Matcher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C75A1A"/>
                </a:solidFill>
                <a:latin typeface="Calibri"/>
              </a:rPr>
              <a:t>Claude Code Plugin 完整學習系列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544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C75A1A"/>
                </a:solidFill>
                <a:latin typeface="Calibri"/>
              </a:rPr>
              <a:t>🎯 三種匹配方式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2103120"/>
          <a:ext cx="11277295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9098"/>
                <a:gridCol w="3759098"/>
                <a:gridCol w="3759099"/>
              </a:tblGrid>
              <a:tr h="457200">
                <a:tc>
                  <a:txBody>
                    <a:bodyPr lIns="45720" rIns="45720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Matcher 值</a:t>
                      </a:r>
                    </a:p>
                  </a:txBody>
                  <a:tcPr>
                    <a:solidFill>
                      <a:srgbClr val="C75A1A"/>
                    </a:solidFill>
                  </a:tcPr>
                </a:tc>
                <a:tc>
                  <a:txBody>
                    <a:bodyPr lIns="45720" rIns="45720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評估為</a:t>
                      </a:r>
                    </a:p>
                  </a:txBody>
                  <a:tcPr>
                    <a:solidFill>
                      <a:srgbClr val="C75A1A"/>
                    </a:solidFill>
                  </a:tcPr>
                </a:tc>
                <a:tc>
                  <a:txBody>
                    <a:bodyPr lIns="45720" rIns="45720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範例</a:t>
                      </a:r>
                    </a:p>
                  </a:txBody>
                  <a:tcPr>
                    <a:solidFill>
                      <a:srgbClr val="C75A1A"/>
                    </a:solidFill>
                  </a:tcPr>
                </a:tc>
              </a:tr>
              <a:tr h="457200"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200">
                          <a:solidFill>
                            <a:srgbClr val="2C2C2C"/>
                          </a:solidFill>
                          <a:latin typeface="Calibri"/>
                        </a:rPr>
                        <a:t>"*"、"" 或省略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200">
                          <a:solidFill>
                            <a:srgbClr val="2C2C2C"/>
                          </a:solidFill>
                          <a:latin typeface="Calibri"/>
                        </a:rPr>
                        <a:t>匹配所有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200">
                          <a:solidFill>
                            <a:srgbClr val="2C2C2C"/>
                          </a:solidFill>
                          <a:latin typeface="Calibri"/>
                        </a:rPr>
                        <a:t>任何工具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200">
                          <a:solidFill>
                            <a:srgbClr val="2C2C2C"/>
                          </a:solidFill>
                          <a:latin typeface="Calibri"/>
                        </a:rPr>
                        <a:t>Bash、Edit、Write</a:t>
                      </a:r>
                    </a:p>
                  </a:txBody>
                  <a:tcPr>
                    <a:solidFill>
                      <a:srgbClr val="F3F0E9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200">
                          <a:solidFill>
                            <a:srgbClr val="2C2C2C"/>
                          </a:solidFill>
                          <a:latin typeface="Calibri"/>
                        </a:rPr>
                        <a:t>精確字串</a:t>
                      </a:r>
                    </a:p>
                  </a:txBody>
                  <a:tcPr>
                    <a:solidFill>
                      <a:srgbClr val="F3F0E9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200">
                          <a:solidFill>
                            <a:srgbClr val="2C2C2C"/>
                          </a:solidFill>
                          <a:latin typeface="Calibri"/>
                        </a:rPr>
                        <a:t>只匹配該工具</a:t>
                      </a:r>
                    </a:p>
                  </a:txBody>
                  <a:tcPr>
                    <a:solidFill>
                      <a:srgbClr val="F3F0E9"/>
                    </a:solidFill>
                  </a:tcPr>
                </a:tc>
              </a:tr>
              <a:tr h="457200"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200">
                          <a:solidFill>
                            <a:srgbClr val="2C2C2C"/>
                          </a:solidFill>
                          <a:latin typeface="Calibri"/>
                        </a:rPr>
                        <a:t>Edit|Write、Bash,Read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200">
                          <a:solidFill>
                            <a:srgbClr val="2C2C2C"/>
                          </a:solidFill>
                          <a:latin typeface="Calibri"/>
                        </a:rPr>
                        <a:t>清單（\| 或 ,）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200">
                          <a:solidFill>
                            <a:srgbClr val="2C2C2C"/>
                          </a:solidFill>
                          <a:latin typeface="Calibri"/>
                        </a:rPr>
                        <a:t>匹配任一工具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200">
                          <a:solidFill>
                            <a:srgbClr val="2C2C2C"/>
                          </a:solidFill>
                          <a:latin typeface="Calibri"/>
                        </a:rPr>
                        <a:t>mcp__.*</a:t>
                      </a:r>
                    </a:p>
                  </a:txBody>
                  <a:tcPr>
                    <a:solidFill>
                      <a:srgbClr val="F3F0E9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200">
                          <a:solidFill>
                            <a:srgbClr val="2C2C2C"/>
                          </a:solidFill>
                          <a:latin typeface="Calibri"/>
                        </a:rPr>
                        <a:t>JavaScript regex</a:t>
                      </a:r>
                    </a:p>
                  </a:txBody>
                  <a:tcPr>
                    <a:solidFill>
                      <a:srgbClr val="F3F0E9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200">
                          <a:solidFill>
                            <a:srgbClr val="2C2C2C"/>
                          </a:solidFill>
                          <a:latin typeface="Calibri"/>
                        </a:rPr>
                        <a:t>所有 MCP 工具</a:t>
                      </a:r>
                    </a:p>
                  </a:txBody>
                  <a:tcPr>
                    <a:solidFill>
                      <a:srgbClr val="F3F0E9"/>
                    </a:solidFill>
                  </a:tcPr>
                </a:tc>
              </a:tr>
              <a:tr h="457200"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200">
                          <a:solidFill>
                            <a:srgbClr val="2C2C2C"/>
                          </a:solidFill>
                          <a:latin typeface="Calibri"/>
                        </a:rPr>
                        <a:t>^Edit$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200">
                          <a:solidFill>
                            <a:srgbClr val="2C2C2C"/>
                          </a:solidFill>
                          <a:latin typeface="Calibri"/>
                        </a:rPr>
                        <a:t>錨定 regex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200">
                          <a:solidFill>
                            <a:srgbClr val="2C2C2C"/>
                          </a:solidFill>
                          <a:latin typeface="Calibri"/>
                        </a:rPr>
                        <a:t>只匹配 Edit（不匹配 NotebookEdit）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457200" y="5029200"/>
            <a:ext cx="5577840" cy="1371600"/>
          </a:xfrm>
          <a:prstGeom prst="roundRect">
            <a:avLst/>
          </a:prstGeom>
          <a:solidFill>
            <a:srgbClr val="F3F0E9"/>
          </a:solidFill>
          <a:ln w="254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5029200"/>
            <a:ext cx="5577840" cy="4572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5029200"/>
            <a:ext cx="5577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常見工具名 matchers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669280"/>
            <a:ext cx="5212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Bash — shell 命令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Edit|Write — 檔案修改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Read — 檔案讀取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Agent — subagent 委派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mcp__github__.* — GitHub 工具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56655" y="5029200"/>
            <a:ext cx="5577840" cy="1371600"/>
          </a:xfrm>
          <a:prstGeom prst="roundRect">
            <a:avLst/>
          </a:prstGeom>
          <a:solidFill>
            <a:srgbClr val="F3F0E9"/>
          </a:solidFill>
          <a:ln w="25400">
            <a:solidFill>
              <a:srgbClr val="C75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56655" y="5029200"/>
            <a:ext cx="5577840" cy="457200"/>
          </a:xfrm>
          <a:prstGeom prst="rect">
            <a:avLst/>
          </a:prstGeom>
          <a:solidFill>
            <a:srgbClr val="C75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56655" y="5029200"/>
            <a:ext cx="5577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事件特定 matchers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39535" y="5669280"/>
            <a:ext cx="5212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SessionStart: startup|resume|clear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Notification: permission_prompt|idle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SubagentStart: Explore|Plan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StopFailure: rate_limit|overloaded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ConfigChange: user|project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C75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2C2C2C"/>
                </a:solidFill>
                <a:latin typeface="Calibri"/>
              </a:rPr>
              <a:t>常見 Matcher 範例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i="1">
                <a:solidFill>
                  <a:srgbClr val="6B6B6B"/>
                </a:solidFill>
                <a:latin typeface="Calibri"/>
              </a:rPr>
              <a:t>可直接複製貼上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27432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10 / 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649224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i="1">
                <a:solidFill>
                  <a:srgbClr val="6B6B6B"/>
                </a:solidFill>
                <a:latin typeface="Calibri"/>
              </a:rPr>
              <a:t>📖 來源：06 § Matcher 範例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C75A1A"/>
                </a:solidFill>
                <a:latin typeface="Calibri"/>
              </a:rPr>
              <a:t>Claude Code Plugin 完整學習系列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554480"/>
            <a:ext cx="11277295" cy="320040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554480"/>
            <a:ext cx="11277295" cy="3200400"/>
          </a:xfrm>
          <a:prstGeom prst="rect">
            <a:avLst/>
          </a:prstGeom>
          <a:noFill/>
        </p:spPr>
        <p:txBody>
          <a:bodyPr wrap="square" lIns="137160" tIns="91440" rIns="137160" bIns="91440">
            <a:spAutoFit/>
          </a:bodyPr>
          <a:lstStyle/>
          <a:p>
            <a:pPr algn="l"/>
            <a:r>
              <a:rPr sz="1200">
                <a:solidFill>
                  <a:srgbClr val="E6E6E6"/>
                </a:solidFill>
                <a:latin typeface="Consolas"/>
              </a:rPr>
              <a:t>// Bash 工具的所有呼叫</a:t>
            </a:r>
          </a:p>
          <a:p>
            <a:pPr algn="l"/>
            <a:r>
              <a:rPr sz="1200">
                <a:solidFill>
                  <a:srgbClr val="E6E6E6"/>
                </a:solidFill>
                <a:latin typeface="Consolas"/>
              </a:rPr>
              <a:t>"matcher": "Bash"</a:t>
            </a:r>
          </a:p>
          <a:p>
            <a:pPr algn="l"/>
            <a:r>
              <a:rPr sz="1200">
                <a:solidFill>
                  <a:srgbClr val="E6E6E6"/>
                </a:solidFill>
                <a:latin typeface="Consolas"/>
              </a:rPr>
              <a:t> </a:t>
            </a:r>
          </a:p>
          <a:p>
            <a:pPr algn="l"/>
            <a:r>
              <a:rPr sz="1200">
                <a:solidFill>
                  <a:srgbClr val="E6E6E6"/>
                </a:solidFill>
                <a:latin typeface="Consolas"/>
              </a:rPr>
              <a:t>// 編輯或寫入檔案</a:t>
            </a:r>
          </a:p>
          <a:p>
            <a:pPr algn="l"/>
            <a:r>
              <a:rPr sz="1200">
                <a:solidFill>
                  <a:srgbClr val="E6E6E6"/>
                </a:solidFill>
                <a:latin typeface="Consolas"/>
              </a:rPr>
              <a:t>"matcher": "Edit|Write"</a:t>
            </a:r>
          </a:p>
          <a:p>
            <a:pPr algn="l"/>
            <a:r>
              <a:rPr sz="1200">
                <a:solidFill>
                  <a:srgbClr val="E6E6E6"/>
                </a:solidFill>
                <a:latin typeface="Consolas"/>
              </a:rPr>
              <a:t> </a:t>
            </a:r>
          </a:p>
          <a:p>
            <a:pPr algn="l"/>
            <a:r>
              <a:rPr sz="1200">
                <a:solidFill>
                  <a:srgbClr val="E6E6E6"/>
                </a:solidFill>
                <a:latin typeface="Consolas"/>
              </a:rPr>
              <a:t>// 特定的 MCP 工具</a:t>
            </a:r>
          </a:p>
          <a:p>
            <a:pPr algn="l"/>
            <a:r>
              <a:rPr sz="1200">
                <a:solidFill>
                  <a:srgbClr val="E6E6E6"/>
                </a:solidFill>
                <a:latin typeface="Consolas"/>
              </a:rPr>
              <a:t>"matcher": "mcp__github__search_repositories"</a:t>
            </a:r>
          </a:p>
          <a:p>
            <a:pPr algn="l"/>
            <a:r>
              <a:rPr sz="1200">
                <a:solidFill>
                  <a:srgbClr val="E6E6E6"/>
                </a:solidFill>
                <a:latin typeface="Consolas"/>
              </a:rPr>
              <a:t> </a:t>
            </a:r>
          </a:p>
          <a:p>
            <a:pPr algn="l"/>
            <a:r>
              <a:rPr sz="1200">
                <a:solidFill>
                  <a:srgbClr val="E6E6E6"/>
                </a:solidFill>
                <a:latin typeface="Consolas"/>
              </a:rPr>
              <a:t>// 特定 server 的所有工具</a:t>
            </a:r>
          </a:p>
          <a:p>
            <a:pPr algn="l"/>
            <a:r>
              <a:rPr sz="1200">
                <a:solidFill>
                  <a:srgbClr val="E6E6E6"/>
                </a:solidFill>
                <a:latin typeface="Consolas"/>
              </a:rPr>
              <a:t>"matcher": "mcp__memory__.*"</a:t>
            </a:r>
          </a:p>
          <a:p>
            <a:pPr algn="l"/>
            <a:r>
              <a:rPr sz="1200">
                <a:solidFill>
                  <a:srgbClr val="E6E6E6"/>
                </a:solidFill>
                <a:latin typeface="Consolas"/>
              </a:rPr>
              <a:t> </a:t>
            </a:r>
          </a:p>
          <a:p>
            <a:pPr algn="l"/>
            <a:r>
              <a:rPr sz="1200">
                <a:solidFill>
                  <a:srgbClr val="E6E6E6"/>
                </a:solidFill>
                <a:latin typeface="Consolas"/>
              </a:rPr>
              <a:t>// 寫入所有 mcp 工具（用 regex）</a:t>
            </a:r>
          </a:p>
          <a:p>
            <a:pPr algn="l"/>
            <a:r>
              <a:rPr sz="1200">
                <a:solidFill>
                  <a:srgbClr val="E6E6E6"/>
                </a:solidFill>
                <a:latin typeface="Consolas"/>
              </a:rPr>
              <a:t>"matcher": "mcp__.*__write.*"</a:t>
            </a:r>
          </a:p>
          <a:p>
            <a:pPr algn="l"/>
            <a:r>
              <a:rPr sz="1200">
                <a:solidFill>
                  <a:srgbClr val="E6E6E6"/>
                </a:solidFill>
                <a:latin typeface="Consolas"/>
              </a:rPr>
              <a:t> </a:t>
            </a:r>
          </a:p>
          <a:p>
            <a:pPr algn="l"/>
            <a:r>
              <a:rPr sz="1200">
                <a:solidFill>
                  <a:srgbClr val="E6E6E6"/>
                </a:solidFill>
                <a:latin typeface="Consolas"/>
              </a:rPr>
              <a:t>// 排除字首匹配（用 regex 錨定）</a:t>
            </a:r>
          </a:p>
          <a:p>
            <a:pPr algn="l"/>
            <a:r>
              <a:rPr sz="1200">
                <a:solidFill>
                  <a:srgbClr val="E6E6E6"/>
                </a:solidFill>
                <a:latin typeface="Consolas"/>
              </a:rPr>
              <a:t>"matcher": "^Edit$"  // 只匹配 Edit，不匹配 NotebookEdit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4937760"/>
            <a:ext cx="11277295" cy="365760"/>
          </a:xfrm>
          <a:prstGeom prst="roundRect">
            <a:avLst/>
          </a:prstGeom>
          <a:solidFill>
            <a:srgbClr val="F3F0E9"/>
          </a:solidFill>
          <a:ln w="19050">
            <a:solidFill>
              <a:srgbClr val="C75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/>
            <a:r>
              <a:rPr sz="1200">
                <a:solidFill>
                  <a:srgbClr val="2C2C2C"/>
                </a:solidFill>
                <a:latin typeface="Calibri"/>
              </a:rPr>
              <a:t>⚠️  MCP server 名稱含連字號（如 brave-search）需用 mcp__brave-search__.* 形式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4864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alibri"/>
              </a:rPr>
              <a:t>Plugin 提供的 MCP server 用 plugin:: 範圍（如 plugin:my-plugin:db）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5943600"/>
            <a:ext cx="11277295" cy="365760"/>
          </a:xfrm>
          <a:prstGeom prst="roundRect">
            <a:avLst/>
          </a:prstGeom>
          <a:solidFill>
            <a:srgbClr val="F3F0E9"/>
          </a:solidFill>
          <a:ln w="19050">
            <a:solidFill>
              <a:srgbClr val="C75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/>
            <a:r>
              <a:rPr sz="1200">
                <a:solidFill>
                  <a:srgbClr val="2C2C2C"/>
                </a:solidFill>
                <a:latin typeface="Calibri"/>
              </a:rPr>
              <a:t>🔧  Plugin 範圍名稱含 : → matcher 走 regex 路徑 → 用 ^ $ 錨定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0"/>
            <a:ext cx="11277295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600" b="1">
                <a:solidFill>
                  <a:srgbClr val="C75A1A"/>
                </a:solidFill>
                <a:latin typeface="Calibri"/>
              </a:rPr>
              <a:t>Part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65760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2C2C2C"/>
                </a:solidFill>
                <a:latin typeface="Calibri"/>
              </a:rPr>
              <a:t>5 種 Hook Handler 類型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75488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i="1">
                <a:solidFill>
                  <a:srgbClr val="6B6B6B"/>
                </a:solidFill>
                <a:latin typeface="Calibri"/>
              </a:rPr>
              <a:t>從簡單到強大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C75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2C2C2C"/>
                </a:solidFill>
                <a:latin typeface="Calibri"/>
              </a:rPr>
              <a:t>Hook Handler 5 種類型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i="1">
                <a:solidFill>
                  <a:srgbClr val="6B6B6B"/>
                </a:solidFill>
                <a:latin typeface="Calibri"/>
              </a:rPr>
              <a:t>選擇最適合的工具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27432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12 / 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649224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i="1">
                <a:solidFill>
                  <a:srgbClr val="6B6B6B"/>
                </a:solidFill>
                <a:latin typeface="Calibri"/>
              </a:rPr>
              <a:t>📖 來源：06 § Handler 類型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C75A1A"/>
                </a:solidFill>
                <a:latin typeface="Calibri"/>
              </a:rPr>
              <a:t>Claude Code Plugin 完整學習系列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5127" y="1645920"/>
            <a:ext cx="2194560" cy="2286000"/>
          </a:xfrm>
          <a:prstGeom prst="roundRect">
            <a:avLst/>
          </a:prstGeom>
          <a:solidFill>
            <a:srgbClr val="F3F0E9"/>
          </a:solidFill>
          <a:ln w="317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5127" y="1828800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0" i="0">
                <a:solidFill>
                  <a:srgbClr val="2C2C2C"/>
                </a:solidFill>
                <a:latin typeface="Calibri"/>
              </a:rPr>
              <a:t>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5127" y="242316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3B82F6"/>
                </a:solidFill>
                <a:latin typeface="Consolas"/>
              </a:rPr>
              <a:t>command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8007" y="278892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2C2C2C"/>
                </a:solidFill>
                <a:latin typeface="Calibri"/>
              </a:rPr>
              <a:t>執行 shell 命令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8007" y="32461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B6B6B"/>
                </a:solidFill>
                <a:latin typeface="Calibri"/>
              </a:rPr>
              <a:t>標籤：預設選項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8007" y="35661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6B6B6B"/>
                </a:solidFill>
                <a:latin typeface="Calibri"/>
              </a:rPr>
              <a:t>用途：lint、部署、阻擋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666847" y="1645920"/>
            <a:ext cx="2194560" cy="2286000"/>
          </a:xfrm>
          <a:prstGeom prst="roundRect">
            <a:avLst/>
          </a:prstGeom>
          <a:solidFill>
            <a:srgbClr val="F3F0E9"/>
          </a:solidFill>
          <a:ln w="317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666847" y="1828800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0" i="0">
                <a:solidFill>
                  <a:srgbClr val="2C2C2C"/>
                </a:solidFill>
                <a:latin typeface="Calibri"/>
              </a:rPr>
              <a:t>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66847" y="242316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16A34A"/>
                </a:solidFill>
                <a:latin typeface="Consolas"/>
              </a:rPr>
              <a:t>http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49727" y="278892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2C2C2C"/>
                </a:solidFill>
                <a:latin typeface="Calibri"/>
              </a:rPr>
              <a:t>POST 到 URL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49727" y="32461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B6B6B"/>
                </a:solidFill>
                <a:latin typeface="Calibri"/>
              </a:rPr>
              <a:t>標籤：外部服務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49727" y="35661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6B6B6B"/>
                </a:solidFill>
                <a:latin typeface="Calibri"/>
              </a:rPr>
              <a:t>用途：共用稽核、Slack 通知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998567" y="1645920"/>
            <a:ext cx="2194560" cy="2286000"/>
          </a:xfrm>
          <a:prstGeom prst="roundRect">
            <a:avLst/>
          </a:prstGeom>
          <a:solidFill>
            <a:srgbClr val="F3F0E9"/>
          </a:solidFill>
          <a:ln w="31750">
            <a:solidFill>
              <a:srgbClr val="C75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98567" y="1828800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0" i="0">
                <a:solidFill>
                  <a:srgbClr val="2C2C2C"/>
                </a:solidFill>
                <a:latin typeface="Calibri"/>
              </a:rPr>
              <a:t>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98567" y="242316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C75A1A"/>
                </a:solidFill>
                <a:latin typeface="Consolas"/>
              </a:rPr>
              <a:t>mcp_tool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81447" y="278892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2C2C2C"/>
                </a:solidFill>
                <a:latin typeface="Calibri"/>
              </a:rPr>
              <a:t>呼叫 MCP 工具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81447" y="32461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B6B6B"/>
                </a:solidFill>
                <a:latin typeface="Calibri"/>
              </a:rPr>
              <a:t>標籤：用 MCP 做事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81447" y="35661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6B6B6B"/>
                </a:solidFill>
                <a:latin typeface="Calibri"/>
              </a:rPr>
              <a:t>用途：安全掃描、資料庫查詢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30287" y="1645920"/>
            <a:ext cx="2194560" cy="2286000"/>
          </a:xfrm>
          <a:prstGeom prst="roundRect">
            <a:avLst/>
          </a:prstGeom>
          <a:solidFill>
            <a:srgbClr val="F3F0E9"/>
          </a:solidFill>
          <a:ln w="317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30287" y="1828800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0" i="0">
                <a:solidFill>
                  <a:srgbClr val="2C2C2C"/>
                </a:solidFill>
                <a:latin typeface="Calibri"/>
              </a:rPr>
              <a:t>🧠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30287" y="242316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DC2626"/>
                </a:solidFill>
                <a:latin typeface="Consolas"/>
              </a:rPr>
              <a:t>prompt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13167" y="278892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2C2C2C"/>
                </a:solidFill>
                <a:latin typeface="Calibri"/>
              </a:rPr>
              <a:t>LLM 評估（Haiku）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13167" y="32461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B6B6B"/>
                </a:solidFill>
                <a:latin typeface="Calibri"/>
              </a:rPr>
              <a:t>標籤：需要判斷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13167" y="35661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6B6B6B"/>
                </a:solidFill>
                <a:latin typeface="Calibri"/>
              </a:rPr>
              <a:t>用途：任務完成度檢查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662007" y="1645920"/>
            <a:ext cx="2194560" cy="2286000"/>
          </a:xfrm>
          <a:prstGeom prst="roundRect">
            <a:avLst/>
          </a:prstGeom>
          <a:solidFill>
            <a:srgbClr val="F3F0E9"/>
          </a:solidFill>
          <a:ln w="317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662007" y="1828800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0" i="0">
                <a:solidFill>
                  <a:srgbClr val="2C2C2C"/>
                </a:solidFill>
                <a:latin typeface="Calibri"/>
              </a:rPr>
              <a:t>🤖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62007" y="242316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7C3AED"/>
                </a:solidFill>
                <a:latin typeface="Consolas"/>
              </a:rPr>
              <a:t>agent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844887" y="278892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2C2C2C"/>
                </a:solidFill>
                <a:latin typeface="Calibri"/>
              </a:rPr>
              <a:t>Subagent 驗證器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44887" y="32461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B6B6B"/>
                </a:solidFill>
                <a:latin typeface="Calibri"/>
              </a:rPr>
              <a:t>標籤：複雜驗證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844887" y="35661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6B6B6B"/>
                </a:solidFill>
                <a:latin typeface="Calibri"/>
              </a:rPr>
              <a:t>用途：實驗性、檢查測試結果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" y="42976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6B6B6B"/>
                </a:solidFill>
                <a:latin typeface="Calibri"/>
              </a:rPr>
              <a:t>預設逾時：command/http/mcp_tool = 10 分鐘 · prompt = 30 秒 · agent = 60 秒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484632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DC2626"/>
                </a:solidFill>
                <a:latin typeface="Calibri"/>
              </a:rPr>
              <a:t>⚠️ 並非所有事件都支援所有類型</a:t>
            </a:r>
          </a:p>
        </p:txBody>
      </p:sp>
      <p:graphicFrame>
        <p:nvGraphicFramePr>
          <p:cNvPr id="40" name="Table 39"/>
          <p:cNvGraphicFramePr>
            <a:graphicFrameLocks noGrp="1"/>
          </p:cNvGraphicFramePr>
          <p:nvPr/>
        </p:nvGraphicFramePr>
        <p:xfrm>
          <a:off x="457200" y="5394960"/>
          <a:ext cx="11277295" cy="1005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38647"/>
                <a:gridCol w="5638648"/>
              </a:tblGrid>
              <a:tr h="251460">
                <a:tc>
                  <a:txBody>
                    <a:bodyPr lIns="45720" rIns="45720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支援事件</a:t>
                      </a:r>
                    </a:p>
                  </a:txBody>
                  <a:tcPr>
                    <a:solidFill>
                      <a:srgbClr val="C75A1A"/>
                    </a:solidFill>
                  </a:tcPr>
                </a:tc>
                <a:tc>
                  <a:txBody>
                    <a:bodyPr lIns="45720" rIns="45720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類型</a:t>
                      </a:r>
                    </a:p>
                  </a:txBody>
                  <a:tcPr>
                    <a:solidFill>
                      <a:srgbClr val="C75A1A"/>
                    </a:solidFill>
                  </a:tcPr>
                </a:tc>
              </a:tr>
              <a:tr h="251460"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2C2C2C"/>
                          </a:solidFill>
                          <a:latin typeface="Calibri"/>
                        </a:rPr>
                        <a:t>所有 5 種工具事件（PreToolUse 等）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2C2C2C"/>
                          </a:solidFill>
                          <a:latin typeface="Calibri"/>
                        </a:rPr>
                        <a:t>command、http、mcp_tool、prompt、agent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1460"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2C2C2C"/>
                          </a:solidFill>
                          <a:latin typeface="Calibri"/>
                        </a:rPr>
                        <a:t>SessionStart、Setup</a:t>
                      </a:r>
                    </a:p>
                  </a:txBody>
                  <a:tcPr>
                    <a:solidFill>
                      <a:srgbClr val="F3F0E9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2C2C2C"/>
                          </a:solidFill>
                          <a:latin typeface="Calibri"/>
                        </a:rPr>
                        <a:t>僅 command、mcp_tool</a:t>
                      </a:r>
                    </a:p>
                  </a:txBody>
                  <a:tcPr>
                    <a:solidFill>
                      <a:srgbClr val="F3F0E9"/>
                    </a:solidFill>
                  </a:tcPr>
                </a:tc>
              </a:tr>
              <a:tr h="251460"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2C2C2C"/>
                          </a:solidFill>
                          <a:latin typeface="Calibri"/>
                        </a:rPr>
                        <a:t>大多數其他事件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2C2C2C"/>
                          </a:solidFill>
                          <a:latin typeface="Calibri"/>
                        </a:rPr>
                        <a:t>command、http、mcp_tool（無 prompt/agent）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C75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2C2C2C"/>
                </a:solidFill>
                <a:latin typeface="Calibri"/>
              </a:rPr>
              <a:t>Command Hook 詳解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i="1">
                <a:solidFill>
                  <a:srgbClr val="6B6B6B"/>
                </a:solidFill>
                <a:latin typeface="Calibri"/>
              </a:rPr>
              <a:t>最常用的類型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27432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13 / 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649224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i="1">
                <a:solidFill>
                  <a:srgbClr val="6B6B6B"/>
                </a:solidFill>
                <a:latin typeface="Calibri"/>
              </a:rPr>
              <a:t>📖 來源：06 § Command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C75A1A"/>
                </a:solidFill>
                <a:latin typeface="Calibri"/>
              </a:rPr>
              <a:t>Claude Code Plugin 完整學習系列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554480"/>
            <a:ext cx="6400800" cy="274320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554480"/>
            <a:ext cx="6400800" cy="2743200"/>
          </a:xfrm>
          <a:prstGeom prst="rect">
            <a:avLst/>
          </a:prstGeom>
          <a:noFill/>
        </p:spPr>
        <p:txBody>
          <a:bodyPr wrap="square" lIns="137160" tIns="91440" rIns="137160" bIns="91440">
            <a:spAutoFit/>
          </a:bodyPr>
          <a:lstStyle/>
          <a:p>
            <a:pPr algn="l"/>
            <a:r>
              <a:rPr sz="1200">
                <a:solidFill>
                  <a:srgbClr val="E6E6E6"/>
                </a:solidFill>
                <a:latin typeface="Consolas"/>
              </a:rPr>
              <a:t>{</a:t>
            </a:r>
          </a:p>
          <a:p>
            <a:pPr algn="l"/>
            <a:r>
              <a:rPr sz="1200">
                <a:solidFill>
                  <a:srgbClr val="E6E6E6"/>
                </a:solidFill>
                <a:latin typeface="Consolas"/>
              </a:rPr>
              <a:t>  "hooks": {</a:t>
            </a:r>
          </a:p>
          <a:p>
            <a:pPr algn="l"/>
            <a:r>
              <a:rPr sz="1200">
                <a:solidFill>
                  <a:srgbClr val="E6E6E6"/>
                </a:solidFill>
                <a:latin typeface="Consolas"/>
              </a:rPr>
              <a:t>    "PostToolUse": [</a:t>
            </a:r>
          </a:p>
          <a:p>
            <a:pPr algn="l"/>
            <a:r>
              <a:rPr sz="1200">
                <a:solidFill>
                  <a:srgbClr val="E6E6E6"/>
                </a:solidFill>
                <a:latin typeface="Consolas"/>
              </a:rPr>
              <a:t>      {</a:t>
            </a:r>
          </a:p>
          <a:p>
            <a:pPr algn="l"/>
            <a:r>
              <a:rPr sz="1200">
                <a:solidFill>
                  <a:srgbClr val="E6E6E6"/>
                </a:solidFill>
                <a:latin typeface="Consolas"/>
              </a:rPr>
              <a:t>        "matcher": "Edit|Write",</a:t>
            </a:r>
          </a:p>
          <a:p>
            <a:pPr algn="l"/>
            <a:r>
              <a:rPr sz="1200">
                <a:solidFill>
                  <a:srgbClr val="E6E6E6"/>
                </a:solidFill>
                <a:latin typeface="Consolas"/>
              </a:rPr>
              <a:t>        "hooks": [</a:t>
            </a:r>
          </a:p>
          <a:p>
            <a:pPr algn="l"/>
            <a:r>
              <a:rPr sz="1200">
                <a:solidFill>
                  <a:srgbClr val="E6E6E6"/>
                </a:solidFill>
                <a:latin typeface="Consolas"/>
              </a:rPr>
              <a:t>          {</a:t>
            </a:r>
          </a:p>
          <a:p>
            <a:pPr algn="l"/>
            <a:r>
              <a:rPr sz="1200">
                <a:solidFill>
                  <a:srgbClr val="E6E6E6"/>
                </a:solidFill>
                <a:latin typeface="Consolas"/>
              </a:rPr>
              <a:t>            "type": "command",</a:t>
            </a:r>
          </a:p>
          <a:p>
            <a:pPr algn="l"/>
            <a:r>
              <a:rPr sz="1200">
                <a:solidFill>
                  <a:srgbClr val="E6E6E6"/>
                </a:solidFill>
                <a:latin typeface="Consolas"/>
              </a:rPr>
              <a:t>            "command": "/path/to/script.sh",</a:t>
            </a:r>
          </a:p>
          <a:p>
            <a:pPr algn="l"/>
            <a:r>
              <a:rPr sz="1200">
                <a:solidFill>
                  <a:srgbClr val="E6E6E6"/>
                </a:solidFill>
                <a:latin typeface="Consolas"/>
              </a:rPr>
              <a:t>            "args": [],</a:t>
            </a:r>
          </a:p>
          <a:p>
            <a:pPr algn="l"/>
            <a:r>
              <a:rPr sz="1200">
                <a:solidFill>
                  <a:srgbClr val="E6E6E6"/>
                </a:solidFill>
                <a:latin typeface="Consolas"/>
              </a:rPr>
              <a:t>            "timeout": 30,</a:t>
            </a:r>
          </a:p>
          <a:p>
            <a:pPr algn="l"/>
            <a:r>
              <a:rPr sz="1200">
                <a:solidFill>
                  <a:srgbClr val="E6E6E6"/>
                </a:solidFill>
                <a:latin typeface="Consolas"/>
              </a:rPr>
              <a:t>            "if": "Edit(*.ts)"</a:t>
            </a:r>
          </a:p>
          <a:p>
            <a:pPr algn="l"/>
            <a:r>
              <a:rPr sz="1200">
                <a:solidFill>
                  <a:srgbClr val="E6E6E6"/>
                </a:solidFill>
                <a:latin typeface="Consolas"/>
              </a:rPr>
              <a:t>          }</a:t>
            </a:r>
          </a:p>
          <a:p>
            <a:pPr algn="l"/>
            <a:r>
              <a:rPr sz="1200">
                <a:solidFill>
                  <a:srgbClr val="E6E6E6"/>
                </a:solidFill>
                <a:latin typeface="Consolas"/>
              </a:rPr>
              <a:t>        ]</a:t>
            </a:r>
          </a:p>
          <a:p>
            <a:pPr algn="l"/>
            <a:r>
              <a:rPr sz="1200">
                <a:solidFill>
                  <a:srgbClr val="E6E6E6"/>
                </a:solidFill>
                <a:latin typeface="Consolas"/>
              </a:rPr>
              <a:t>      }</a:t>
            </a:r>
          </a:p>
          <a:p>
            <a:pPr algn="l"/>
            <a:r>
              <a:rPr sz="1200">
                <a:solidFill>
                  <a:srgbClr val="E6E6E6"/>
                </a:solidFill>
                <a:latin typeface="Consolas"/>
              </a:rPr>
              <a:t>    ]</a:t>
            </a:r>
          </a:p>
          <a:p>
            <a:pPr algn="l"/>
            <a:r>
              <a:rPr sz="1200">
                <a:solidFill>
                  <a:srgbClr val="E6E6E6"/>
                </a:solidFill>
                <a:latin typeface="Consolas"/>
              </a:rPr>
              <a:t>  }</a:t>
            </a:r>
          </a:p>
          <a:p>
            <a:pPr algn="l"/>
            <a:r>
              <a:rPr sz="1200">
                <a:solidFill>
                  <a:srgbClr val="E6E6E6"/>
                </a:solidFill>
                <a:latin typeface="Consolas"/>
              </a:rPr>
              <a:t>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62495" y="15544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B82F6"/>
                </a:solidFill>
                <a:latin typeface="Calibri"/>
              </a:rPr>
              <a:t>🔧 Exec form vs Shell form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62495" y="1920240"/>
            <a:ext cx="4572000" cy="237744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62495" y="1920240"/>
            <a:ext cx="4572000" cy="2377440"/>
          </a:xfrm>
          <a:prstGeom prst="rect">
            <a:avLst/>
          </a:prstGeom>
          <a:noFill/>
        </p:spPr>
        <p:txBody>
          <a:bodyPr wrap="square" lIns="137160" tIns="91440" rIns="137160" bIns="91440">
            <a:spAutoFit/>
          </a:bodyPr>
          <a:lstStyle/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// Exec form（有 args）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{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  "type": "command",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  "command": "node",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  "args": ["${CLAUDE_PLUGIN_ROOT}/script.js"]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}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 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// Shell form（無 args）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{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  "type": "command",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  "command": "node "${CLAUDE_PLUGIN_ROOT}"/script.js"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}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48056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B82F6"/>
                </a:solidFill>
                <a:latin typeface="Calibri"/>
              </a:rPr>
              <a:t>⚠️ 引用路徑佔位符時用 exec form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0292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6B6B"/>
                </a:solidFill>
                <a:latin typeface="Calibri"/>
              </a:rPr>
              <a:t>Windows 上的 .cmd/.bat shim 不是可執行檔 → 用 exec form 必須透過 node 呼叫腳本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5577840"/>
            <a:ext cx="11277295" cy="365760"/>
          </a:xfrm>
          <a:prstGeom prst="roundRect">
            <a:avLst/>
          </a:prstGeom>
          <a:solidFill>
            <a:srgbClr val="F3F0E9"/>
          </a:solidFill>
          <a:ln w="19050">
            <a:solidFill>
              <a:srgbClr val="C75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/>
            <a:r>
              <a:rPr sz="1200">
                <a:solidFill>
                  <a:srgbClr val="2C2C2C"/>
                </a:solidFill>
                <a:latin typeface="Calibri"/>
              </a:rPr>
              <a:t>🔒  Plugin 用 ${user_config.*} 必須用 exec form（shell form 會被拒絕）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C75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2C2C2C"/>
                </a:solidFill>
                <a:latin typeface="Calibri"/>
              </a:rPr>
              <a:t>HTTP、MCP Tool、Prompt Hooks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i="1">
                <a:solidFill>
                  <a:srgbClr val="6B6B6B"/>
                </a:solidFill>
                <a:latin typeface="Calibri"/>
              </a:rPr>
              <a:t>另外 3 種類型快速了解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27432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14 / 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649224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i="1">
                <a:solidFill>
                  <a:srgbClr val="6B6B6B"/>
                </a:solidFill>
                <a:latin typeface="Calibri"/>
              </a:rPr>
              <a:t>📖 來源：06 § 其他類型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C75A1A"/>
                </a:solidFill>
                <a:latin typeface="Calibri"/>
              </a:rPr>
              <a:t>Claude Code Plugin 完整學習系列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544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6A34A"/>
                </a:solidFill>
                <a:latin typeface="Calibri"/>
              </a:rPr>
              <a:t>🌐 HTTP Hook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920240"/>
            <a:ext cx="3657600" cy="228600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920240"/>
            <a:ext cx="3657600" cy="2286000"/>
          </a:xfrm>
          <a:prstGeom prst="rect">
            <a:avLst/>
          </a:prstGeom>
          <a:noFill/>
        </p:spPr>
        <p:txBody>
          <a:bodyPr wrap="square" lIns="137160" tIns="91440" rIns="137160" bIns="91440">
            <a:spAutoFit/>
          </a:bodyPr>
          <a:lstStyle/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{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  "type": "http",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  "url": "http://localhost:8080/hooks",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  "headers": {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    "Authorization": "Bearer $MY_TOKEN"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  },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  "allowedEnvVars": ["MY_TOKEN"]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}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 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// POST JSON 輸入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// 回應 2xx + JSON 決策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27855" y="15544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75A1A"/>
                </a:solidFill>
                <a:latin typeface="Calibri"/>
              </a:rPr>
              <a:t>🔌 MCP Tool Hook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27855" y="1920240"/>
            <a:ext cx="3657600" cy="228600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27855" y="1920240"/>
            <a:ext cx="3657600" cy="2286000"/>
          </a:xfrm>
          <a:prstGeom prst="rect">
            <a:avLst/>
          </a:prstGeom>
          <a:noFill/>
        </p:spPr>
        <p:txBody>
          <a:bodyPr wrap="square" lIns="137160" tIns="91440" rIns="137160" bIns="91440">
            <a:spAutoFit/>
          </a:bodyPr>
          <a:lstStyle/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{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  "type": "mcp_tool",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  "server": "my_server",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  "tool": "security_scan",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  "input": {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    "file_path": "${tool_input.file_path}"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  }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}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 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// 呼叫已連接 MCP server 的工具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99424" y="15544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DC2626"/>
                </a:solidFill>
                <a:latin typeface="Calibri"/>
              </a:rPr>
              <a:t>🧠 Prompt Hook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99424" y="1920240"/>
            <a:ext cx="3657600" cy="228600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99424" y="1920240"/>
            <a:ext cx="3657600" cy="2286000"/>
          </a:xfrm>
          <a:prstGeom prst="rect">
            <a:avLst/>
          </a:prstGeom>
          <a:noFill/>
        </p:spPr>
        <p:txBody>
          <a:bodyPr wrap="square" lIns="137160" tIns="91440" rIns="137160" bIns="91440">
            <a:spAutoFit/>
          </a:bodyPr>
          <a:lstStyle/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{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  "type": "prompt",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  "prompt": "Evaluate if Claude should stop: $ARGUMENTS. Check if all tasks are complete.",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  "timeout": 30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}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 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// LLM 回應 {ok, reason, impossible}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480560"/>
            <a:ext cx="5577840" cy="1828800"/>
          </a:xfrm>
          <a:prstGeom prst="roundRect">
            <a:avLst/>
          </a:prstGeom>
          <a:solidFill>
            <a:srgbClr val="F3F0E9"/>
          </a:solidFill>
          <a:ln w="254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480560"/>
            <a:ext cx="5577840" cy="4572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480560"/>
            <a:ext cx="5577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Prompt 回應語意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120640"/>
            <a:ext cx="52120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ok: true → 允許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ok: false + reason → 阻擋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ok: false + impossible: true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  → 條件不可能滿足，允許停止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依事件而定的回應處理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56655" y="4480560"/>
            <a:ext cx="5577840" cy="1828800"/>
          </a:xfrm>
          <a:prstGeom prst="roundRect">
            <a:avLst/>
          </a:prstGeom>
          <a:solidFill>
            <a:srgbClr val="F3F0E9"/>
          </a:solidFill>
          <a:ln w="25400">
            <a:solidFill>
              <a:srgbClr val="C75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56655" y="4480560"/>
            <a:ext cx="5577840" cy="457200"/>
          </a:xfrm>
          <a:prstGeom prst="rect">
            <a:avLst/>
          </a:prstGeom>
          <a:solidFill>
            <a:srgbClr val="C75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56655" y="4480560"/>
            <a:ext cx="5577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Agent Hook 差異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39535" y="5120640"/>
            <a:ext cx="52120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可使用工具（Read、Grep、Glob）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多輪驗證，最多 50 輪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預設 60 秒逾時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實驗性，可能變動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用於複雜驗證（檢查測試結果）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0"/>
            <a:ext cx="11277295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600" b="1">
                <a:solidFill>
                  <a:srgbClr val="C75A1A"/>
                </a:solidFill>
                <a:latin typeface="Calibri"/>
              </a:rPr>
              <a:t>Part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65760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2C2C2C"/>
                </a:solidFill>
                <a:latin typeface="Calibri"/>
              </a:rPr>
              <a:t>Hook 輸入/輸出與退出碼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75488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i="1">
                <a:solidFill>
                  <a:srgbClr val="6B6B6B"/>
                </a:solidFill>
                <a:latin typeface="Calibri"/>
              </a:rPr>
              <a:t>資料格式與決策控制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C75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2C2C2C"/>
                </a:solidFill>
                <a:latin typeface="Calibri"/>
              </a:rPr>
              <a:t>Hook 輸入：JSON 格式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i="1">
                <a:solidFill>
                  <a:srgbClr val="6B6B6B"/>
                </a:solidFill>
                <a:latin typeface="Calibri"/>
              </a:rPr>
              <a:t>從 stdin 接收的資料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27432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16 / 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649224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i="1">
                <a:solidFill>
                  <a:srgbClr val="6B6B6B"/>
                </a:solidFill>
                <a:latin typeface="Calibri"/>
              </a:rPr>
              <a:t>📖 來源：06 § 輸入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C75A1A"/>
                </a:solidFill>
                <a:latin typeface="Calibri"/>
              </a:rPr>
              <a:t>Claude Code Plugin 完整學習系列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544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75A1A"/>
                </a:solidFill>
                <a:latin typeface="Calibri"/>
              </a:rPr>
              <a:t>📥 範例：Bash 命令的 PreToolUse 輸入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920240"/>
            <a:ext cx="11277295" cy="274320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920240"/>
            <a:ext cx="11277295" cy="2743200"/>
          </a:xfrm>
          <a:prstGeom prst="rect">
            <a:avLst/>
          </a:prstGeom>
          <a:noFill/>
        </p:spPr>
        <p:txBody>
          <a:bodyPr wrap="square" lIns="137160" tIns="91440" rIns="137160" bIns="91440">
            <a:spAutoFit/>
          </a:bodyPr>
          <a:lstStyle/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{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  "session_id": "abc123",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  "prompt_id": "550e8400-e29b-41d4-a716-446655440000",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  "transcript_path": "/home/user/.claude/projects/.../transcript.jsonl",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  "cwd": "/home/user/my-project",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  "permission_mode": "default",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  "hook_event_name": "PreToolUse",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  "tool_name": "Bash",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  "tool_input": {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    "command": "npm test",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    "description": "Run test suite",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    "timeout": 120000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  },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  "tool_use_id": "toolu_01ABC123..."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}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84632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75A1A"/>
                </a:solidFill>
                <a:latin typeface="Calibri"/>
              </a:rPr>
              <a:t>常見輸入欄位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57200" y="5212080"/>
          <a:ext cx="11277295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38647"/>
                <a:gridCol w="5638648"/>
              </a:tblGrid>
              <a:tr h="198120">
                <a:tc>
                  <a:txBody>
                    <a:bodyPr lIns="45720" rIns="45720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欄位</a:t>
                      </a:r>
                    </a:p>
                  </a:txBody>
                  <a:tcPr>
                    <a:solidFill>
                      <a:srgbClr val="C75A1A"/>
                    </a:solidFill>
                  </a:tcPr>
                </a:tc>
                <a:tc>
                  <a:txBody>
                    <a:bodyPr lIns="45720" rIns="45720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描述</a:t>
                      </a:r>
                    </a:p>
                  </a:txBody>
                  <a:tcPr>
                    <a:solidFill>
                      <a:srgbClr val="C75A1A"/>
                    </a:solidFill>
                  </a:tcPr>
                </a:tc>
              </a:tr>
              <a:tr h="198120"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2C2C2C"/>
                          </a:solidFill>
                          <a:latin typeface="Calibri"/>
                        </a:rPr>
                        <a:t>session_id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2C2C2C"/>
                          </a:solidFill>
                          <a:latin typeface="Calibri"/>
                        </a:rPr>
                        <a:t>目前 session 識別碼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98120"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2C2C2C"/>
                          </a:solidFill>
                          <a:latin typeface="Calibri"/>
                        </a:rPr>
                        <a:t>cwd</a:t>
                      </a:r>
                    </a:p>
                  </a:txBody>
                  <a:tcPr>
                    <a:solidFill>
                      <a:srgbClr val="F3F0E9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2C2C2C"/>
                          </a:solidFill>
                          <a:latin typeface="Calibri"/>
                        </a:rPr>
                        <a:t>目前工作目錄</a:t>
                      </a:r>
                    </a:p>
                  </a:txBody>
                  <a:tcPr>
                    <a:solidFill>
                      <a:srgbClr val="F3F0E9"/>
                    </a:solidFill>
                  </a:tcPr>
                </a:tc>
              </a:tr>
              <a:tr h="198120"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2C2C2C"/>
                          </a:solidFill>
                          <a:latin typeface="Calibri"/>
                        </a:rPr>
                        <a:t>permission_mode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2C2C2C"/>
                          </a:solidFill>
                          <a:latin typeface="Calibri"/>
                        </a:rPr>
                        <a:t>default/plan/acceptEdits/auto/dontAsk/bypassPermissions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98120"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2C2C2C"/>
                          </a:solidFill>
                          <a:latin typeface="Calibri"/>
                        </a:rPr>
                        <a:t>hook_event_name</a:t>
                      </a:r>
                    </a:p>
                  </a:txBody>
                  <a:tcPr>
                    <a:solidFill>
                      <a:srgbClr val="F3F0E9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2C2C2C"/>
                          </a:solidFill>
                          <a:latin typeface="Calibri"/>
                        </a:rPr>
                        <a:t>事件名稱</a:t>
                      </a:r>
                    </a:p>
                  </a:txBody>
                  <a:tcPr>
                    <a:solidFill>
                      <a:srgbClr val="F3F0E9"/>
                    </a:solidFill>
                  </a:tcPr>
                </a:tc>
              </a:tr>
              <a:tr h="198120"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2C2C2C"/>
                          </a:solidFill>
                          <a:latin typeface="Calibri"/>
                        </a:rPr>
                        <a:t>tool_name + tool_input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2C2C2C"/>
                          </a:solidFill>
                          <a:latin typeface="Calibri"/>
                        </a:rPr>
                        <a:t>工具名稱與輸入（僅工具事件）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C75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2C2C2C"/>
                </a:solidFill>
                <a:latin typeface="Calibri"/>
              </a:rPr>
              <a:t>退出碼語意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i="1">
                <a:solidFill>
                  <a:srgbClr val="6B6B6B"/>
                </a:solidFill>
                <a:latin typeface="Calibri"/>
              </a:rPr>
              <a:t>Exit code 決定 Claude 接下來做什麼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27432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17 / 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649224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i="1">
                <a:solidFill>
                  <a:srgbClr val="6B6B6B"/>
                </a:solidFill>
                <a:latin typeface="Calibri"/>
              </a:rPr>
              <a:t>📖 來源：06 § 退出碼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C75A1A"/>
                </a:solidFill>
                <a:latin typeface="Calibri"/>
              </a:rPr>
              <a:t>Claude Code Plugin 完整學習系列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554480"/>
          <a:ext cx="11277295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9098"/>
                <a:gridCol w="3759098"/>
                <a:gridCol w="3759099"/>
              </a:tblGrid>
              <a:tr h="457200">
                <a:tc>
                  <a:txBody>
                    <a:bodyPr lIns="45720" rIns="45720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退出碼</a:t>
                      </a:r>
                    </a:p>
                  </a:txBody>
                  <a:tcPr>
                    <a:solidFill>
                      <a:srgbClr val="C75A1A"/>
                    </a:solidFill>
                  </a:tcPr>
                </a:tc>
                <a:tc>
                  <a:txBody>
                    <a:bodyPr lIns="45720" rIns="45720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意義</a:t>
                      </a:r>
                    </a:p>
                  </a:txBody>
                  <a:tcPr>
                    <a:solidFill>
                      <a:srgbClr val="C75A1A"/>
                    </a:solidFill>
                  </a:tcPr>
                </a:tc>
                <a:tc>
                  <a:txBody>
                    <a:bodyPr lIns="45720" rIns="45720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stdout 處理</a:t>
                      </a:r>
                    </a:p>
                  </a:txBody>
                  <a:tcPr>
                    <a:solidFill>
                      <a:srgbClr val="C75A1A"/>
                    </a:solidFill>
                  </a:tcPr>
                </a:tc>
              </a:tr>
              <a:tr h="457200"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200">
                          <a:solidFill>
                            <a:srgbClr val="2C2C2C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200">
                          <a:solidFill>
                            <a:srgbClr val="2C2C2C"/>
                          </a:solidFill>
                          <a:latin typeface="Calibri"/>
                        </a:rPr>
                        <a:t>成功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200">
                          <a:solidFill>
                            <a:srgbClr val="2C2C2C"/>
                          </a:solidFill>
                          <a:latin typeface="Calibri"/>
                        </a:rPr>
                        <a:t>若有有效 JSON → 決策；純文字 → 寫入 debug log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200">
                          <a:solidFill>
                            <a:srgbClr val="2C2C2C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3F0E9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200">
                          <a:solidFill>
                            <a:srgbClr val="2C2C2C"/>
                          </a:solidFill>
                          <a:latin typeface="Calibri"/>
                        </a:rPr>
                        <a:t>阻塞錯誤</a:t>
                      </a:r>
                    </a:p>
                  </a:txBody>
                  <a:tcPr>
                    <a:solidFill>
                      <a:srgbClr val="F3F0E9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200">
                          <a:solidFill>
                            <a:srgbClr val="2C2C2C"/>
                          </a:solidFill>
                          <a:latin typeface="Calibri"/>
                        </a:rPr>
                        <a:t>stderr 作為原因，阻擋該動作（多數事件）</a:t>
                      </a:r>
                    </a:p>
                  </a:txBody>
                  <a:tcPr>
                    <a:solidFill>
                      <a:srgbClr val="F3F0E9"/>
                    </a:solidFill>
                  </a:tcPr>
                </a:tc>
              </a:tr>
              <a:tr h="457200"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200">
                          <a:solidFill>
                            <a:srgbClr val="2C2C2C"/>
                          </a:solidFill>
                          <a:latin typeface="Calibri"/>
                        </a:rPr>
                        <a:t>其他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200">
                          <a:solidFill>
                            <a:srgbClr val="2C2C2C"/>
                          </a:solidFill>
                          <a:latin typeface="Calibri"/>
                        </a:rPr>
                        <a:t>取決於 stdout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200">
                          <a:solidFill>
                            <a:srgbClr val="2C2C2C"/>
                          </a:solidFill>
                          <a:latin typeface="Calibri"/>
                        </a:rPr>
                        <a:t>純文字 → 非阻塞錯誤；JSON → 套用 JSON 決策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457200" y="3657600"/>
            <a:ext cx="11277295" cy="182880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3657600"/>
            <a:ext cx="11277295" cy="1828800"/>
          </a:xfrm>
          <a:prstGeom prst="rect">
            <a:avLst/>
          </a:prstGeom>
          <a:noFill/>
        </p:spPr>
        <p:txBody>
          <a:bodyPr wrap="square" lIns="137160" tIns="91440" rIns="137160" bIns="91440">
            <a:spAutoFit/>
          </a:bodyPr>
          <a:lstStyle/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#!/bin/bash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# 阻擋 rm 命令的 hook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input=$(cat)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command=$(echo "$input" | jq -r '.tool_input.command')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 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if [[ "$command" == rm* ]]; then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  echo "Blocked: rm commands are not allowed" &gt;&amp;2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  exit 2  # 阻塞錯誤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fi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 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exit 0  # 允許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669280"/>
            <a:ext cx="11277295" cy="365760"/>
          </a:xfrm>
          <a:prstGeom prst="roundRect">
            <a:avLst/>
          </a:prstGeom>
          <a:solidFill>
            <a:srgbClr val="F3F0E9"/>
          </a:solidFill>
          <a:ln w="19050">
            <a:solidFill>
              <a:srgbClr val="C75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/>
            <a:r>
              <a:rPr sz="1200">
                <a:solidFill>
                  <a:srgbClr val="2C2C2C"/>
                </a:solidFill>
                <a:latin typeface="Calibri"/>
              </a:rPr>
              <a:t>⚠️  exit 2 對大多數事件阻擋，但 PermissionRequest、PostToolUse 等不阻擋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1264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DC2626"/>
                </a:solidFill>
                <a:latin typeface="Calibri"/>
              </a:rPr>
              <a:t>WorktreeCreate 例外：任何非零退出碼都會失敗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C75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2C2C2C"/>
                </a:solidFill>
                <a:latin typeface="Calibri"/>
              </a:rPr>
              <a:t>JSON 決策控制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i="1">
                <a:solidFill>
                  <a:srgbClr val="6B6B6B"/>
                </a:solidFill>
                <a:latin typeface="Calibri"/>
              </a:rPr>
              <a:t>比退出碼更精細的權限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27432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18 / 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649224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i="1">
                <a:solidFill>
                  <a:srgbClr val="6B6B6B"/>
                </a:solidFill>
                <a:latin typeface="Calibri"/>
              </a:rPr>
              <a:t>📖 來源：06 § JSON 輸出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C75A1A"/>
                </a:solidFill>
                <a:latin typeface="Calibri"/>
              </a:rPr>
              <a:t>Claude Code Plugin 完整學習系列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544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C75A1A"/>
                </a:solidFill>
                <a:latin typeface="Calibri"/>
              </a:rPr>
              <a:t>🎯 退出 0 + JSON = 結構化控制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103120"/>
            <a:ext cx="11277295" cy="228600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2103120"/>
            <a:ext cx="11277295" cy="2286000"/>
          </a:xfrm>
          <a:prstGeom prst="rect">
            <a:avLst/>
          </a:prstGeom>
          <a:noFill/>
        </p:spPr>
        <p:txBody>
          <a:bodyPr wrap="square" lIns="137160" tIns="91440" rIns="137160" bIns="91440">
            <a:spAutoFit/>
          </a:bodyPr>
          <a:lstStyle/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{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  "continue": false,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  "stopReason": "Build failed, fix errors before continuing",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  "systemMessage": "⚠️ Lint errors detected",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  "hookSpecificOutput": {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    "hookEventName": "PreToolUse",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    "permissionDecision": "deny",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    "permissionDecisionReason": "Use rg instead of grep for better performance",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    "updatedInput": {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      "command": "rg pattern"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    },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    "additionalContext": "Current environment: production. Proceed with caution."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  }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}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5720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75A1A"/>
                </a:solidFill>
                <a:latin typeface="Calibri"/>
              </a:rPr>
              <a:t>通用欄位 vs 事件特定欄位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4937760"/>
            <a:ext cx="5577840" cy="1463040"/>
          </a:xfrm>
          <a:prstGeom prst="roundRect">
            <a:avLst/>
          </a:prstGeom>
          <a:solidFill>
            <a:srgbClr val="F3F0E9"/>
          </a:solidFill>
          <a:ln w="254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4937760"/>
            <a:ext cx="5577840" cy="4572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4937760"/>
            <a:ext cx="5577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通用欄位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577840"/>
            <a:ext cx="5212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continue: 完全停止 Claude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stopReason: 停止原因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systemMessage: 警告訊息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terminalSequence: 終端跳脫序列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56655" y="4937760"/>
            <a:ext cx="5577840" cy="1463040"/>
          </a:xfrm>
          <a:prstGeom prst="roundRect">
            <a:avLst/>
          </a:prstGeom>
          <a:solidFill>
            <a:srgbClr val="F3F0E9"/>
          </a:solidFill>
          <a:ln w="25400">
            <a:solidFill>
              <a:srgbClr val="C75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56655" y="4937760"/>
            <a:ext cx="5577840" cy="457200"/>
          </a:xfrm>
          <a:prstGeom prst="rect">
            <a:avLst/>
          </a:prstGeom>
          <a:solidFill>
            <a:srgbClr val="C75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56655" y="4937760"/>
            <a:ext cx="5577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事件特定欄位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39535" y="5577840"/>
            <a:ext cx="5212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PreToolUse: permissionDecision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PostToolUse: updatedToolOutput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Stop: decision + reason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UserPromptSubmit: additionalContext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C75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2C2C2C"/>
                </a:solidFill>
                <a:latin typeface="Calibri"/>
              </a:rPr>
              <a:t>決策優先級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i="1">
                <a:solidFill>
                  <a:srgbClr val="6B6B6B"/>
                </a:solidFill>
                <a:latin typeface="Calibri"/>
              </a:rPr>
              <a:t>多個 hook 衝突時的規則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27432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19 / 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649224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i="1">
                <a:solidFill>
                  <a:srgbClr val="6B6B6B"/>
                </a:solidFill>
                <a:latin typeface="Calibri"/>
              </a:rPr>
              <a:t>📖 來源：06 § 決策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C75A1A"/>
                </a:solidFill>
                <a:latin typeface="Calibri"/>
              </a:rPr>
              <a:t>Claude Code Plugin 完整學習系列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544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DC2626"/>
                </a:solidFill>
                <a:latin typeface="Calibri"/>
              </a:rPr>
              <a:t>🎯 PreToolUse 多個 hook 衝突時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0887" y="2103120"/>
            <a:ext cx="2560320" cy="1828800"/>
          </a:xfrm>
          <a:prstGeom prst="roundRect">
            <a:avLst/>
          </a:prstGeom>
          <a:solidFill>
            <a:srgbClr val="F3F0E9"/>
          </a:solidFill>
          <a:ln w="317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0887" y="237744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DC2626"/>
                </a:solidFill>
                <a:latin typeface="Consolas"/>
              </a:rPr>
              <a:t>deny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0887" y="292608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B6B6B"/>
                </a:solidFill>
                <a:latin typeface="Calibri"/>
              </a:rPr>
              <a:t>1. 最高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0887" y="338328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C2C2C"/>
                </a:solidFill>
                <a:latin typeface="Calibri"/>
              </a:rPr>
              <a:t>阻擋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3279495" y="2880360"/>
            <a:ext cx="146304" cy="274320"/>
          </a:xfrm>
          <a:prstGeom prst="rightArrow">
            <a:avLst/>
          </a:prstGeom>
          <a:solidFill>
            <a:srgbClr val="6B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444087" y="2103120"/>
            <a:ext cx="2560320" cy="1828800"/>
          </a:xfrm>
          <a:prstGeom prst="roundRect">
            <a:avLst/>
          </a:prstGeom>
          <a:solidFill>
            <a:srgbClr val="F3F0E9"/>
          </a:solidFill>
          <a:ln w="31750">
            <a:solidFill>
              <a:srgbClr val="C75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44087" y="237744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C75A1A"/>
                </a:solidFill>
                <a:latin typeface="Consolas"/>
              </a:rPr>
              <a:t>defer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44087" y="292608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B6B6B"/>
                </a:solidFill>
                <a:latin typeface="Calibri"/>
              </a:rPr>
              <a:t>2. 次高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44087" y="338328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C2C2C"/>
                </a:solidFill>
                <a:latin typeface="Calibri"/>
              </a:rPr>
              <a:t>延後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6022695" y="2880360"/>
            <a:ext cx="146304" cy="274320"/>
          </a:xfrm>
          <a:prstGeom prst="rightArrow">
            <a:avLst/>
          </a:prstGeom>
          <a:solidFill>
            <a:srgbClr val="6B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187287" y="2103120"/>
            <a:ext cx="2560320" cy="1828800"/>
          </a:xfrm>
          <a:prstGeom prst="roundRect">
            <a:avLst/>
          </a:prstGeom>
          <a:solidFill>
            <a:srgbClr val="F3F0E9"/>
          </a:solidFill>
          <a:ln w="317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87287" y="237744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3B82F6"/>
                </a:solidFill>
                <a:latin typeface="Consolas"/>
              </a:rPr>
              <a:t>ask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87287" y="292608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B6B6B"/>
                </a:solidFill>
                <a:latin typeface="Calibri"/>
              </a:rPr>
              <a:t>3. 確認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87287" y="338328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C2C2C"/>
                </a:solidFill>
                <a:latin typeface="Calibri"/>
              </a:rPr>
              <a:t>詢問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8765895" y="2880360"/>
            <a:ext cx="146304" cy="274320"/>
          </a:xfrm>
          <a:prstGeom prst="rightArrow">
            <a:avLst/>
          </a:prstGeom>
          <a:solidFill>
            <a:srgbClr val="6B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930487" y="2103120"/>
            <a:ext cx="2560320" cy="1828800"/>
          </a:xfrm>
          <a:prstGeom prst="roundRect">
            <a:avLst/>
          </a:prstGeom>
          <a:solidFill>
            <a:srgbClr val="F3F0E9"/>
          </a:solidFill>
          <a:ln w="317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30487" y="237744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16A34A"/>
                </a:solidFill>
                <a:latin typeface="Consolas"/>
              </a:rPr>
              <a:t>allow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30487" y="292608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B6B6B"/>
                </a:solidFill>
                <a:latin typeface="Calibri"/>
              </a:rPr>
              <a:t>4. 最低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30487" y="338328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C2C2C"/>
                </a:solidFill>
                <a:latin typeface="Calibri"/>
              </a:rPr>
              <a:t>允許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438912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2C2C2C"/>
                </a:solidFill>
                <a:latin typeface="Calibri"/>
              </a:rPr>
              <a:t>📌 其他事件（如 Stop）用 top-level decision + reason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828800" y="4937760"/>
            <a:ext cx="8534095" cy="118872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828800" y="4937760"/>
            <a:ext cx="8534095" cy="1188720"/>
          </a:xfrm>
          <a:prstGeom prst="rect">
            <a:avLst/>
          </a:prstGeom>
          <a:noFill/>
        </p:spPr>
        <p:txBody>
          <a:bodyPr wrap="square" lIns="137160" tIns="91440" rIns="137160" bIns="91440">
            <a:spAutoFit/>
          </a:bodyPr>
          <a:lstStyle/>
          <a:p>
            <a:pPr algn="l"/>
            <a:r>
              <a:rPr sz="1200">
                <a:solidFill>
                  <a:srgbClr val="E6E6E6"/>
                </a:solidFill>
                <a:latin typeface="Consolas"/>
              </a:rPr>
              <a:t>{</a:t>
            </a:r>
          </a:p>
          <a:p>
            <a:pPr algn="l"/>
            <a:r>
              <a:rPr sz="1200">
                <a:solidFill>
                  <a:srgbClr val="E6E6E6"/>
                </a:solidFill>
                <a:latin typeface="Consolas"/>
              </a:rPr>
              <a:t>  "decision": "block",</a:t>
            </a:r>
          </a:p>
          <a:p>
            <a:pPr algn="l"/>
            <a:r>
              <a:rPr sz="1200">
                <a:solidFill>
                  <a:srgbClr val="E6E6E6"/>
                </a:solidFill>
                <a:latin typeface="Consolas"/>
              </a:rPr>
              <a:t>  "reason": "Tests must pass before stopping"</a:t>
            </a:r>
          </a:p>
          <a:p>
            <a:pPr algn="l"/>
            <a:r>
              <a:rPr sz="1200">
                <a:solidFill>
                  <a:srgbClr val="E6E6E6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0"/>
            <a:ext cx="11277295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600" b="1">
                <a:solidFill>
                  <a:srgbClr val="C75A1A"/>
                </a:solidFill>
                <a:latin typeface="Calibri"/>
              </a:rPr>
              <a:t>Part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65760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2C2C2C"/>
                </a:solidFill>
                <a:latin typeface="Calibri"/>
              </a:rPr>
              <a:t>重要事件詳解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75488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i="1">
                <a:solidFill>
                  <a:srgbClr val="6B6B6B"/>
                </a:solidFill>
                <a:latin typeface="Calibri"/>
              </a:rPr>
              <a:t>PreToolUse、PostToolUse、Stop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C75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2C2C2C"/>
                </a:solidFill>
                <a:latin typeface="Calibri"/>
              </a:rPr>
              <a:t>PreToolUse：工具執行前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i="1">
                <a:solidFill>
                  <a:srgbClr val="6B6B6B"/>
                </a:solidFill>
                <a:latin typeface="Calibri"/>
              </a:rPr>
              <a:t>最常用的事件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27432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21 / 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649224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i="1">
                <a:solidFill>
                  <a:srgbClr val="6B6B6B"/>
                </a:solidFill>
                <a:latin typeface="Calibri"/>
              </a:rPr>
              <a:t>📖 來源：06 § PreToolUse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C75A1A"/>
                </a:solidFill>
                <a:latin typeface="Calibri"/>
              </a:rPr>
              <a:t>Claude Code Plugin 完整學習系列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544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DC2626"/>
                </a:solidFill>
                <a:latin typeface="Calibri"/>
              </a:rPr>
              <a:t>🛡 用途：阻擋、修改、自動批准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011680"/>
            <a:ext cx="5486400" cy="164592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2011680"/>
            <a:ext cx="5486400" cy="1645920"/>
          </a:xfrm>
          <a:prstGeom prst="rect">
            <a:avLst/>
          </a:prstGeom>
          <a:noFill/>
        </p:spPr>
        <p:txBody>
          <a:bodyPr wrap="square" lIns="137160" tIns="91440" rIns="137160" bIns="91440">
            <a:spAutoFit/>
          </a:bodyPr>
          <a:lstStyle/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{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  "hookSpecificOutput": {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    "hookEventName": "PreToolUse",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    "permissionDecision": "deny",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    "permissionDecisionReason": "Destructive command blocked"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  }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}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48095" y="2011680"/>
            <a:ext cx="5486400" cy="182880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48095" y="2011680"/>
            <a:ext cx="5486400" cy="1828800"/>
          </a:xfrm>
          <a:prstGeom prst="rect">
            <a:avLst/>
          </a:prstGeom>
          <a:noFill/>
        </p:spPr>
        <p:txBody>
          <a:bodyPr wrap="square" lIns="137160" tIns="91440" rIns="137160" bIns="91440">
            <a:spAutoFit/>
          </a:bodyPr>
          <a:lstStyle/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{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  "hookSpecificOutput": {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    "hookEventName": "PreToolUse",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    "permissionDecision": "allow",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    "updatedInput": {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      "command": "rg pattern"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    }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  }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}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1148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B82F6"/>
                </a:solidFill>
                <a:latin typeface="Calibri"/>
              </a:rPr>
              <a:t>💡 注意：PreToolUse 只在 Claude 呼叫工具時執行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48056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2C2C2C"/>
                </a:solidFill>
                <a:latin typeface="Calibri"/>
              </a:rPr>
              <a:t>• 檔案用 @ 引用 → 不觸發 PreToolUse（Read 也跳過）</a:t>
            </a:r>
          </a:p>
          <a:p>
            <a:pPr algn="l"/>
            <a:r>
              <a:rPr sz="1100">
                <a:solidFill>
                  <a:srgbClr val="2C2C2C"/>
                </a:solidFill>
                <a:latin typeface="Calibri"/>
              </a:rPr>
              <a:t>• EndConversation → 不觸發</a:t>
            </a:r>
          </a:p>
          <a:p>
            <a:pPr algn="l"/>
            <a:r>
              <a:rPr sz="1100">
                <a:solidFill>
                  <a:srgbClr val="2C2C2C"/>
                </a:solidFill>
                <a:latin typeface="Calibri"/>
              </a:rPr>
              <a:t>• 若想阻擋 @ 引用：使用 Read deny 規則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5943600"/>
            <a:ext cx="11277295" cy="365760"/>
          </a:xfrm>
          <a:prstGeom prst="roundRect">
            <a:avLst/>
          </a:prstGeom>
          <a:solidFill>
            <a:srgbClr val="F3F0E9"/>
          </a:solidFill>
          <a:ln w="19050">
            <a:solidFill>
              <a:srgbClr val="C75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/>
            <a:r>
              <a:rPr sz="1200">
                <a:solidFill>
                  <a:srgbClr val="2C2C2C"/>
                </a:solidFill>
                <a:latin typeface="Calibri"/>
              </a:rPr>
              <a:t>🔒  PreToolUse 不會被 hook 自動 deny 規則取代；deny 規則仍生效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C75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2C2C2C"/>
                </a:solidFill>
                <a:latin typeface="Calibri"/>
              </a:rPr>
              <a:t>PostToolUse：工具成功後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i="1">
                <a:solidFill>
                  <a:srgbClr val="6B6B6B"/>
                </a:solidFill>
                <a:latin typeface="Calibri"/>
              </a:rPr>
              <a:t>自動 lint、格式化、通知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27432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22 / 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649224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i="1">
                <a:solidFill>
                  <a:srgbClr val="6B6B6B"/>
                </a:solidFill>
                <a:latin typeface="Calibri"/>
              </a:rPr>
              <a:t>📖 來源：06 § PostToolUse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C75A1A"/>
                </a:solidFill>
                <a:latin typeface="Calibri"/>
              </a:rPr>
              <a:t>Claude Code Plugin 完整學習系列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554480"/>
            <a:ext cx="6400800" cy="228600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554480"/>
            <a:ext cx="6400800" cy="2286000"/>
          </a:xfrm>
          <a:prstGeom prst="rect">
            <a:avLst/>
          </a:prstGeom>
          <a:noFill/>
        </p:spPr>
        <p:txBody>
          <a:bodyPr wrap="square" lIns="137160" tIns="91440" rIns="137160" bIns="91440">
            <a:spAutoFit/>
          </a:bodyPr>
          <a:lstStyle/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// 編輯後自動跑 prettier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{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  "hooks": {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    "PostToolUse": [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      {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        "matcher": "Edit|Write",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        "hooks": [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          {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            "type": "command",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            "command": "jq -r '.tool_input.file_path' | xargs npx prettier --write"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          }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        ]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      }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    ]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  }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62495" y="15544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75A1A"/>
                </a:solidFill>
                <a:latin typeface="Calibri"/>
              </a:rPr>
              <a:t>📊 進階：替換工具輸出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62495" y="1920240"/>
            <a:ext cx="4572000" cy="228600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62495" y="1920240"/>
            <a:ext cx="4572000" cy="2286000"/>
          </a:xfrm>
          <a:prstGeom prst="rect">
            <a:avLst/>
          </a:prstGeom>
          <a:noFill/>
        </p:spPr>
        <p:txBody>
          <a:bodyPr wrap="square" lIns="137160" tIns="91440" rIns="137160" bIns="91440">
            <a:spAutoFit/>
          </a:bodyPr>
          <a:lstStyle/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{</a:t>
            </a:r>
          </a:p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  "hookSpecificOutput": {</a:t>
            </a:r>
          </a:p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    "hookEventName": "PostToolUse",</a:t>
            </a:r>
          </a:p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    "additionalContext": "File is generated; edit src/schema.ts",</a:t>
            </a:r>
          </a:p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    "updatedToolOutput": {</a:t>
            </a:r>
          </a:p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      "stdout": "[redacted]",</a:t>
            </a:r>
          </a:p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      "stderr": "",</a:t>
            </a:r>
          </a:p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      "interrupted": false</a:t>
            </a:r>
          </a:p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    }</a:t>
            </a:r>
          </a:p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  }</a:t>
            </a:r>
          </a:p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}</a:t>
            </a:r>
          </a:p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 </a:t>
            </a:r>
          </a:p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// updatedToolOutput 必須匹配工具輸出形狀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206240"/>
            <a:ext cx="11277295" cy="365760"/>
          </a:xfrm>
          <a:prstGeom prst="roundRect">
            <a:avLst/>
          </a:prstGeom>
          <a:solidFill>
            <a:srgbClr val="F3F0E9"/>
          </a:solidFill>
          <a:ln w="19050">
            <a:solidFill>
              <a:srgbClr val="C75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/>
            <a:r>
              <a:rPr sz="1200">
                <a:solidFill>
                  <a:srgbClr val="2C2C2C"/>
                </a:solidFill>
                <a:latin typeface="Calibri"/>
              </a:rPr>
              <a:t>⚠️  ⚠️ updatedToolOutput 只改 Claude 看到的內容；工具實際執行結果不變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7548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75A1A"/>
                </a:solidFill>
                <a:latin typeface="Calibri"/>
              </a:rPr>
              <a:t>📋 寬鬆匹配技巧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512064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2C2C2C"/>
                </a:solidFill>
                <a:latin typeface="Calibri"/>
              </a:rPr>
              <a:t>• 省略 matcher 或設 * → 任何工具後執行</a:t>
            </a:r>
          </a:p>
          <a:p>
            <a:pPr algn="l"/>
            <a:r>
              <a:rPr sz="1100">
                <a:solidFill>
                  <a:srgbClr val="2C2C2C"/>
                </a:solidFill>
                <a:latin typeface="Calibri"/>
              </a:rPr>
              <a:t>• 若想特定檔案變更時觸發 → 用 FileChanged 事件</a:t>
            </a:r>
          </a:p>
          <a:p>
            <a:pPr algn="l"/>
            <a:r>
              <a:rPr sz="1100">
                <a:solidFill>
                  <a:srgbClr val="2C2C2C"/>
                </a:solidFill>
                <a:latin typeface="Calibri"/>
              </a:rPr>
              <a:t>• FileChanged 無決策控制，但有 watchPaths 動態管理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C75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2C2C2C"/>
                </a:solidFill>
                <a:latin typeface="Calibri"/>
              </a:rPr>
              <a:t>Stop Hook：Claude 完成時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i="1">
                <a:solidFill>
                  <a:srgbClr val="6B6B6B"/>
                </a:solidFill>
                <a:latin typeface="Calibri"/>
              </a:rPr>
              <a:t>確保任務完整結束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27432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23 / 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649224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i="1">
                <a:solidFill>
                  <a:srgbClr val="6B6B6B"/>
                </a:solidFill>
                <a:latin typeface="Calibri"/>
              </a:rPr>
              <a:t>📖 來源：06 § Stop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C75A1A"/>
                </a:solidFill>
                <a:latin typeface="Calibri"/>
              </a:rPr>
              <a:t>Claude Code Plugin 完整學習系列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554480"/>
            <a:ext cx="11277295" cy="228600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554480"/>
            <a:ext cx="11277295" cy="2286000"/>
          </a:xfrm>
          <a:prstGeom prst="rect">
            <a:avLst/>
          </a:prstGeom>
          <a:noFill/>
        </p:spPr>
        <p:txBody>
          <a:bodyPr wrap="square" lIns="137160" tIns="91440" rIns="137160" bIns="91440">
            <a:spAutoFit/>
          </a:bodyPr>
          <a:lstStyle/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{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  "hooks": {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    "Stop": [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      {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        "hooks": [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          {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            "type": "prompt",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            "prompt": "Check if all tasks are complete. If not, respond with {ok: false, reason: 'what remains'}."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          }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        ]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      }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    ]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  }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}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 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// 當 ok: false → reason 給 Claude 繼續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// 當 ok: true 或 ok: false + impossible: true → 允許停止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02336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DC2626"/>
                </a:solidFill>
                <a:latin typeface="Calibri"/>
              </a:rPr>
              <a:t>⚠️ Stop hook 連續 8 次阻擋會被覆寫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4389120"/>
            <a:ext cx="11277295" cy="137160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4389120"/>
            <a:ext cx="11277295" cy="1371600"/>
          </a:xfrm>
          <a:prstGeom prst="rect">
            <a:avLst/>
          </a:prstGeom>
          <a:noFill/>
        </p:spPr>
        <p:txBody>
          <a:bodyPr wrap="square" lIns="137160" tIns="91440" rIns="137160" bIns="91440">
            <a:spAutoFit/>
          </a:bodyPr>
          <a:lstStyle/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#!/bin/bash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# 避免無限迴圈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input=$(cat)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if [ "$(echo "$input" | jq -r '.stop_hook_active')" = "true" ]; then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  exit 0  # 已被觸發過，允許停止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fi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# ... 你的檢查邏輯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5943600"/>
            <a:ext cx="11277295" cy="365760"/>
          </a:xfrm>
          <a:prstGeom prst="roundRect">
            <a:avLst/>
          </a:prstGeom>
          <a:solidFill>
            <a:srgbClr val="F3F0E9"/>
          </a:solidFill>
          <a:ln w="19050">
            <a:solidFill>
              <a:srgbClr val="C75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/>
            <a:r>
              <a:rPr sz="1200">
                <a:solidFill>
                  <a:srgbClr val="2C2C2C"/>
                </a:solidFill>
                <a:latin typeface="Calibri"/>
              </a:rPr>
              <a:t>🎯  /goal 是 session-scoped Stop hook 的內建快捷方式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C75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2C2C2C"/>
                </a:solidFill>
                <a:latin typeface="Calibri"/>
              </a:rPr>
              <a:t>SessionStart 與 SessionEnd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i="1">
                <a:solidFill>
                  <a:srgbClr val="6B6B6B"/>
                </a:solidFill>
                <a:latin typeface="Calibri"/>
              </a:rPr>
              <a:t>Session 生命週期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27432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24 / 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649224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i="1">
                <a:solidFill>
                  <a:srgbClr val="6B6B6B"/>
                </a:solidFill>
                <a:latin typeface="Calibri"/>
              </a:rPr>
              <a:t>📖 來源：06 § Session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C75A1A"/>
                </a:solidFill>
                <a:latin typeface="Calibri"/>
              </a:rPr>
              <a:t>Claude Code Plugin 完整學習系列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554480"/>
            <a:ext cx="6400800" cy="228600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554480"/>
            <a:ext cx="6400800" cy="2286000"/>
          </a:xfrm>
          <a:prstGeom prst="rect">
            <a:avLst/>
          </a:prstGeom>
          <a:noFill/>
        </p:spPr>
        <p:txBody>
          <a:bodyPr wrap="square" lIns="137160" tIns="91440" rIns="137160" bIns="91440">
            <a:spAutoFit/>
          </a:bodyPr>
          <a:lstStyle/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// 載入專案 context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{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  "hooks": {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    "SessionStart": [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      {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        "matcher": "compact",    // 只在 compaction 後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        "hooks": [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          {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            "type": "command",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            "command": "echo 'Reminder: use Bun, not npm. Run bun test before committing.'"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          }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        ]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      }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    ]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  }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62495" y="15544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B82F6"/>
                </a:solidFill>
                <a:latin typeface="Calibri"/>
              </a:rPr>
              <a:t>SessionStart matchers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62495" y="1920240"/>
            <a:ext cx="4572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2C2C2C"/>
                </a:solidFill>
                <a:latin typeface="Calibri"/>
              </a:rPr>
              <a:t>• startup — 新 session</a:t>
            </a:r>
          </a:p>
          <a:p>
            <a:pPr algn="l"/>
            <a:r>
              <a:rPr sz="1100">
                <a:solidFill>
                  <a:srgbClr val="2C2C2C"/>
                </a:solidFill>
                <a:latin typeface="Calibri"/>
              </a:rPr>
              <a:t>• resume — /resume 或 --continue</a:t>
            </a:r>
          </a:p>
          <a:p>
            <a:pPr algn="l"/>
            <a:r>
              <a:rPr sz="1100">
                <a:solidFill>
                  <a:srgbClr val="2C2C2C"/>
                </a:solidFill>
                <a:latin typeface="Calibri"/>
              </a:rPr>
              <a:t>• clear — /clear</a:t>
            </a:r>
          </a:p>
          <a:p>
            <a:pPr algn="l"/>
            <a:r>
              <a:rPr sz="1100">
                <a:solidFill>
                  <a:srgbClr val="2C2C2C"/>
                </a:solidFill>
                <a:latin typeface="Calibri"/>
              </a:rPr>
              <a:t>• compact — auto/manual compaction</a:t>
            </a:r>
          </a:p>
          <a:p>
            <a:pPr algn="l"/>
            <a:r>
              <a:rPr sz="1100">
                <a:solidFill>
                  <a:srgbClr val="2C2C2C"/>
                </a:solidFill>
                <a:latin typeface="Calibri"/>
              </a:rPr>
              <a:t>• fork — 從現有 session 分叉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02336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B82F6"/>
                </a:solidFill>
                <a:latin typeface="Calibri"/>
              </a:rPr>
              <a:t>💡 SessionStart hooks 在每個 session 都執行 → 保持快速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480560"/>
            <a:ext cx="11277295" cy="137160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4480560"/>
            <a:ext cx="11277295" cy="1371600"/>
          </a:xfrm>
          <a:prstGeom prst="rect">
            <a:avLst/>
          </a:prstGeom>
          <a:noFill/>
        </p:spPr>
        <p:txBody>
          <a:bodyPr wrap="square" lIns="137160" tIns="91440" rIns="137160" bIns="91440">
            <a:spAutoFit/>
          </a:bodyPr>
          <a:lstStyle/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// 持久化環境變數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#!/bin/bash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if [ -n "$CLAUDE_ENV_FILE" ]; then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  echo 'export NODE_ENV=production' &gt;&gt; "$CLAUDE_ENV_FILE"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  echo 'export PATH="$PATH:./node_modules/.bin"' &gt;&gt; "$CLAUDE_ENV_FILE"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fi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03504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C2C2C"/>
                </a:solidFill>
                <a:latin typeface="Calibri"/>
              </a:rPr>
              <a:t>SessionEnd：清理任務、記錄 session 統計、儲存狀態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C75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2C2C2C"/>
                </a:solidFill>
                <a:latin typeface="Calibri"/>
              </a:rPr>
              <a:t>Notification 事件：通知觸發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i="1">
                <a:solidFill>
                  <a:srgbClr val="6B6B6B"/>
                </a:solidFill>
                <a:latin typeface="Calibri"/>
              </a:rPr>
              <a:t>桌面通知、Slack 整合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27432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25 / 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649224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i="1">
                <a:solidFill>
                  <a:srgbClr val="6B6B6B"/>
                </a:solidFill>
                <a:latin typeface="Calibri"/>
              </a:rPr>
              <a:t>📖 來源：06 § Notification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C75A1A"/>
                </a:solidFill>
                <a:latin typeface="Calibri"/>
              </a:rPr>
              <a:t>Claude Code Plugin 完整學習系列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554480"/>
            <a:ext cx="6400800" cy="182880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554480"/>
            <a:ext cx="6400800" cy="1828800"/>
          </a:xfrm>
          <a:prstGeom prst="rect">
            <a:avLst/>
          </a:prstGeom>
          <a:noFill/>
        </p:spPr>
        <p:txBody>
          <a:bodyPr wrap="square" lIns="137160" tIns="91440" rIns="137160" bIns="91440">
            <a:spAutoFit/>
          </a:bodyPr>
          <a:lstStyle/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{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  "hooks": {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    "Notification": [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      {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        "matcher": "permission_prompt",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        "hooks": [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          {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            "type": "command",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            "command": "osascript -e 'display notification "Claude needs your attention" with title "Claude Code"'"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          }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        ]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      }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    ]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  }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62495" y="15544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B82F6"/>
                </a:solidFill>
                <a:latin typeface="Calibri"/>
              </a:rPr>
              <a:t>跨平台桌面通知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62495" y="1920240"/>
            <a:ext cx="4572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2C2C2C"/>
                </a:solidFill>
                <a:latin typeface="Calibri"/>
              </a:rPr>
              <a:t>• macOS: osascript</a:t>
            </a:r>
          </a:p>
          <a:p>
            <a:pPr algn="l"/>
            <a:r>
              <a:rPr sz="1100">
                <a:solidFill>
                  <a:srgbClr val="2C2C2C"/>
                </a:solidFill>
                <a:latin typeface="Calibri"/>
              </a:rPr>
              <a:t>• Linux: notify-send</a:t>
            </a:r>
          </a:p>
          <a:p>
            <a:pPr algn="l"/>
            <a:r>
              <a:rPr sz="1100">
                <a:solidFill>
                  <a:srgbClr val="2C2C2C"/>
                </a:solidFill>
                <a:latin typeface="Calibri"/>
              </a:rPr>
              <a:t>• Windows: powershell MessageBox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657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75A1A"/>
                </a:solidFill>
                <a:latin typeface="Calibri"/>
              </a:rPr>
              <a:t>Notification matchers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457200" y="4023360"/>
          <a:ext cx="11277295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38647"/>
                <a:gridCol w="5638648"/>
              </a:tblGrid>
              <a:tr h="326571">
                <a:tc>
                  <a:txBody>
                    <a:bodyPr lIns="45720" rIns="4572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Matcher</a:t>
                      </a:r>
                    </a:p>
                  </a:txBody>
                  <a:tcPr>
                    <a:solidFill>
                      <a:srgbClr val="C75A1A"/>
                    </a:solidFill>
                  </a:tcPr>
                </a:tc>
                <a:tc>
                  <a:txBody>
                    <a:bodyPr lIns="45720" rIns="4572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觸發時機</a:t>
                      </a:r>
                    </a:p>
                  </a:txBody>
                  <a:tcPr>
                    <a:solidFill>
                      <a:srgbClr val="C75A1A"/>
                    </a:solidFill>
                  </a:tcPr>
                </a:tc>
              </a:tr>
              <a:tr h="326571"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2C2C2C"/>
                          </a:solidFill>
                          <a:latin typeface="Calibri"/>
                        </a:rPr>
                        <a:t>permission_prompt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2C2C2C"/>
                          </a:solidFill>
                          <a:latin typeface="Calibri"/>
                        </a:rPr>
                        <a:t>Claude 需要權限批准，等待約 6 秒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6571"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2C2C2C"/>
                          </a:solidFill>
                          <a:latin typeface="Calibri"/>
                        </a:rPr>
                        <a:t>idle_prompt</a:t>
                      </a:r>
                    </a:p>
                  </a:txBody>
                  <a:tcPr>
                    <a:solidFill>
                      <a:srgbClr val="F3F0E9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2C2C2C"/>
                          </a:solidFill>
                          <a:latin typeface="Calibri"/>
                        </a:rPr>
                        <a:t>Claude 完成回應約 60 秒，你未輸入</a:t>
                      </a:r>
                    </a:p>
                  </a:txBody>
                  <a:tcPr>
                    <a:solidFill>
                      <a:srgbClr val="F3F0E9"/>
                    </a:solidFill>
                  </a:tcPr>
                </a:tc>
              </a:tr>
              <a:tr h="326571"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2C2C2C"/>
                          </a:solidFill>
                          <a:latin typeface="Calibri"/>
                        </a:rPr>
                        <a:t>auth_success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2C2C2C"/>
                          </a:solidFill>
                          <a:latin typeface="Calibri"/>
                        </a:rPr>
                        <a:t>認證完成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6571"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2C2C2C"/>
                          </a:solidFill>
                          <a:latin typeface="Calibri"/>
                        </a:rPr>
                        <a:t>elicitation_dialog</a:t>
                      </a:r>
                    </a:p>
                  </a:txBody>
                  <a:tcPr>
                    <a:solidFill>
                      <a:srgbClr val="F3F0E9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2C2C2C"/>
                          </a:solidFill>
                          <a:latin typeface="Calibri"/>
                        </a:rPr>
                        <a:t>MCP server 打開 elicitation 表格</a:t>
                      </a:r>
                    </a:p>
                  </a:txBody>
                  <a:tcPr>
                    <a:solidFill>
                      <a:srgbClr val="F3F0E9"/>
                    </a:solidFill>
                  </a:tcPr>
                </a:tc>
              </a:tr>
              <a:tr h="326571"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2C2C2C"/>
                          </a:solidFill>
                          <a:latin typeface="Calibri"/>
                        </a:rPr>
                        <a:t>agent_needs_input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2C2C2C"/>
                          </a:solidFill>
                          <a:latin typeface="Calibri"/>
                        </a:rPr>
                        <a:t>背景 session 等待輸入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6574"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2C2C2C"/>
                          </a:solidFill>
                          <a:latin typeface="Calibri"/>
                        </a:rPr>
                        <a:t>agent_completed</a:t>
                      </a:r>
                    </a:p>
                  </a:txBody>
                  <a:tcPr>
                    <a:solidFill>
                      <a:srgbClr val="F3F0E9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2C2C2C"/>
                          </a:solidFill>
                          <a:latin typeface="Calibri"/>
                        </a:rPr>
                        <a:t>背景 session 完成或失敗</a:t>
                      </a:r>
                    </a:p>
                  </a:txBody>
                  <a:tcPr>
                    <a:solidFill>
                      <a:srgbClr val="F3F0E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C75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2C2C2C"/>
                </a:solidFill>
                <a:latin typeface="Calibri"/>
              </a:rPr>
              <a:t>背景執行 Hooks（async）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i="1">
                <a:solidFill>
                  <a:srgbClr val="6B6B6B"/>
                </a:solidFill>
                <a:latin typeface="Calibri"/>
              </a:rPr>
              <a:t>不阻擋 Claude 的長時間任務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27432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26 / 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649224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i="1">
                <a:solidFill>
                  <a:srgbClr val="6B6B6B"/>
                </a:solidFill>
                <a:latin typeface="Calibri"/>
              </a:rPr>
              <a:t>📖 來源：06 § 背景執行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C75A1A"/>
                </a:solidFill>
                <a:latin typeface="Calibri"/>
              </a:rPr>
              <a:t>Claude Code Plugin 完整學習系列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554480"/>
            <a:ext cx="11277295" cy="182880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554480"/>
            <a:ext cx="11277295" cy="1828800"/>
          </a:xfrm>
          <a:prstGeom prst="rect">
            <a:avLst/>
          </a:prstGeom>
          <a:noFill/>
        </p:spPr>
        <p:txBody>
          <a:bodyPr wrap="square" lIns="137160" tIns="91440" rIns="137160" bIns="91440">
            <a:spAutoFit/>
          </a:bodyPr>
          <a:lstStyle/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{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  "hooks": {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    "PostToolUse": [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      {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        "matcher": "Write",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        "hooks": [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          {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            "type": "command",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            "command": "/path/to/run-tests.sh",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            "async": true,         ← 背景執行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            "timeout": 300         ← 最長 5 分鐘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          }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        ]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      }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    ]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  }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}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657600"/>
            <a:ext cx="5577840" cy="2286000"/>
          </a:xfrm>
          <a:prstGeom prst="roundRect">
            <a:avLst/>
          </a:prstGeom>
          <a:solidFill>
            <a:srgbClr val="F3F0E9"/>
          </a:solidFill>
          <a:ln w="254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3657600"/>
            <a:ext cx="5577840" cy="4572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3657600"/>
            <a:ext cx="5577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✅ 背景 hook 可用於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297680"/>
            <a:ext cx="52120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跑測試套件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部署到 staging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上傳到 S3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產生報告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長時間 lint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56655" y="3657600"/>
            <a:ext cx="5577840" cy="2286000"/>
          </a:xfrm>
          <a:prstGeom prst="roundRect">
            <a:avLst/>
          </a:prstGeom>
          <a:solidFill>
            <a:srgbClr val="F3F0E9"/>
          </a:solidFill>
          <a:ln w="25400">
            <a:solidFill>
              <a:srgbClr val="C75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56655" y="3657600"/>
            <a:ext cx="5577840" cy="457200"/>
          </a:xfrm>
          <a:prstGeom prst="rect">
            <a:avLst/>
          </a:prstGeom>
          <a:solidFill>
            <a:srgbClr val="C75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56655" y="3657600"/>
            <a:ext cx="5577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❌ 背景 hook 不能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39535" y="4297680"/>
            <a:ext cx="52120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阻擋 Claude 動作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改變決策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修改工具輸入/輸出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被立刻讀取結果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（下次 session 才知道）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6035040"/>
            <a:ext cx="11277295" cy="365760"/>
          </a:xfrm>
          <a:prstGeom prst="roundRect">
            <a:avLst/>
          </a:prstGeom>
          <a:solidFill>
            <a:srgbClr val="F3F0E9"/>
          </a:solidFill>
          <a:ln w="19050">
            <a:solidFill>
              <a:srgbClr val="C75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/>
            <a:r>
              <a:rPr sz="1200">
                <a:solidFill>
                  <a:srgbClr val="2C2C2C"/>
                </a:solidFill>
                <a:latin typeface="Calibri"/>
              </a:rPr>
              <a:t>⏱  async 結果在下個 session 開始時可見（--continue 時讀取）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C75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2C2C2C"/>
                </a:solidFill>
                <a:latin typeface="Calibri"/>
              </a:rPr>
              <a:t>為 Claude 新增上下文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i="1">
                <a:solidFill>
                  <a:srgbClr val="6B6B6B"/>
                </a:solidFill>
                <a:latin typeface="Calibri"/>
              </a:rPr>
              <a:t>additionalContext 的使用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27432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27 / 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649224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i="1">
                <a:solidFill>
                  <a:srgbClr val="6B6B6B"/>
                </a:solidFill>
                <a:latin typeface="Calibri"/>
              </a:rPr>
              <a:t>📖 來源：06 § 上下文注入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C75A1A"/>
                </a:solidFill>
                <a:latin typeface="Calibri"/>
              </a:rPr>
              <a:t>Claude Code Plugin 完整學習系列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554480"/>
            <a:ext cx="11277295" cy="155448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554480"/>
            <a:ext cx="11277295" cy="1554480"/>
          </a:xfrm>
          <a:prstGeom prst="rect">
            <a:avLst/>
          </a:prstGeom>
          <a:noFill/>
        </p:spPr>
        <p:txBody>
          <a:bodyPr wrap="square" lIns="137160" tIns="91440" rIns="137160" bIns="91440">
            <a:spAutoFit/>
          </a:bodyPr>
          <a:lstStyle/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{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  "hookSpecificOutput": {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    "hookEventName": "PostToolUse",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    "additionalContext": "This file is generated. Edit src/schema.ts and run `bun generate` instead."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  }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}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 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// additionalContext 會包裝為系統提醒插入對話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29184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6A34A"/>
                </a:solidFill>
                <a:latin typeface="Calibri"/>
              </a:rPr>
              <a:t>📌 適合的內容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65760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2C2C2C"/>
                </a:solidFill>
                <a:latin typeface="Calibri"/>
              </a:rPr>
              <a:t>• 環境狀態：目前 branch、deployment target</a:t>
            </a:r>
          </a:p>
          <a:p>
            <a:pPr algn="l"/>
            <a:r>
              <a:rPr sz="1100">
                <a:solidFill>
                  <a:srgbClr val="2C2C2C"/>
                </a:solidFill>
                <a:latin typeface="Calibri"/>
              </a:rPr>
              <a:t>• 條件式規則：哪些目錄是唯讀的</a:t>
            </a:r>
          </a:p>
          <a:p>
            <a:pPr algn="l"/>
            <a:r>
              <a:rPr sz="1100">
                <a:solidFill>
                  <a:srgbClr val="2C2C2C"/>
                </a:solidFill>
                <a:latin typeface="Calibri"/>
              </a:rPr>
              <a:t>• 外部資料：分配給你的 open issues、最近 CI 結果</a:t>
            </a:r>
          </a:p>
          <a:p>
            <a:pPr algn="l"/>
            <a:r>
              <a:rPr sz="1100">
                <a:solidFill>
                  <a:srgbClr val="2C2C2C"/>
                </a:solidFill>
                <a:latin typeface="Calibri"/>
              </a:rPr>
              <a:t>• 專案特定的測試指令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2120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DC2626"/>
                </a:solidFill>
                <a:latin typeface="Calibri"/>
              </a:rPr>
              <a:t>📝 寫成事實陳述而非系統指令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57784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2C2C2C"/>
                </a:solidFill>
                <a:latin typeface="Calibri"/>
              </a:rPr>
              <a:t>• ✅ 「部署目標是 production」</a:t>
            </a:r>
          </a:p>
          <a:p>
            <a:pPr algn="l"/>
            <a:r>
              <a:rPr sz="1100">
                <a:solidFill>
                  <a:srgbClr val="2C2C2C"/>
                </a:solidFill>
                <a:latin typeface="Calibri"/>
              </a:rPr>
              <a:t>• ❌ 「你必須部署到 production」</a:t>
            </a:r>
          </a:p>
          <a:p>
            <a:pPr algn="l"/>
            <a:r>
              <a:rPr sz="1100">
                <a:solidFill>
                  <a:srgbClr val="2C2C2C"/>
                </a:solidFill>
                <a:latin typeface="Calibri"/>
              </a:rPr>
              <a:t>• 事實讀起來像資訊；指令可能觸發 prompt-injection 防禦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C75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2C2C2C"/>
                </a:solidFill>
                <a:latin typeface="Calibri"/>
              </a:rPr>
              <a:t>發送終端通知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i="1">
                <a:solidFill>
                  <a:srgbClr val="6B6B6B"/>
                </a:solidFill>
                <a:latin typeface="Calibri"/>
              </a:rPr>
              <a:t>桌面通知、視窗標題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27432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28 / 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649224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i="1">
                <a:solidFill>
                  <a:srgbClr val="6B6B6B"/>
                </a:solidFill>
                <a:latin typeface="Calibri"/>
              </a:rPr>
              <a:t>📖 來源：06 § 終端通知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C75A1A"/>
                </a:solidFill>
                <a:latin typeface="Calibri"/>
              </a:rPr>
              <a:t>Claude Code Plugin 完整學習系列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554480"/>
            <a:ext cx="11277295" cy="182880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554480"/>
            <a:ext cx="11277295" cy="1828800"/>
          </a:xfrm>
          <a:prstGeom prst="rect">
            <a:avLst/>
          </a:prstGeom>
          <a:noFill/>
        </p:spPr>
        <p:txBody>
          <a:bodyPr wrap="square" lIns="137160" tIns="91440" rIns="137160" bIns="91440">
            <a:spAutoFit/>
          </a:bodyPr>
          <a:lstStyle/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#!/bin/bash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# 從 Notification hook 觸發桌面通知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input=$(cat)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title="Claude Code"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body=$(jq -r '.message // "Needs your attention"' &lt;&lt;&lt;"$input")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seq=$(printf '\033]777;notify;%s;%s\007' "$title" "$body")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jq -nc --arg seq "$seq" '{terminalSequence: $seq}'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56616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75A1A"/>
                </a:solidFill>
                <a:latin typeface="Calibri"/>
              </a:rPr>
              <a:t>🎯 terminalSequence 支援的跳脫序列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931920"/>
            <a:ext cx="5577840" cy="1828800"/>
          </a:xfrm>
          <a:prstGeom prst="roundRect">
            <a:avLst/>
          </a:prstGeom>
          <a:solidFill>
            <a:srgbClr val="F3F0E9"/>
          </a:solidFill>
          <a:ln w="254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931920"/>
            <a:ext cx="5577840" cy="4572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3931920"/>
            <a:ext cx="5577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桌面通知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572000"/>
            <a:ext cx="52120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OSC 9：iTerm2、ConEmu、WezTerm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OSC 99：Kitty 通知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OSC 777：urxvt、Ghostty、Warp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BEL：基本鈴聲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56655" y="3931920"/>
            <a:ext cx="5577840" cy="1828800"/>
          </a:xfrm>
          <a:prstGeom prst="roundRect">
            <a:avLst/>
          </a:prstGeom>
          <a:solidFill>
            <a:srgbClr val="F3F0E9"/>
          </a:solidFill>
          <a:ln w="25400">
            <a:solidFill>
              <a:srgbClr val="C75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56655" y="3931920"/>
            <a:ext cx="5577840" cy="457200"/>
          </a:xfrm>
          <a:prstGeom prst="rect">
            <a:avLst/>
          </a:prstGeom>
          <a:solidFill>
            <a:srgbClr val="C75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56655" y="3931920"/>
            <a:ext cx="5577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視窗控制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39535" y="4572000"/>
            <a:ext cx="52120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OSC 0：視窗標題 + icon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OSC 1：icon 標題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OSC 2：視窗標題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其他 OSC 會被忽略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5943600"/>
            <a:ext cx="11277295" cy="365760"/>
          </a:xfrm>
          <a:prstGeom prst="roundRect">
            <a:avLst/>
          </a:prstGeom>
          <a:solidFill>
            <a:srgbClr val="F3F0E9"/>
          </a:solidFill>
          <a:ln w="19050">
            <a:solidFill>
              <a:srgbClr val="C75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/>
            <a:r>
              <a:rPr sz="1200">
                <a:solidFill>
                  <a:srgbClr val="2C2C2C"/>
                </a:solidFill>
                <a:latin typeface="Calibri"/>
              </a:rPr>
              <a:t>💡  terminalSequence 在非互動模式（-p）和 Agent SDK 中會被忽略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0"/>
            <a:ext cx="11277295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600" b="1">
                <a:solidFill>
                  <a:srgbClr val="C75A1A"/>
                </a:solidFill>
                <a:latin typeface="Calibri"/>
              </a:rPr>
              <a:t>Part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65760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2C2C2C"/>
                </a:solidFill>
                <a:latin typeface="Calibri"/>
              </a:rPr>
              <a:t>安全性與最佳實踐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75488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i="1">
                <a:solidFill>
                  <a:srgbClr val="6B6B6B"/>
                </a:solidFill>
                <a:latin typeface="Calibri"/>
              </a:rPr>
              <a:t>避免踩坑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C75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2C2C2C"/>
                </a:solidFill>
                <a:latin typeface="Calibri"/>
              </a:rPr>
              <a:t>安全性：認真對待 Hooks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i="1">
                <a:solidFill>
                  <a:srgbClr val="6B6B6B"/>
                </a:solidFill>
                <a:latin typeface="Calibri"/>
              </a:rPr>
              <a:t>⚠️ Hooks 以你的完整權限執行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27432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30 / 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649224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i="1">
                <a:solidFill>
                  <a:srgbClr val="6B6B6B"/>
                </a:solidFill>
                <a:latin typeface="Calibri"/>
              </a:rPr>
              <a:t>📖 來源：06 § 安全性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C75A1A"/>
                </a:solidFill>
                <a:latin typeface="Calibri"/>
              </a:rPr>
              <a:t>Claude Code Plugin 完整學習系列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371600"/>
            <a:ext cx="11277295" cy="640080"/>
          </a:xfrm>
          <a:prstGeom prst="roundRect">
            <a:avLst/>
          </a:prstGeom>
          <a:solidFill>
            <a:srgbClr val="F3F0E9"/>
          </a:solidFill>
          <a:ln w="19050">
            <a:solidFill>
              <a:srgbClr val="C75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⚠️  Command hooks 以你的完整使用者權限執行 shell 命令。它們可以修改、刪除或訪問你的使用者帳戶可訪問的任何檔案。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0312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DC2626"/>
                </a:solidFill>
                <a:latin typeface="Calibri"/>
              </a:rPr>
              <a:t>🔒 工作區信任機制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46888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2C2C2C"/>
                </a:solidFill>
                <a:latin typeface="Calibri"/>
              </a:rPr>
              <a:t>• 互動式 session：每個 hooks 都需工作區信任</a:t>
            </a:r>
          </a:p>
          <a:p>
            <a:pPr algn="l"/>
            <a:r>
              <a:rPr sz="1100">
                <a:solidFill>
                  <a:srgbClr val="2C2C2C"/>
                </a:solidFill>
                <a:latin typeface="Calibri"/>
              </a:rPr>
              <a:t>• -p / SDK session：永遠不顯示對話框，直接執行（⚠️ 危險）</a:t>
            </a:r>
          </a:p>
          <a:p>
            <a:pPr algn="l"/>
            <a:r>
              <a:rPr sz="1100">
                <a:solidFill>
                  <a:srgbClr val="2C2C2C"/>
                </a:solidFill>
                <a:latin typeface="Calibri"/>
              </a:rPr>
              <a:t>• 外部 repo 用 --bare 或 --settings '{"disableAllHooks": true}'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657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6A34A"/>
                </a:solidFill>
                <a:latin typeface="Calibri"/>
              </a:rPr>
              <a:t>🛡 安全最佳實踐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4023360"/>
            <a:ext cx="5577840" cy="2194560"/>
          </a:xfrm>
          <a:prstGeom prst="roundRect">
            <a:avLst/>
          </a:prstGeom>
          <a:solidFill>
            <a:srgbClr val="F3F0E9"/>
          </a:solidFill>
          <a:ln w="254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4023360"/>
            <a:ext cx="5577840" cy="4572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4023360"/>
            <a:ext cx="5577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✅ 應該做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663440"/>
            <a:ext cx="52120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驗證所有輸入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永遠用雙引號包變數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檢查路徑遍歷（..）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使用絕對路徑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跳過敏感檔案（.env、.git/）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56655" y="4023360"/>
            <a:ext cx="5577840" cy="2194560"/>
          </a:xfrm>
          <a:prstGeom prst="roundRect">
            <a:avLst/>
          </a:prstGeom>
          <a:solidFill>
            <a:srgbClr val="F3F0E9"/>
          </a:solidFill>
          <a:ln w="25400">
            <a:solidFill>
              <a:srgbClr val="C75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56655" y="4023360"/>
            <a:ext cx="5577840" cy="457200"/>
          </a:xfrm>
          <a:prstGeom prst="rect">
            <a:avLst/>
          </a:prstGeom>
          <a:solidFill>
            <a:srgbClr val="C75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56655" y="4023360"/>
            <a:ext cx="5577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❌ 不該做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39535" y="4663440"/>
            <a:ext cx="52120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盲目信任輸入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不引號包 shell 變數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從未驗證的 repo 跑 hooks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在 plugin 內用 ../ 共享檔案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C75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2C2C2C"/>
                </a:solidFill>
                <a:latin typeface="Calibri"/>
              </a:rPr>
              <a:t>Hook 除錯技巧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i="1">
                <a:solidFill>
                  <a:srgbClr val="6B6B6B"/>
                </a:solidFill>
                <a:latin typeface="Calibri"/>
              </a:rPr>
              <a:t>找不到問題時的標準流程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27432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31 / 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649224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i="1">
                <a:solidFill>
                  <a:srgbClr val="6B6B6B"/>
                </a:solidFill>
                <a:latin typeface="Calibri"/>
              </a:rPr>
              <a:t>📖 來源：06 § 除錯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C75A1A"/>
                </a:solidFill>
                <a:latin typeface="Calibri"/>
              </a:rPr>
              <a:t>Claude Code Plugin 完整學習系列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258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C75A1A"/>
                </a:solidFill>
                <a:latin typeface="Calibri"/>
              </a:rPr>
              <a:t>🔍 標準除錯流程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69164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2C2C2C"/>
                </a:solidFill>
                <a:latin typeface="Calibri"/>
              </a:rPr>
              <a:t>• 1. /hooks 確認 hook 已註冊</a:t>
            </a:r>
          </a:p>
          <a:p>
            <a:pPr algn="l"/>
            <a:r>
              <a:rPr sz="1100">
                <a:solidFill>
                  <a:srgbClr val="2C2C2C"/>
                </a:solidFill>
                <a:latin typeface="Calibri"/>
              </a:rPr>
              <a:t>• 2. claude --debug 啟動看完整日誌</a:t>
            </a:r>
          </a:p>
          <a:p>
            <a:pPr algn="l"/>
            <a:r>
              <a:rPr sz="1100">
                <a:solidFill>
                  <a:srgbClr val="2C2C2C"/>
                </a:solidFill>
                <a:latin typeface="Calibri"/>
              </a:rPr>
              <a:t>• 3. 手動測試：echo '{...}' | ./hook.sh</a:t>
            </a:r>
          </a:p>
          <a:p>
            <a:pPr algn="l"/>
            <a:r>
              <a:rPr sz="1100">
                <a:solidFill>
                  <a:srgbClr val="2C2C2C"/>
                </a:solidFill>
                <a:latin typeface="Calibri"/>
              </a:rPr>
              <a:t>• 4. 確認 chmod +x（最重要的常見錯誤！）</a:t>
            </a:r>
          </a:p>
          <a:p>
            <a:pPr algn="l"/>
            <a:r>
              <a:rPr sz="1100">
                <a:solidFill>
                  <a:srgbClr val="2C2C2C"/>
                </a:solidFill>
                <a:latin typeface="Calibri"/>
              </a:rPr>
              <a:t>• 5. 確認 jq 已安裝</a:t>
            </a:r>
          </a:p>
          <a:p>
            <a:pPr algn="l"/>
            <a:r>
              <a:rPr sz="1100">
                <a:solidFill>
                  <a:srgbClr val="2C2C2C"/>
                </a:solidFill>
                <a:latin typeface="Calibri"/>
              </a:rPr>
              <a:t>• 6. 看退出碼：echo $?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3657600"/>
            <a:ext cx="11277295" cy="91440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3657600"/>
            <a:ext cx="11277295" cy="914400"/>
          </a:xfrm>
          <a:prstGeom prst="rect">
            <a:avLst/>
          </a:prstGeom>
          <a:noFill/>
        </p:spPr>
        <p:txBody>
          <a:bodyPr wrap="square" lIns="137160" tIns="91440" rIns="137160" bIns="91440">
            <a:spAutoFit/>
          </a:bodyPr>
          <a:lstStyle/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# 完整除錯命令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claude --debug-file /tmp/claude.log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 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# 在另一個 terminal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tail -f /tmp/claude.log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7548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DC2626"/>
                </a:solidFill>
                <a:latin typeface="Calibri"/>
              </a:rPr>
              <a:t>📌 4 個最常見錯誤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12064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>
                <a:solidFill>
                  <a:srgbClr val="2C2C2C"/>
                </a:solidFill>
                <a:latin typeface="Calibri"/>
              </a:rPr>
              <a:t>• ❌ matcher 拼錯 → 沉默失敗（用 /hooks 確認）</a:t>
            </a:r>
          </a:p>
          <a:p>
            <a:pPr algn="l"/>
            <a:r>
              <a:rPr sz="1000">
                <a:solidFill>
                  <a:srgbClr val="2C2C2C"/>
                </a:solidFill>
                <a:latin typeface="Calibri"/>
              </a:rPr>
              <a:t>• ❌ chmod 沒給 → 退出 126（檢查 echo $?）</a:t>
            </a:r>
          </a:p>
          <a:p>
            <a:pPr algn="l"/>
            <a:r>
              <a:rPr sz="1000">
                <a:solidFill>
                  <a:srgbClr val="2C2C2C"/>
                </a:solidFill>
                <a:latin typeface="Calibri"/>
              </a:rPr>
              <a:t>• ❌ jq 沒裝 → parse 錯誤（apt install jq）</a:t>
            </a:r>
          </a:p>
          <a:p>
            <a:pPr algn="l"/>
            <a:r>
              <a:rPr sz="1000">
                <a:solidFill>
                  <a:srgbClr val="2C2C2C"/>
                </a:solidFill>
                <a:latin typeface="Calibri"/>
              </a:rPr>
              <a:t>• ❌ hook JSON 沒生效 → 檢查 shell profile 沒有 echo 干擾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C75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2C2C2C"/>
                </a:solidFill>
                <a:latin typeface="Calibri"/>
              </a:rPr>
              <a:t>PowerShell on Windows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i="1">
                <a:solidFill>
                  <a:srgbClr val="6B6B6B"/>
                </a:solidFill>
                <a:latin typeface="Calibri"/>
              </a:rPr>
              <a:t>在 Windows 上執行 hooks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27432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32 / 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649224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i="1">
                <a:solidFill>
                  <a:srgbClr val="6B6B6B"/>
                </a:solidFill>
                <a:latin typeface="Calibri"/>
              </a:rPr>
              <a:t>📖 來源：06 § PowerShell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C75A1A"/>
                </a:solidFill>
                <a:latin typeface="Calibri"/>
              </a:rPr>
              <a:t>Claude Code Plugin 完整學習系列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554480"/>
            <a:ext cx="6400800" cy="182880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554480"/>
            <a:ext cx="6400800" cy="1828800"/>
          </a:xfrm>
          <a:prstGeom prst="rect">
            <a:avLst/>
          </a:prstGeom>
          <a:noFill/>
        </p:spPr>
        <p:txBody>
          <a:bodyPr wrap="square" lIns="137160" tIns="91440" rIns="137160" bIns="91440">
            <a:spAutoFit/>
          </a:bodyPr>
          <a:lstStyle/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{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  "hooks": {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    "PostToolUse": [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      {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        "matcher": "Write",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        "hooks": [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          {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            "type": "command",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            "shell": "powershell",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            "command": "Write-Host 'File written'"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          }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        ]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      }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    ]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  }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62495" y="15544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B82F6"/>
                </a:solidFill>
                <a:latin typeface="Calibri"/>
              </a:rPr>
              <a:t>💡 PowerShell 注意事項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62495" y="1920240"/>
            <a:ext cx="4572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2C2C2C"/>
                </a:solidFill>
                <a:latin typeface="Calibri"/>
              </a:rPr>
              <a:t>• 用 $env:CLAUDE_PROJECT_DIR 讀環境變數</a:t>
            </a:r>
          </a:p>
          <a:p>
            <a:pPr algn="l"/>
            <a:r>
              <a:rPr sz="1100">
                <a:solidFill>
                  <a:srgbClr val="2C2C2C"/>
                </a:solidFill>
                <a:latin typeface="Calibri"/>
              </a:rPr>
              <a:t>• 不要寫裸 $CLAUDE_PROJECT_DIR</a:t>
            </a:r>
          </a:p>
          <a:p>
            <a:pPr algn="l"/>
            <a:r>
              <a:rPr sz="1100">
                <a:solidFill>
                  <a:srgbClr val="2C2C2C"/>
                </a:solidFill>
                <a:latin typeface="Calibri"/>
              </a:rPr>
              <a:t>• （會被解析為 null）</a:t>
            </a:r>
          </a:p>
          <a:p>
            <a:pPr algn="l"/>
            <a:r>
              <a:rPr sz="1100">
                <a:solidFill>
                  <a:srgbClr val="2C2C2C"/>
                </a:solidFill>
                <a:latin typeface="Calibri"/>
              </a:rPr>
              <a:t>• Claude Code 自動重寫為 ${env:NAME}</a:t>
            </a:r>
          </a:p>
          <a:p>
            <a:pPr algn="l"/>
            <a:r>
              <a:rPr sz="1100">
                <a:solidFill>
                  <a:srgbClr val="2C2C2C"/>
                </a:solidFill>
                <a:latin typeface="Calibri"/>
              </a:rPr>
              <a:t>• Windows .cmd/.bat shim 必須 shell form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657600"/>
            <a:ext cx="11277295" cy="137160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3657600"/>
            <a:ext cx="11277295" cy="1371600"/>
          </a:xfrm>
          <a:prstGeom prst="rect">
            <a:avLst/>
          </a:prstGeom>
          <a:noFill/>
        </p:spPr>
        <p:txBody>
          <a:bodyPr wrap="square" lIns="137160" tIns="91440" rIns="137160" bIns="91440">
            <a:spAutoFit/>
          </a:bodyPr>
          <a:lstStyle/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// 安全寫法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{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  "type": "command",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  "shell": "powershell",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  "command": "&amp; "$env:CLAUDE_PROJECT_DIR\.claude\hooks\check.ps1""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}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5212080"/>
            <a:ext cx="11277295" cy="365760"/>
          </a:xfrm>
          <a:prstGeom prst="roundRect">
            <a:avLst/>
          </a:prstGeom>
          <a:solidFill>
            <a:srgbClr val="F3F0E9"/>
          </a:solidFill>
          <a:ln w="19050">
            <a:solidFill>
              <a:srgbClr val="C75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/>
            <a:r>
              <a:rPr sz="1200">
                <a:solidFill>
                  <a:srgbClr val="2C2C2C"/>
                </a:solidFill>
                <a:latin typeface="Calibri"/>
              </a:rPr>
              <a:t>🌐  跨平台 plugin 建議：用 exec form 搭配 node 處理差異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C75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2C2C2C"/>
                </a:solidFill>
                <a:latin typeface="Calibri"/>
              </a:rPr>
              <a:t>5 個常見的 Hook 模式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i="1">
                <a:solidFill>
                  <a:srgbClr val="6B6B6B"/>
                </a:solidFill>
                <a:latin typeface="Calibri"/>
              </a:rPr>
              <a:t>複製貼上就能用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27432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33 / 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649224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i="1">
                <a:solidFill>
                  <a:srgbClr val="6B6B6B"/>
                </a:solidFill>
                <a:latin typeface="Calibri"/>
              </a:rPr>
              <a:t>📖 來源：06 § 常用模式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C75A1A"/>
                </a:solidFill>
                <a:latin typeface="Calibri"/>
              </a:rPr>
              <a:t>Claude Code Plugin 完整學習系列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554480"/>
            <a:ext cx="3200400" cy="7772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55448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1. 編輯後自動格式化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0" y="1554480"/>
            <a:ext cx="8076895" cy="77724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49039" y="1554480"/>
            <a:ext cx="795527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E6E6E6"/>
                </a:solidFill>
                <a:latin typeface="Consolas"/>
              </a:rPr>
              <a:t>{ ·   "hooks": { ·     "PostToolUse": [ ·       { ·         "matcher": "Edit|Write", ·         "hook...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468880"/>
            <a:ext cx="3200400" cy="77724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246888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2. 阻擋危險命令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0" y="2468880"/>
            <a:ext cx="8076895" cy="77724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49039" y="2468880"/>
            <a:ext cx="795527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E6E6E6"/>
                </a:solidFill>
                <a:latin typeface="Consolas"/>
              </a:rPr>
              <a:t>{ ·   "hooks": { ·     "PreToolUse": [ ·       { ·         "matcher": "Bash", ·         "hooks": [ ·...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383280"/>
            <a:ext cx="3200400" cy="77724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338328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3. 桌面通知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0" y="3383280"/>
            <a:ext cx="8076895" cy="77724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749039" y="3383280"/>
            <a:ext cx="795527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E6E6E6"/>
                </a:solidFill>
                <a:latin typeface="Consolas"/>
              </a:rPr>
              <a:t>{ ·   "hooks": { ·     "Notification": [ ·       { ·         "matcher": "", ·         "hooks": [ ·  ...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297680"/>
            <a:ext cx="3200400" cy="777240"/>
          </a:xfrm>
          <a:prstGeom prst="rect">
            <a:avLst/>
          </a:prstGeom>
          <a:solidFill>
            <a:srgbClr val="C75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429768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4. 阻擋編輯敏感檔案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0" y="4297680"/>
            <a:ext cx="8076895" cy="77724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749039" y="4297680"/>
            <a:ext cx="795527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E6E6E6"/>
                </a:solidFill>
                <a:latin typeface="Consolas"/>
              </a:rPr>
              <a:t>{ ·   "hooks": { ·     "PreToolUse": [ ·       { ·         "matcher": "Edit|Write", ·         "hooks...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5212080"/>
            <a:ext cx="3200400" cy="7772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521208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5. Session 開始時載入 context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0" y="5212080"/>
            <a:ext cx="8076895" cy="77724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749039" y="5212080"/>
            <a:ext cx="795527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E6E6E6"/>
                </a:solidFill>
                <a:latin typeface="Consolas"/>
              </a:rPr>
              <a:t>{ ·   "hooks": { ·     "SessionStart": [ ·       { ·         "matcher": "startup", ·         "hooks"...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6126480"/>
            <a:ext cx="11277295" cy="365760"/>
          </a:xfrm>
          <a:prstGeom prst="roundRect">
            <a:avLst/>
          </a:prstGeom>
          <a:solidFill>
            <a:srgbClr val="F3F0E9"/>
          </a:solidFill>
          <a:ln w="19050">
            <a:solidFill>
              <a:srgbClr val="C75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/>
            <a:r>
              <a:rPr sz="1200">
                <a:solidFill>
                  <a:srgbClr val="2C2C2C"/>
                </a:solidFill>
                <a:latin typeface="Calibri"/>
              </a:rPr>
              <a:t>📖  完整可運行的 hook 範例見 06-hooks.md § 背景執行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C75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2C2C2C"/>
                </a:solidFill>
                <a:latin typeface="Calibri"/>
              </a:rPr>
              <a:t>實戰：阻擋 rm -rf 完整實作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i="1">
                <a:solidFill>
                  <a:srgbClr val="6B6B6B"/>
                </a:solidFill>
                <a:latin typeface="Calibri"/>
              </a:rPr>
              <a:t>10 分鐘學會 hook 整合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27432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34 / 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649224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i="1">
                <a:solidFill>
                  <a:srgbClr val="6B6B6B"/>
                </a:solidFill>
                <a:latin typeface="Calibri"/>
              </a:rPr>
              <a:t>📖 來源：綜合實戰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C75A1A"/>
                </a:solidFill>
                <a:latin typeface="Calibri"/>
              </a:rPr>
              <a:t>Claude Code Plugin 完整學習系列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544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DC2626"/>
                </a:solidFill>
                <a:latin typeface="Calibri"/>
              </a:rPr>
              <a:t>🎯 目標：阻擋危險的 rm -rf 命令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0116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B82F6"/>
                </a:solidFill>
                <a:latin typeface="Calibri"/>
              </a:rPr>
              <a:t>Step 1：建立 hook 腳本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377440"/>
            <a:ext cx="5486400" cy="256032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377440"/>
            <a:ext cx="5486400" cy="2560320"/>
          </a:xfrm>
          <a:prstGeom prst="rect">
            <a:avLst/>
          </a:prstGeom>
          <a:noFill/>
        </p:spPr>
        <p:txBody>
          <a:bodyPr wrap="square" lIns="137160" tIns="91440" rIns="137160" bIns="91440">
            <a:spAutoFit/>
          </a:bodyPr>
          <a:lstStyle/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#!/bin/bash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# ~/.claude/hooks/block-rm-rf.sh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 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input=$(cat)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COMMAND=$(echo "$input" | jq -r '.tool_input.command // empty')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 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# 阻擋 rm -rf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if echo "$COMMAND" | grep -qE 'rm\s+(-[a-zA-Z]*r[a-zA-Z]*f|-[a-zA-Z]*f[a-zA-Z]*r|-rf|-fr)'; then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  echo "Blocked: rm -rf is not allowed" &gt;&amp;2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  exit 2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fi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 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exit 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48095" y="20116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B82F6"/>
                </a:solidFill>
                <a:latin typeface="Calibri"/>
              </a:rPr>
              <a:t>Step 2：設定 hook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48095" y="2377440"/>
            <a:ext cx="5486400" cy="182880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48095" y="2377440"/>
            <a:ext cx="5486400" cy="1828800"/>
          </a:xfrm>
          <a:prstGeom prst="rect">
            <a:avLst/>
          </a:prstGeom>
          <a:noFill/>
        </p:spPr>
        <p:txBody>
          <a:bodyPr wrap="square" lIns="137160" tIns="91440" rIns="137160" bIns="91440">
            <a:spAutoFit/>
          </a:bodyPr>
          <a:lstStyle/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// ~/.claude/settings.json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{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  "hooks": {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    "PreToolUse": [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      {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        "matcher": "Bash",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        "hooks": [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          {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            "type": "command",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            "command": "~/.claude/hooks/block-rm-rf.sh"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          }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        ]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      }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    ]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  }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}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48095" y="43891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B82F6"/>
                </a:solidFill>
                <a:latin typeface="Calibri"/>
              </a:rPr>
              <a:t>Step 3：賦予執行權限並測試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48095" y="4754880"/>
            <a:ext cx="5486400" cy="164592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48095" y="4754880"/>
            <a:ext cx="5486400" cy="1645920"/>
          </a:xfrm>
          <a:prstGeom prst="rect">
            <a:avLst/>
          </a:prstGeom>
          <a:noFill/>
        </p:spPr>
        <p:txBody>
          <a:bodyPr wrap="square" lIns="137160" tIns="91440" rIns="137160" bIns="91440">
            <a:spAutoFit/>
          </a:bodyPr>
          <a:lstStyle/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$ chmod +x ~/.claude/hooks/block-rm-rf.sh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 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# 測試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$ echo '{"tool_name":"Bash","tool_input":{"command":"rm -rf /"}}' \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  | ~/.claude/hooks/block-rm-rf.sh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Blocked: rm -rf is not allowed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$ echo $?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6400800"/>
            <a:ext cx="11277295" cy="365760"/>
          </a:xfrm>
          <a:prstGeom prst="roundRect">
            <a:avLst/>
          </a:prstGeom>
          <a:solidFill>
            <a:srgbClr val="F3F0E9"/>
          </a:solidFill>
          <a:ln w="19050">
            <a:solidFill>
              <a:srgbClr val="C75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🛡  完成！現在 Claude 嘗試 rm -rf 會被阻擋，stderr 訊息會給 Claude 看到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C75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2C2C2C"/>
                </a:solidFill>
                <a:latin typeface="Calibri"/>
              </a:rPr>
              <a:t>實戰：編輯後背景跑測試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i="1">
                <a:solidFill>
                  <a:srgbClr val="6B6B6B"/>
                </a:solidFill>
                <a:latin typeface="Calibri"/>
              </a:rPr>
              <a:t>async + JSON 回報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27432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35 / 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649224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i="1">
                <a:solidFill>
                  <a:srgbClr val="6B6B6B"/>
                </a:solidFill>
                <a:latin typeface="Calibri"/>
              </a:rPr>
              <a:t>📖 來源：綜合實戰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C75A1A"/>
                </a:solidFill>
                <a:latin typeface="Calibri"/>
              </a:rPr>
              <a:t>Claude Code Plugin 完整學習系列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544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6A34A"/>
                </a:solidFill>
                <a:latin typeface="Calibri"/>
              </a:rPr>
              <a:t>🎯 目標：編輯 .ts/.js 後背景跑測試，結果回報給 Claude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011680"/>
            <a:ext cx="6400800" cy="320040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2011680"/>
            <a:ext cx="6400800" cy="3200400"/>
          </a:xfrm>
          <a:prstGeom prst="rect">
            <a:avLst/>
          </a:prstGeom>
          <a:noFill/>
        </p:spPr>
        <p:txBody>
          <a:bodyPr wrap="square" lIns="137160" tIns="91440" rIns="137160" bIns="91440">
            <a:spAutoFit/>
          </a:bodyPr>
          <a:lstStyle/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#!/bin/bash</a:t>
            </a:r>
          </a:p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# ~/.claude/hooks/run-tests-async.sh</a:t>
            </a:r>
          </a:p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input=$(cat)</a:t>
            </a:r>
          </a:p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FILE_PATH=$(echo "$input" | jq -r '.tool_input.file_path // empty')</a:t>
            </a:r>
          </a:p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if [[ "$FILE_PATH" != *.ts &amp;&amp; "$FILE_PATH" != *.js ]]; then</a:t>
            </a:r>
          </a:p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  exit 0</a:t>
            </a:r>
          </a:p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fi</a:t>
            </a:r>
          </a:p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RESULT=$(npm test 2&gt;&amp;1)</a:t>
            </a:r>
          </a:p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EXIT_CODE=$?</a:t>
            </a:r>
          </a:p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if [ $EXIT_CODE -eq 0 ]; then</a:t>
            </a:r>
          </a:p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  MSG="Tests passed after $FILE_PATH"</a:t>
            </a:r>
          </a:p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else</a:t>
            </a:r>
          </a:p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  MSG="Tests failed: $RESULT"</a:t>
            </a:r>
          </a:p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fi</a:t>
            </a:r>
          </a:p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jq -nc --arg msg "$MSG" '{</a:t>
            </a:r>
          </a:p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  hookSpecificOutput: {</a:t>
            </a:r>
          </a:p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    hookEventName: "PostToolUse",</a:t>
            </a:r>
          </a:p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    additionalContext: $msg</a:t>
            </a:r>
          </a:p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  }</a:t>
            </a:r>
          </a:p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}'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62495" y="20116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B82F6"/>
                </a:solidFill>
                <a:latin typeface="Calibri"/>
              </a:rPr>
              <a:t>設定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162495" y="2377440"/>
            <a:ext cx="4572000" cy="301752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62495" y="2377440"/>
            <a:ext cx="4572000" cy="3017520"/>
          </a:xfrm>
          <a:prstGeom prst="rect">
            <a:avLst/>
          </a:prstGeom>
          <a:noFill/>
        </p:spPr>
        <p:txBody>
          <a:bodyPr wrap="square" lIns="137160" tIns="91440" rIns="137160" bIns="91440">
            <a:spAutoFit/>
          </a:bodyPr>
          <a:lstStyle/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{</a:t>
            </a:r>
          </a:p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  "hooks": {</a:t>
            </a:r>
          </a:p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    "PostToolUse": [</a:t>
            </a:r>
          </a:p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      {</a:t>
            </a:r>
          </a:p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        "matcher": "Write|Edit",</a:t>
            </a:r>
          </a:p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        "hooks": [</a:t>
            </a:r>
          </a:p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          {</a:t>
            </a:r>
          </a:p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            "type": "command",</a:t>
            </a:r>
          </a:p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            "command": "~/.claude/hooks/run-tests-async.sh",</a:t>
            </a:r>
          </a:p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            "async": true,</a:t>
            </a:r>
          </a:p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            "timeout": 300</a:t>
            </a:r>
          </a:p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          }</a:t>
            </a:r>
          </a:p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        ]</a:t>
            </a:r>
          </a:p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      }</a:t>
            </a:r>
          </a:p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    ]</a:t>
            </a:r>
          </a:p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  }</a:t>
            </a:r>
          </a:p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}</a:t>
            </a:r>
          </a:p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 </a:t>
            </a:r>
          </a:p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// async: Claude 不等結果</a:t>
            </a:r>
          </a:p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// timeout: 5 分鐘</a:t>
            </a:r>
          </a:p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// additionalContext: 結果在下輪回報給 Claude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5852160"/>
            <a:ext cx="11277295" cy="365760"/>
          </a:xfrm>
          <a:prstGeom prst="roundRect">
            <a:avLst/>
          </a:prstGeom>
          <a:solidFill>
            <a:srgbClr val="F3F0E9"/>
          </a:solidFill>
          <a:ln w="19050">
            <a:solidFill>
              <a:srgbClr val="C75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/>
            <a:r>
              <a:rPr sz="1200">
                <a:solidFill>
                  <a:srgbClr val="2C2C2C"/>
                </a:solidFill>
                <a:latin typeface="Calibri"/>
              </a:rPr>
              <a:t>📖  完整背景 hooks 機制：06-hooks.md § 背景執行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C75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2C2C2C"/>
                </a:solidFill>
                <a:latin typeface="Calibri"/>
              </a:rPr>
              <a:t>Hooks 在 Skill 和 Subagent 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i="1">
                <a:solidFill>
                  <a:srgbClr val="6B6B6B"/>
                </a:solidFill>
                <a:latin typeface="Calibri"/>
              </a:rPr>
              <a:t>frontmatter 限定範圍的 hooks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27432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36 / 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649224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i="1">
                <a:solidFill>
                  <a:srgbClr val="6B6B6B"/>
                </a:solidFill>
                <a:latin typeface="Calibri"/>
              </a:rPr>
              <a:t>📖 來源：06 § Skills/Agents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C75A1A"/>
                </a:solidFill>
                <a:latin typeface="Calibri"/>
              </a:rPr>
              <a:t>Claude Code Plugin 完整學習系列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554480"/>
            <a:ext cx="11277295" cy="320040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554480"/>
            <a:ext cx="11277295" cy="3200400"/>
          </a:xfrm>
          <a:prstGeom prst="rect">
            <a:avLst/>
          </a:prstGeom>
          <a:noFill/>
        </p:spPr>
        <p:txBody>
          <a:bodyPr wrap="square" lIns="137160" tIns="91440" rIns="137160" bIns="91440">
            <a:spAutoFit/>
          </a:bodyPr>
          <a:lstStyle/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# Skill 中的 hook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---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name: secure-operations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description: Perform operations with security checks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hooks: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  PreToolUse: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    - matcher: "Bash"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      hooks: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        - type: command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          command: "./scripts/security-check.sh"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---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 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# Subagent 中的 hook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---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name: code-reviewer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description: Review code changes with automatic linting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hooks: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  PreToolUse: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    - matcher: "Bash"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      hooks: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        - type: command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          command: "./scripts/validate-command.sh"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  PostToolUse: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    - matcher: "Edit|Write"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      hooks: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        - type: command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          command: "./scripts/run-linter.sh"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---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 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// 當 agent 作為 subagent 觸發，Stop 自動轉為 SubagentStop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93776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75A1A"/>
                </a:solidFill>
                <a:latin typeface="Calibri"/>
              </a:rPr>
              <a:t>📌 Hook 生命週期差異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303520"/>
            <a:ext cx="5577840" cy="1097280"/>
          </a:xfrm>
          <a:prstGeom prst="roundRect">
            <a:avLst/>
          </a:prstGeom>
          <a:solidFill>
            <a:srgbClr val="F3F0E9"/>
          </a:solidFill>
          <a:ln w="254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5303520"/>
            <a:ext cx="5577840" cy="4572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5303520"/>
            <a:ext cx="5577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Skill hooks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94360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Skill 叫用時註冊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整個 session 持續執行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once: true 可限制為一次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56655" y="5303520"/>
            <a:ext cx="5577840" cy="1097280"/>
          </a:xfrm>
          <a:prstGeom prst="roundRect">
            <a:avLst/>
          </a:prstGeom>
          <a:solidFill>
            <a:srgbClr val="F3F0E9"/>
          </a:solidFill>
          <a:ln w="25400">
            <a:solidFill>
              <a:srgbClr val="C75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56655" y="5303520"/>
            <a:ext cx="5577840" cy="457200"/>
          </a:xfrm>
          <a:prstGeom prst="rect">
            <a:avLst/>
          </a:prstGeom>
          <a:solidFill>
            <a:srgbClr val="C75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56655" y="5303520"/>
            <a:ext cx="5577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Subagent hooks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39535" y="594360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Subagent 啟動時註冊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Subagent 完成時移除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Stop 自動轉 SubagentStop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0"/>
            <a:ext cx="11277295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600" b="1">
                <a:solidFill>
                  <a:srgbClr val="C75A1A"/>
                </a:solidFill>
                <a:latin typeface="Calibri"/>
              </a:rPr>
              <a:t>Part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65760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2C2C2C"/>
                </a:solidFill>
                <a:latin typeface="Calibri"/>
              </a:rPr>
              <a:t>常見問題與疑難排解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75488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i="1">
                <a:solidFill>
                  <a:srgbClr val="6B6B6B"/>
                </a:solidFill>
                <a:latin typeface="Calibri"/>
              </a:rPr>
              <a:t>實戰中會遇到的狀況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C75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2C2C2C"/>
                </a:solidFill>
                <a:latin typeface="Calibri"/>
              </a:rPr>
              <a:t>疑難排解速查表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i="1">
                <a:solidFill>
                  <a:srgbClr val="6B6B6B"/>
                </a:solidFill>
                <a:latin typeface="Calibri"/>
              </a:rPr>
              <a:t>症狀 → 原因 → 解決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27432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38 / 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649224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i="1">
                <a:solidFill>
                  <a:srgbClr val="6B6B6B"/>
                </a:solidFill>
                <a:latin typeface="Calibri"/>
              </a:rPr>
              <a:t>📖 來源：06 § 疑難排解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C75A1A"/>
                </a:solidFill>
                <a:latin typeface="Calibri"/>
              </a:rPr>
              <a:t>Claude Code Plugin 完整學習系列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554480"/>
            <a:ext cx="2560320" cy="77724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554480"/>
            <a:ext cx="25603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🚫 Hook 未觸發</a:t>
            </a:r>
          </a:p>
        </p:txBody>
      </p:sp>
      <p:sp>
        <p:nvSpPr>
          <p:cNvPr id="10" name="Rectangle 9"/>
          <p:cNvSpPr/>
          <p:nvPr/>
        </p:nvSpPr>
        <p:spPr>
          <a:xfrm>
            <a:off x="3017520" y="1554480"/>
            <a:ext cx="8716975" cy="777240"/>
          </a:xfrm>
          <a:prstGeom prst="rect">
            <a:avLst/>
          </a:prstGeom>
          <a:solidFill>
            <a:srgbClr val="F3F0E9"/>
          </a:solidFill>
          <a:ln w="6350">
            <a:solidFill>
              <a:srgbClr val="6B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0" y="1600200"/>
            <a:ext cx="8503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2C2C"/>
                </a:solidFill>
                <a:latin typeface="Calibri"/>
              </a:rPr>
              <a:t>原因：matcher 拼錯、事件名錯、permission 未批准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1965960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6A34A"/>
                </a:solidFill>
                <a:latin typeface="Calibri"/>
              </a:rPr>
              <a:t>解法：用 /hooks 確認；/debug 看日誌；檢查大小寫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468880"/>
            <a:ext cx="2560320" cy="77724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2468880"/>
            <a:ext cx="25603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🚫 Hook 報錯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017520" y="2468880"/>
            <a:ext cx="8716975" cy="777240"/>
          </a:xfrm>
          <a:prstGeom prst="rect">
            <a:avLst/>
          </a:prstGeom>
          <a:solidFill>
            <a:srgbClr val="F3F0E9"/>
          </a:solidFill>
          <a:ln w="6350">
            <a:solidFill>
              <a:srgbClr val="6B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00400" y="2514600"/>
            <a:ext cx="8503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2C2C"/>
                </a:solidFill>
                <a:latin typeface="Calibri"/>
              </a:rPr>
              <a:t>原因：腳本退出非零、jq 找不到、權限不足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2880360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6A34A"/>
                </a:solidFill>
                <a:latin typeface="Calibri"/>
              </a:rPr>
              <a:t>解法：echo {...} | ./hook.sh 手動測試；echo $?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383280"/>
            <a:ext cx="2560320" cy="77724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3383280"/>
            <a:ext cx="25603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🚫 /hooks 沒顯示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017520" y="3383280"/>
            <a:ext cx="8716975" cy="777240"/>
          </a:xfrm>
          <a:prstGeom prst="rect">
            <a:avLst/>
          </a:prstGeom>
          <a:solidFill>
            <a:srgbClr val="F3F0E9"/>
          </a:solidFill>
          <a:ln w="6350">
            <a:solidFill>
              <a:srgbClr val="6B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00400" y="3429000"/>
            <a:ext cx="8503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2C2C"/>
                </a:solidFill>
                <a:latin typeface="Calibri"/>
              </a:rPr>
              <a:t>原因：JSON 格式錯、檔案權限、檔案監視器漏掉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0" y="3794760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6A34A"/>
                </a:solidFill>
                <a:latin typeface="Calibri"/>
              </a:rPr>
              <a:t>解法：重啟 session；驗證 JSON 語法；檢查 settings 路徑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4297680"/>
            <a:ext cx="2560320" cy="77724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4297680"/>
            <a:ext cx="25603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🚫 Stop hook 卡住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017520" y="4297680"/>
            <a:ext cx="8716975" cy="777240"/>
          </a:xfrm>
          <a:prstGeom prst="rect">
            <a:avLst/>
          </a:prstGeom>
          <a:solidFill>
            <a:srgbClr val="F3F0E9"/>
          </a:solidFill>
          <a:ln w="6350">
            <a:solidFill>
              <a:srgbClr val="6B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00400" y="4343400"/>
            <a:ext cx="8503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2C2C"/>
                </a:solidFill>
                <a:latin typeface="Calibri"/>
              </a:rPr>
              <a:t>原因：連續 8 次阻擋被覆寫；stop_hook_active 沒檢查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0400" y="4709160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6A34A"/>
                </a:solidFill>
                <a:latin typeface="Calibri"/>
              </a:rPr>
              <a:t>解法：在腳本中檢查 stop_hook_active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5212080"/>
            <a:ext cx="2560320" cy="77724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7200" y="5212080"/>
            <a:ext cx="25603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🚫 JSON 沒生效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017520" y="5212080"/>
            <a:ext cx="8716975" cy="777240"/>
          </a:xfrm>
          <a:prstGeom prst="rect">
            <a:avLst/>
          </a:prstGeom>
          <a:solidFill>
            <a:srgbClr val="F3F0E9"/>
          </a:solidFill>
          <a:ln w="6350">
            <a:solidFill>
              <a:srgbClr val="6B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200400" y="5257800"/>
            <a:ext cx="8503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2C2C"/>
                </a:solidFill>
                <a:latin typeface="Calibri"/>
              </a:rPr>
              <a:t>原因：shell profile 有 echo 干擾；解析失敗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5623560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6A34A"/>
                </a:solidFill>
                <a:latin typeface="Calibri"/>
              </a:rPr>
              <a:t>解法：if [[ $- == *i* ]] 包裝 echo；檢查 stdout 第一字元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6126480"/>
            <a:ext cx="11277295" cy="365760"/>
          </a:xfrm>
          <a:prstGeom prst="roundRect">
            <a:avLst/>
          </a:prstGeom>
          <a:solidFill>
            <a:srgbClr val="F3F0E9"/>
          </a:solidFill>
          <a:ln w="19050">
            <a:solidFill>
              <a:srgbClr val="C75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🔍  Ctrl+O 打開 transcript 看 hook 執行的詳細結果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C75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2C2C2C"/>
                </a:solidFill>
                <a:latin typeface="Calibri"/>
              </a:rPr>
              <a:t>除錯工作流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i="1">
                <a:solidFill>
                  <a:srgbClr val="6B6B6B"/>
                </a:solidFill>
                <a:latin typeface="Calibri"/>
              </a:rPr>
              <a:t>6 步找到問題根源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27432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39 / 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649224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i="1">
                <a:solidFill>
                  <a:srgbClr val="6B6B6B"/>
                </a:solidFill>
                <a:latin typeface="Calibri"/>
              </a:rPr>
              <a:t>📖 來源：06 § Debug 流程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C75A1A"/>
                </a:solidFill>
                <a:latin typeface="Calibri"/>
              </a:rPr>
              <a:t>Claude Code Plugin 完整學習系列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529687" y="1554480"/>
            <a:ext cx="3474720" cy="822960"/>
          </a:xfrm>
          <a:prstGeom prst="roundRect">
            <a:avLst/>
          </a:prstGeom>
          <a:solidFill>
            <a:srgbClr val="F3F0E9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621127" y="1691640"/>
            <a:ext cx="548640" cy="548640"/>
          </a:xfrm>
          <a:prstGeom prst="ellipse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21127" y="169164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61207" y="1600200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C2C2C"/>
                </a:solidFill>
                <a:latin typeface="Calibri"/>
              </a:rPr>
              <a:t>確認 hook 註冊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61207" y="1920240"/>
            <a:ext cx="2651760" cy="27432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61207" y="1920240"/>
            <a:ext cx="2651760" cy="274320"/>
          </a:xfrm>
          <a:prstGeom prst="rect">
            <a:avLst/>
          </a:prstGeom>
          <a:noFill/>
        </p:spPr>
        <p:txBody>
          <a:bodyPr wrap="square" lIns="137160" tIns="91440" rIns="137160" bIns="91440">
            <a:spAutoFit/>
          </a:bodyPr>
          <a:lstStyle/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/hooks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87287" y="1554480"/>
            <a:ext cx="3474720" cy="822960"/>
          </a:xfrm>
          <a:prstGeom prst="roundRect">
            <a:avLst/>
          </a:prstGeom>
          <a:solidFill>
            <a:srgbClr val="F3F0E9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278727" y="1691640"/>
            <a:ext cx="548640" cy="548640"/>
          </a:xfrm>
          <a:prstGeom prst="ellipse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78727" y="169164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18807" y="1600200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C2C2C"/>
                </a:solidFill>
                <a:latin typeface="Calibri"/>
              </a:rPr>
              <a:t>確認事件觸發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18807" y="1920240"/>
            <a:ext cx="2651760" cy="27432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18807" y="1920240"/>
            <a:ext cx="2651760" cy="274320"/>
          </a:xfrm>
          <a:prstGeom prst="rect">
            <a:avLst/>
          </a:prstGeom>
          <a:noFill/>
        </p:spPr>
        <p:txBody>
          <a:bodyPr wrap="square" lIns="137160" tIns="91440" rIns="137160" bIns="91440">
            <a:spAutoFit/>
          </a:bodyPr>
          <a:lstStyle/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/debug 啟動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529687" y="2560320"/>
            <a:ext cx="3474720" cy="822960"/>
          </a:xfrm>
          <a:prstGeom prst="roundRect">
            <a:avLst/>
          </a:prstGeom>
          <a:solidFill>
            <a:srgbClr val="F3F0E9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621127" y="2697480"/>
            <a:ext cx="548640" cy="548640"/>
          </a:xfrm>
          <a:prstGeom prst="ellipse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621127" y="269748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61207" y="2606040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C2C2C"/>
                </a:solidFill>
                <a:latin typeface="Calibri"/>
              </a:rPr>
              <a:t>手動測試腳本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61207" y="2926080"/>
            <a:ext cx="2651760" cy="27432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261207" y="2926080"/>
            <a:ext cx="2651760" cy="274320"/>
          </a:xfrm>
          <a:prstGeom prst="rect">
            <a:avLst/>
          </a:prstGeom>
          <a:noFill/>
        </p:spPr>
        <p:txBody>
          <a:bodyPr wrap="square" lIns="137160" tIns="91440" rIns="137160" bIns="91440">
            <a:spAutoFit/>
          </a:bodyPr>
          <a:lstStyle/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echo JSON | ./hook.sh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87287" y="2560320"/>
            <a:ext cx="3474720" cy="822960"/>
          </a:xfrm>
          <a:prstGeom prst="roundRect">
            <a:avLst/>
          </a:prstGeom>
          <a:solidFill>
            <a:srgbClr val="F3F0E9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278727" y="2697480"/>
            <a:ext cx="548640" cy="548640"/>
          </a:xfrm>
          <a:prstGeom prst="ellipse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78727" y="269748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18807" y="2606040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C2C2C"/>
                </a:solidFill>
                <a:latin typeface="Calibri"/>
              </a:rPr>
              <a:t>檢查退出碼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918807" y="2926080"/>
            <a:ext cx="2651760" cy="27432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18807" y="2926080"/>
            <a:ext cx="2651760" cy="274320"/>
          </a:xfrm>
          <a:prstGeom prst="rect">
            <a:avLst/>
          </a:prstGeom>
          <a:noFill/>
        </p:spPr>
        <p:txBody>
          <a:bodyPr wrap="square" lIns="137160" tIns="91440" rIns="137160" bIns="91440">
            <a:spAutoFit/>
          </a:bodyPr>
          <a:lstStyle/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echo $?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529687" y="3566160"/>
            <a:ext cx="3474720" cy="822960"/>
          </a:xfrm>
          <a:prstGeom prst="roundRect">
            <a:avLst/>
          </a:prstGeom>
          <a:solidFill>
            <a:srgbClr val="F3F0E9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2621127" y="3703320"/>
            <a:ext cx="548640" cy="548640"/>
          </a:xfrm>
          <a:prstGeom prst="ellipse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621127" y="370332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61207" y="3611880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C2C2C"/>
                </a:solidFill>
                <a:latin typeface="Calibri"/>
              </a:rPr>
              <a:t>檢查 stdout 第一字元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261207" y="3931920"/>
            <a:ext cx="2651760" cy="27432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261207" y="3931920"/>
            <a:ext cx="2651760" cy="274320"/>
          </a:xfrm>
          <a:prstGeom prst="rect">
            <a:avLst/>
          </a:prstGeom>
          <a:noFill/>
        </p:spPr>
        <p:txBody>
          <a:bodyPr wrap="square" lIns="137160" tIns="91440" rIns="137160" bIns="91440">
            <a:spAutoFit/>
          </a:bodyPr>
          <a:lstStyle/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第一字元決定 JSON 或純文字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187287" y="3566160"/>
            <a:ext cx="3474720" cy="822960"/>
          </a:xfrm>
          <a:prstGeom prst="roundRect">
            <a:avLst/>
          </a:prstGeom>
          <a:solidFill>
            <a:srgbClr val="F3F0E9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6278727" y="3703320"/>
            <a:ext cx="548640" cy="548640"/>
          </a:xfrm>
          <a:prstGeom prst="ellipse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78727" y="370332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18807" y="3611880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C2C2C"/>
                </a:solidFill>
                <a:latin typeface="Calibri"/>
              </a:rPr>
              <a:t>檢查 stderr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918807" y="3931920"/>
            <a:ext cx="2651760" cy="27432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918807" y="3931920"/>
            <a:ext cx="2651760" cy="274320"/>
          </a:xfrm>
          <a:prstGeom prst="rect">
            <a:avLst/>
          </a:prstGeom>
          <a:noFill/>
        </p:spPr>
        <p:txBody>
          <a:bodyPr wrap="square" lIns="137160" tIns="91440" rIns="137160" bIns="91440">
            <a:spAutoFit/>
          </a:bodyPr>
          <a:lstStyle/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若非 0，看 stderr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57200" y="4846320"/>
            <a:ext cx="11277295" cy="365760"/>
          </a:xfrm>
          <a:prstGeom prst="roundRect">
            <a:avLst/>
          </a:prstGeom>
          <a:solidFill>
            <a:srgbClr val="F3F0E9"/>
          </a:solidFill>
          <a:ln w="19050">
            <a:solidFill>
              <a:srgbClr val="C75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/>
            <a:r>
              <a:rPr sz="1400">
                <a:solidFill>
                  <a:srgbClr val="2C2C2C"/>
                </a:solidFill>
                <a:latin typeface="Calibri"/>
              </a:rPr>
              <a:t>🎯  99% 的 hook 問題都是：chmod 沒給、jq 沒裝、JSON 格式錯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7200" y="539496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B6B6B"/>
                </a:solidFill>
                <a:latin typeface="Calibri"/>
              </a:rPr>
              <a:t>完整 6 步流程見 06-hooks.md § Debug 技巧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6A34A"/>
                </a:solidFill>
                <a:latin typeface="Calibri"/>
              </a:rPr>
              <a:t>🔧 進階：CLAUDE_CODE_DEBUG_LOG_LEVEL=verbose 取得更詳細的 matcher 記錄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C75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2C2C2C"/>
                </a:solidFill>
                <a:latin typeface="Calibri"/>
              </a:rPr>
              <a:t>退出碼 + JSON 速查表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i="1">
                <a:solidFill>
                  <a:srgbClr val="6B6B6B"/>
                </a:solidFill>
                <a:latin typeface="Calibri"/>
              </a:rPr>
              <a:t>實戰中隨手查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27432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40 / 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649224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i="1">
                <a:solidFill>
                  <a:srgbClr val="6B6B6B"/>
                </a:solidFill>
                <a:latin typeface="Calibri"/>
              </a:rPr>
              <a:t>📖 來源：06 § 速查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C75A1A"/>
                </a:solidFill>
                <a:latin typeface="Calibri"/>
              </a:rPr>
              <a:t>Claude Code Plugin 完整學習系列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554480"/>
          <a:ext cx="11277295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9098"/>
                <a:gridCol w="3759098"/>
                <a:gridCol w="3759099"/>
              </a:tblGrid>
              <a:tr h="400050">
                <a:tc>
                  <a:txBody>
                    <a:bodyPr lIns="45720" rIns="4572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退出碼</a:t>
                      </a:r>
                    </a:p>
                  </a:txBody>
                  <a:tcPr>
                    <a:solidFill>
                      <a:srgbClr val="C75A1A"/>
                    </a:solidFill>
                  </a:tcPr>
                </a:tc>
                <a:tc>
                  <a:txBody>
                    <a:bodyPr lIns="45720" rIns="4572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stdout 狀態</a:t>
                      </a:r>
                    </a:p>
                  </a:txBody>
                  <a:tcPr>
                    <a:solidFill>
                      <a:srgbClr val="C75A1A"/>
                    </a:solidFill>
                  </a:tcPr>
                </a:tc>
                <a:tc>
                  <a:txBody>
                    <a:bodyPr lIns="45720" rIns="4572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效果</a:t>
                      </a:r>
                    </a:p>
                  </a:txBody>
                  <a:tcPr>
                    <a:solidFill>
                      <a:srgbClr val="C75A1A"/>
                    </a:solidFill>
                  </a:tcPr>
                </a:tc>
              </a:tr>
              <a:tr h="400050"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2C2C2C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2C2C2C"/>
                          </a:solidFill>
                          <a:latin typeface="Calibri"/>
                        </a:rPr>
                        <a:t>純文字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2C2C2C"/>
                          </a:solidFill>
                          <a:latin typeface="Calibri"/>
                        </a:rPr>
                        <a:t>寫入 debug log；多數事件無效果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0050"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2C2C2C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3F0E9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2C2C2C"/>
                          </a:solidFill>
                          <a:latin typeface="Calibri"/>
                        </a:rPr>
                        <a:t>有效 JSON</a:t>
                      </a:r>
                    </a:p>
                  </a:txBody>
                  <a:tcPr>
                    <a:solidFill>
                      <a:srgbClr val="F3F0E9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2C2C2C"/>
                          </a:solidFill>
                          <a:latin typeface="Calibri"/>
                        </a:rPr>
                        <a:t>JSON 決策生效（permissionDecision 等）</a:t>
                      </a:r>
                    </a:p>
                  </a:txBody>
                  <a:tcPr>
                    <a:solidFill>
                      <a:srgbClr val="F3F0E9"/>
                    </a:solidFill>
                  </a:tcPr>
                </a:tc>
              </a:tr>
              <a:tr h="400050"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2C2C2C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2C2C2C"/>
                          </a:solidFill>
                          <a:latin typeface="Calibri"/>
                        </a:rPr>
                        <a:t>無效 JSON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2C2C2C"/>
                          </a:solidFill>
                          <a:latin typeface="Calibri"/>
                        </a:rPr>
                        <a:t>非阻塞錯誤；hook error 通知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0050"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2C2C2C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3F0E9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2C2C2C"/>
                          </a:solidFill>
                          <a:latin typeface="Calibri"/>
                        </a:rPr>
                        <a:t>任何</a:t>
                      </a:r>
                    </a:p>
                  </a:txBody>
                  <a:tcPr>
                    <a:solidFill>
                      <a:srgbClr val="F3F0E9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2C2C2C"/>
                          </a:solidFill>
                          <a:latin typeface="Calibri"/>
                        </a:rPr>
                        <a:t>阻塞錯誤（多數事件）；stderr 給 Claude</a:t>
                      </a:r>
                    </a:p>
                  </a:txBody>
                  <a:tcPr>
                    <a:solidFill>
                      <a:srgbClr val="F3F0E9"/>
                    </a:solidFill>
                  </a:tcPr>
                </a:tc>
              </a:tr>
              <a:tr h="400050"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2C2C2C"/>
                          </a:solidFill>
                          <a:latin typeface="Calibri"/>
                        </a:rPr>
                        <a:t>其他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2C2C2C"/>
                          </a:solidFill>
                          <a:latin typeface="Calibri"/>
                        </a:rPr>
                        <a:t>純文字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2C2C2C"/>
                          </a:solidFill>
                          <a:latin typeface="Calibri"/>
                        </a:rPr>
                        <a:t>非阻塞錯誤；hook error 通知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0050"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2C2C2C"/>
                          </a:solidFill>
                          <a:latin typeface="Calibri"/>
                        </a:rPr>
                        <a:t>其他</a:t>
                      </a:r>
                    </a:p>
                  </a:txBody>
                  <a:tcPr>
                    <a:solidFill>
                      <a:srgbClr val="F3F0E9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2C2C2C"/>
                          </a:solidFill>
                          <a:latin typeface="Calibri"/>
                        </a:rPr>
                        <a:t>有效 JSON</a:t>
                      </a:r>
                    </a:p>
                  </a:txBody>
                  <a:tcPr>
                    <a:solidFill>
                      <a:srgbClr val="F3F0E9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2C2C2C"/>
                          </a:solidFill>
                          <a:latin typeface="Calibri"/>
                        </a:rPr>
                        <a:t>忽略退出碼，JSON 決策生效</a:t>
                      </a:r>
                    </a:p>
                  </a:txBody>
                  <a:tcPr>
                    <a:solidFill>
                      <a:srgbClr val="F3F0E9"/>
                    </a:solidFill>
                  </a:tcPr>
                </a:tc>
              </a:tr>
              <a:tr h="400050"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2C2C2C"/>
                          </a:solidFill>
                          <a:latin typeface="Calibri"/>
                        </a:rPr>
                        <a:t>其他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2C2C2C"/>
                          </a:solidFill>
                          <a:latin typeface="Calibri"/>
                        </a:rPr>
                        <a:t>無效 JSON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2C2C2C"/>
                          </a:solidFill>
                          <a:latin typeface="Calibri"/>
                        </a:rPr>
                        <a:t>非阻塞錯誤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493776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DC2626"/>
                </a:solidFill>
                <a:latin typeface="Calibri"/>
              </a:rPr>
              <a:t>⚠️ 重要例外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30352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2C2C2C"/>
                </a:solidFill>
                <a:latin typeface="Calibri"/>
              </a:rPr>
              <a:t>• WorktreeCreate：任何非零退出碼都會失敗</a:t>
            </a:r>
          </a:p>
          <a:p>
            <a:pPr algn="l"/>
            <a:r>
              <a:rPr sz="1100">
                <a:solidFill>
                  <a:srgbClr val="2C2C2C"/>
                </a:solidFill>
                <a:latin typeface="Calibri"/>
              </a:rPr>
              <a:t>• PermissionRequest：exit 2 不被尊重</a:t>
            </a:r>
          </a:p>
          <a:p>
            <a:pPr algn="l"/>
            <a:r>
              <a:rPr sz="1100">
                <a:solidFill>
                  <a:srgbClr val="2C2C2C"/>
                </a:solidFill>
                <a:latin typeface="Calibri"/>
              </a:rPr>
              <a:t>• PostToolUse、PostToolUseFailure、Notification 等：exit 2 不阻塞</a:t>
            </a:r>
          </a:p>
          <a:p>
            <a:pPr algn="l"/>
            <a:r>
              <a:rPr sz="1100">
                <a:solidFill>
                  <a:srgbClr val="2C2C2C"/>
                </a:solidFill>
                <a:latin typeface="Calibri"/>
              </a:rPr>
              <a:t>• PreToolUse、UserPromptSubmit、Stop：exit 2 阻塞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0"/>
            <a:ext cx="11277295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600" b="1">
                <a:solidFill>
                  <a:srgbClr val="C75A1A"/>
                </a:solidFill>
                <a:latin typeface="Calibri"/>
              </a:rPr>
              <a:t>Part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65760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2C2C2C"/>
                </a:solidFill>
                <a:latin typeface="Calibri"/>
              </a:rPr>
              <a:t>練習題與實戰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75488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i="1">
                <a:solidFill>
                  <a:srgbClr val="6B6B6B"/>
                </a:solidFill>
                <a:latin typeface="Calibri"/>
              </a:rPr>
              <a:t>鞏固所學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C75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2C2C2C"/>
                </a:solidFill>
                <a:latin typeface="Calibri"/>
              </a:rPr>
              <a:t>練習題：5 個實作挑戰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i="1">
                <a:solidFill>
                  <a:srgbClr val="6B6B6B"/>
                </a:solidFill>
                <a:latin typeface="Calibri"/>
              </a:rPr>
              <a:t>由淺入深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27432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42 / 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649224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i="1">
                <a:solidFill>
                  <a:srgbClr val="6B6B6B"/>
                </a:solidFill>
                <a:latin typeface="Calibri"/>
              </a:rPr>
              <a:t>📖 來源：練習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C75A1A"/>
                </a:solidFill>
                <a:latin typeface="Calibri"/>
              </a:rPr>
              <a:t>Claude Code Plugin 完整學習系列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645920"/>
            <a:ext cx="1097280" cy="77724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645920"/>
            <a:ext cx="10972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169164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C2C2C"/>
                </a:solidFill>
                <a:latin typeface="Calibri"/>
              </a:rPr>
              <a:t>桌面通知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205740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6B6B"/>
                </a:solidFill>
                <a:latin typeface="Calibri"/>
              </a:rPr>
              <a:t>Notification hook 用 osascript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0" y="1645920"/>
            <a:ext cx="3962095" cy="777240"/>
          </a:xfrm>
          <a:prstGeom prst="rect">
            <a:avLst/>
          </a:prstGeom>
          <a:solidFill>
            <a:srgbClr val="F3F0E9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0" y="1645920"/>
            <a:ext cx="396209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DC2626"/>
                </a:solidFill>
                <a:latin typeface="Calibri"/>
              </a:rPr>
              <a:t>⏱ 10 分鐘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560320"/>
            <a:ext cx="1097280" cy="77724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2560320"/>
            <a:ext cx="10972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5920" y="260604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C2C2C"/>
                </a:solidFill>
                <a:latin typeface="Calibri"/>
              </a:rPr>
              <a:t>阻擋 rm -rf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0" y="297180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6B6B"/>
                </a:solidFill>
                <a:latin typeface="Calibri"/>
              </a:rPr>
              <a:t>PreToolUse + exit 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0" y="2560320"/>
            <a:ext cx="3962095" cy="777240"/>
          </a:xfrm>
          <a:prstGeom prst="rect">
            <a:avLst/>
          </a:prstGeom>
          <a:solidFill>
            <a:srgbClr val="F3F0E9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0" y="2560320"/>
            <a:ext cx="396209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DC2626"/>
                </a:solidFill>
                <a:latin typeface="Calibri"/>
              </a:rPr>
              <a:t>⏱ 20 分鐘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474720"/>
            <a:ext cx="1097280" cy="777240"/>
          </a:xfrm>
          <a:prstGeom prst="rect">
            <a:avLst/>
          </a:prstGeom>
          <a:solidFill>
            <a:srgbClr val="C75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3474720"/>
            <a:ext cx="10972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45920" y="352044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C2C2C"/>
                </a:solidFill>
                <a:latin typeface="Calibri"/>
              </a:rPr>
              <a:t>自動跑 ESLint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45920" y="388620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6B6B"/>
                </a:solidFill>
                <a:latin typeface="Calibri"/>
              </a:rPr>
              <a:t>PostToolUse 編輯後跑 lint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72400" y="3474720"/>
            <a:ext cx="3962095" cy="777240"/>
          </a:xfrm>
          <a:prstGeom prst="rect">
            <a:avLst/>
          </a:prstGeom>
          <a:solidFill>
            <a:srgbClr val="F3F0E9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0" y="3474720"/>
            <a:ext cx="396209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DC2626"/>
                </a:solidFill>
                <a:latin typeface="Calibri"/>
              </a:rPr>
              <a:t>⏱ 30 分鐘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389120"/>
            <a:ext cx="1097280" cy="777240"/>
          </a:xfrm>
          <a:prstGeom prst="rect">
            <a:avLst/>
          </a:prstGeom>
          <a:solidFill>
            <a:srgbClr val="C75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4389120"/>
            <a:ext cx="10972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🟡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45920" y="443484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C2C2C"/>
                </a:solidFill>
                <a:latin typeface="Calibri"/>
              </a:rPr>
              <a:t>背景跑測試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45920" y="480060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6B6B"/>
                </a:solidFill>
                <a:latin typeface="Calibri"/>
              </a:rPr>
              <a:t>async + additionalContext 回報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772400" y="4389120"/>
            <a:ext cx="3962095" cy="777240"/>
          </a:xfrm>
          <a:prstGeom prst="rect">
            <a:avLst/>
          </a:prstGeom>
          <a:solidFill>
            <a:srgbClr val="F3F0E9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0" y="4389120"/>
            <a:ext cx="396209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DC2626"/>
                </a:solidFill>
                <a:latin typeface="Calibri"/>
              </a:rPr>
              <a:t>⏱ 40 分鐘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5303520"/>
            <a:ext cx="1097280" cy="77724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7200" y="5303520"/>
            <a:ext cx="10972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🔴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645920" y="534924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C2C2C"/>
                </a:solidFill>
                <a:latin typeface="Calibri"/>
              </a:rPr>
              <a:t>完整 plugin 整合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645920" y="571500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6B6B"/>
                </a:solidFill>
                <a:latin typeface="Calibri"/>
              </a:rPr>
              <a:t>hooks + skill + agent 組合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772400" y="5303520"/>
            <a:ext cx="3962095" cy="777240"/>
          </a:xfrm>
          <a:prstGeom prst="rect">
            <a:avLst/>
          </a:prstGeom>
          <a:solidFill>
            <a:srgbClr val="F3F0E9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772400" y="5303520"/>
            <a:ext cx="396209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DC2626"/>
                </a:solidFill>
                <a:latin typeface="Calibri"/>
              </a:rPr>
              <a:t>⏱ 1 小時+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57200" y="6217920"/>
            <a:ext cx="11277295" cy="365760"/>
          </a:xfrm>
          <a:prstGeom prst="roundRect">
            <a:avLst/>
          </a:prstGeom>
          <a:solidFill>
            <a:srgbClr val="F3F0E9"/>
          </a:solidFill>
          <a:ln w="19050">
            <a:solidFill>
              <a:srgbClr val="C75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/>
            <a:r>
              <a:rPr sz="1400">
                <a:solidFill>
                  <a:srgbClr val="2C2C2C"/>
                </a:solidFill>
                <a:latin typeface="Calibri"/>
              </a:rPr>
              <a:t>🎓  完成後，你已掌握事件驅動自動化的核心能力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C75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2C2C2C"/>
                </a:solidFill>
                <a:latin typeface="Calibri"/>
              </a:rPr>
              <a:t>Hooks 與其他元件的組合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i="1">
                <a:solidFill>
                  <a:srgbClr val="6B6B6B"/>
                </a:solidFill>
                <a:latin typeface="Calibri"/>
              </a:rPr>
              <a:t>建立完整自動化流程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27432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43 / 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649224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i="1">
                <a:solidFill>
                  <a:srgbClr val="6B6B6B"/>
                </a:solidFill>
                <a:latin typeface="Calibri"/>
              </a:rPr>
              <a:t>📖 來源：綜合應用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C75A1A"/>
                </a:solidFill>
                <a:latin typeface="Calibri"/>
              </a:rPr>
              <a:t>Claude Code Plugin 完整學習系列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554480"/>
          <a:ext cx="11277295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9098"/>
                <a:gridCol w="3759098"/>
                <a:gridCol w="3759099"/>
              </a:tblGrid>
              <a:tr h="609600">
                <a:tc>
                  <a:txBody>
                    <a:bodyPr lIns="45720" rIns="45720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組合模式</a:t>
                      </a:r>
                    </a:p>
                  </a:txBody>
                  <a:tcPr>
                    <a:solidFill>
                      <a:srgbClr val="C75A1A"/>
                    </a:solidFill>
                  </a:tcPr>
                </a:tc>
                <a:tc>
                  <a:txBody>
                    <a:bodyPr lIns="45720" rIns="45720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效果</a:t>
                      </a:r>
                    </a:p>
                  </a:txBody>
                  <a:tcPr>
                    <a:solidFill>
                      <a:srgbClr val="C75A1A"/>
                    </a:solidFill>
                  </a:tcPr>
                </a:tc>
                <a:tc>
                  <a:txBody>
                    <a:bodyPr lIns="45720" rIns="45720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範例</a:t>
                      </a:r>
                    </a:p>
                  </a:txBody>
                  <a:tcPr>
                    <a:solidFill>
                      <a:srgbClr val="C75A1A"/>
                    </a:solidFill>
                  </a:tcPr>
                </a:tc>
              </a:tr>
              <a:tr h="609600"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200">
                          <a:solidFill>
                            <a:srgbClr val="2C2C2C"/>
                          </a:solidFill>
                          <a:latin typeface="Calibri"/>
                        </a:rPr>
                        <a:t>Hook + Skill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200">
                          <a:solidFill>
                            <a:srgbClr val="2C2C2C"/>
                          </a:solidFill>
                          <a:latin typeface="Calibri"/>
                        </a:rPr>
                        <a:t>Skill 觸發後，Hook 自動跑後續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200">
                          <a:solidFill>
                            <a:srgbClr val="2C2C2C"/>
                          </a:solidFill>
                          <a:latin typeface="Calibri"/>
                        </a:rPr>
                        <a:t>Skill 跑測試，Hook 自動通知 Slack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200">
                          <a:solidFill>
                            <a:srgbClr val="2C2C2C"/>
                          </a:solidFill>
                          <a:latin typeface="Calibri"/>
                        </a:rPr>
                        <a:t>Hook + Subagent</a:t>
                      </a:r>
                    </a:p>
                  </a:txBody>
                  <a:tcPr>
                    <a:solidFill>
                      <a:srgbClr val="F3F0E9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200">
                          <a:solidFill>
                            <a:srgbClr val="2C2C2C"/>
                          </a:solidFill>
                          <a:latin typeface="Calibri"/>
                        </a:rPr>
                        <a:t>Hook 觸發 subagent 處理複雜任務</a:t>
                      </a:r>
                    </a:p>
                  </a:txBody>
                  <a:tcPr>
                    <a:solidFill>
                      <a:srgbClr val="F3F0E9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200">
                          <a:solidFill>
                            <a:srgbClr val="2C2C2C"/>
                          </a:solidFill>
                          <a:latin typeface="Calibri"/>
                        </a:rPr>
                        <a:t>PostToolUse 觸發 code-reviewer subagent</a:t>
                      </a:r>
                    </a:p>
                  </a:txBody>
                  <a:tcPr>
                    <a:solidFill>
                      <a:srgbClr val="F3F0E9"/>
                    </a:solidFill>
                  </a:tcPr>
                </a:tc>
              </a:tr>
              <a:tr h="609600"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200">
                          <a:solidFill>
                            <a:srgbClr val="2C2C2C"/>
                          </a:solidFill>
                          <a:latin typeface="Calibri"/>
                        </a:rPr>
                        <a:t>Hook + MCP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200">
                          <a:solidFill>
                            <a:srgbClr val="2C2C2C"/>
                          </a:solidFill>
                          <a:latin typeface="Calibri"/>
                        </a:rPr>
                        <a:t>Hook 用 MCP 工具做外部操作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200">
                          <a:solidFill>
                            <a:srgbClr val="2C2C2C"/>
                          </a:solidFill>
                          <a:latin typeface="Calibri"/>
                        </a:rPr>
                        <a:t>PreToolUse 用 Slack MCP 通知團隊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200">
                          <a:solidFill>
                            <a:srgbClr val="2C2C2C"/>
                          </a:solidFill>
                          <a:latin typeface="Calibri"/>
                        </a:rPr>
                        <a:t>Skill + Subagent</a:t>
                      </a:r>
                    </a:p>
                  </a:txBody>
                  <a:tcPr>
                    <a:solidFill>
                      <a:srgbClr val="F3F0E9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200">
                          <a:solidFill>
                            <a:srgbClr val="2C2C2C"/>
                          </a:solidFill>
                          <a:latin typeface="Calibri"/>
                        </a:rPr>
                        <a:t>Skill 在 subagent 中執行（context: fork）</a:t>
                      </a:r>
                    </a:p>
                  </a:txBody>
                  <a:tcPr>
                    <a:solidFill>
                      <a:srgbClr val="F3F0E9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200">
                          <a:solidFill>
                            <a:srgbClr val="2C2C2C"/>
                          </a:solidFill>
                          <a:latin typeface="Calibri"/>
                        </a:rPr>
                        <a:t>deep-research skill 用 Explore agent</a:t>
                      </a:r>
                    </a:p>
                  </a:txBody>
                  <a:tcPr>
                    <a:solidFill>
                      <a:srgbClr val="F3F0E9"/>
                    </a:solidFill>
                  </a:tcPr>
                </a:tc>
              </a:tr>
              <a:tr h="609600"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200">
                          <a:solidFill>
                            <a:srgbClr val="2C2C2C"/>
                          </a:solidFill>
                          <a:latin typeface="Calibri"/>
                        </a:rPr>
                        <a:t>完整整合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200">
                          <a:solidFill>
                            <a:srgbClr val="2C2C2C"/>
                          </a:solidFill>
                          <a:latin typeface="Calibri"/>
                        </a:rPr>
                        <a:t>Plugin 包含所有元件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200">
                          <a:solidFill>
                            <a:srgbClr val="2C2C2C"/>
                          </a:solidFill>
                          <a:latin typeface="Calibri"/>
                        </a:rPr>
                        <a:t>code-review plugin：skill + agent + hook + MCP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457200" y="5394960"/>
            <a:ext cx="11277295" cy="365760"/>
          </a:xfrm>
          <a:prstGeom prst="roundRect">
            <a:avLst/>
          </a:prstGeom>
          <a:solidFill>
            <a:srgbClr val="F3F0E9"/>
          </a:solidFill>
          <a:ln w="19050">
            <a:solidFill>
              <a:srgbClr val="C75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/>
            <a:r>
              <a:rPr sz="1400">
                <a:solidFill>
                  <a:srgbClr val="2C2C2C"/>
                </a:solidFill>
                <a:latin typeface="Calibri"/>
              </a:rPr>
              <a:t>🧩  完整 plugin = skills + agents + hooks + MCP servers + LSP servers + monitors + themes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B6B6B"/>
                </a:solidFill>
                <a:latin typeface="Calibri"/>
              </a:rPr>
              <a:t>進階 plugin 設計：見 02-plugins.md § 開發更複雜的 Plugins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C75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2C2C2C"/>
                </a:solidFill>
                <a:latin typeface="Calibri"/>
              </a:rPr>
              <a:t>Hook 設計模式總結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i="1">
                <a:solidFill>
                  <a:srgbClr val="6B6B6B"/>
                </a:solidFill>
                <a:latin typeface="Calibri"/>
              </a:rPr>
              <a:t>什麼情況用什麼 hook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27432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44 / 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649224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i="1">
                <a:solidFill>
                  <a:srgbClr val="6B6B6B"/>
                </a:solidFill>
                <a:latin typeface="Calibri"/>
              </a:rPr>
              <a:t>📖 來源：06 § 設計模式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C75A1A"/>
                </a:solidFill>
                <a:latin typeface="Calibri"/>
              </a:rPr>
              <a:t>Claude Code Plugin 完整學習系列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554480"/>
            <a:ext cx="5577840" cy="4572000"/>
          </a:xfrm>
          <a:prstGeom prst="roundRect">
            <a:avLst/>
          </a:prstGeom>
          <a:solidFill>
            <a:srgbClr val="F3F0E9"/>
          </a:solidFill>
          <a:ln w="254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554480"/>
            <a:ext cx="5577840" cy="4572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554480"/>
            <a:ext cx="5577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🔧 確定性動作 → Command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194560"/>
            <a:ext cx="52120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Lint 自動跑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格式化自動套用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阻擋危險命令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桌面通知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部署、構建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檔案備份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6655" y="1554480"/>
            <a:ext cx="5577840" cy="4572000"/>
          </a:xfrm>
          <a:prstGeom prst="roundRect">
            <a:avLst/>
          </a:prstGeom>
          <a:solidFill>
            <a:srgbClr val="F3F0E9"/>
          </a:solidFill>
          <a:ln w="25400">
            <a:solidFill>
              <a:srgbClr val="C75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56655" y="1554480"/>
            <a:ext cx="5577840" cy="457200"/>
          </a:xfrm>
          <a:prstGeom prst="rect">
            <a:avLst/>
          </a:prstGeom>
          <a:solidFill>
            <a:srgbClr val="C75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56655" y="1554480"/>
            <a:ext cx="5577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🧠 需要判斷 → Prompt/Agent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39535" y="2194560"/>
            <a:ext cx="52120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任務完成度檢查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程式碼品質審查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安全性評估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「是否違反原則」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需要讀檔才能判斷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需要 LLM 推理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6217920"/>
            <a:ext cx="11277295" cy="365760"/>
          </a:xfrm>
          <a:prstGeom prst="roundRect">
            <a:avLst/>
          </a:prstGeom>
          <a:solidFill>
            <a:srgbClr val="F3F0E9"/>
          </a:solidFill>
          <a:ln w="19050">
            <a:solidFill>
              <a:srgbClr val="C75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💡  不確定時：先試 command（簡單、確定），不夠用再加 prompt/agent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C75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2C2C2C"/>
                </a:solidFill>
                <a:latin typeface="Calibri"/>
              </a:rPr>
              <a:t>Hook 對決策的精細控制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i="1">
                <a:solidFill>
                  <a:srgbClr val="6B6B6B"/>
                </a:solidFill>
                <a:latin typeface="Calibri"/>
              </a:rPr>
              <a:t>不只是阻擋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27432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45 / 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649224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i="1">
                <a:solidFill>
                  <a:srgbClr val="6B6B6B"/>
                </a:solidFill>
                <a:latin typeface="Calibri"/>
              </a:rPr>
              <a:t>📖 來源：06 § 決策控制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C75A1A"/>
                </a:solidFill>
                <a:latin typeface="Calibri"/>
              </a:rPr>
              <a:t>Claude Code Plugin 完整學習系列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544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C75A1A"/>
                </a:solidFill>
                <a:latin typeface="Calibri"/>
              </a:rPr>
              <a:t>🎯 Hook 不只能「yes/no」，還能「改寫」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031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B82F6"/>
                </a:solidFill>
                <a:latin typeface="Calibri"/>
              </a:rPr>
              <a:t>❶ 改寫工具輸入（updatedInput）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468880"/>
            <a:ext cx="5486400" cy="164592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468880"/>
            <a:ext cx="5486400" cy="1645920"/>
          </a:xfrm>
          <a:prstGeom prst="rect">
            <a:avLst/>
          </a:prstGeom>
          <a:noFill/>
        </p:spPr>
        <p:txBody>
          <a:bodyPr wrap="square" lIns="137160" tIns="91440" rIns="137160" bIns="91440">
            <a:spAutoFit/>
          </a:bodyPr>
          <a:lstStyle/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// grep → rg 自動改寫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{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  "hookSpecificOutput": {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    "hookEventName": "PreToolUse",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    "permissionDecision": "allow",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    "updatedInput": {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      "command": "rg pattern"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    }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  }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}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48095" y="21031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B82F6"/>
                </a:solidFill>
                <a:latin typeface="Calibri"/>
              </a:rPr>
              <a:t>❷ 改寫工具輸出（updatedToolOutput）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48095" y="2468880"/>
            <a:ext cx="5486400" cy="182880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48095" y="2468880"/>
            <a:ext cx="5486400" cy="1828800"/>
          </a:xfrm>
          <a:prstGeom prst="rect">
            <a:avLst/>
          </a:prstGeom>
          <a:noFill/>
        </p:spPr>
        <p:txBody>
          <a:bodyPr wrap="square" lIns="137160" tIns="91440" rIns="137160" bIns="91440">
            <a:spAutoFit/>
          </a:bodyPr>
          <a:lstStyle/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// 遮罩敏感輸出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{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  "hookSpecificOutput": {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    "hookEventName": "PostToolUse",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    "updatedToolOutput": {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      "stdout": "[redacted]",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      "stderr": "",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      "interrupted": false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    }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  }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}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44805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B82F6"/>
                </a:solidFill>
                <a:latin typeface="Calibri"/>
              </a:rPr>
              <a:t>❸ 為 Claude 新增 context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4846320"/>
            <a:ext cx="5486400" cy="137160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4846320"/>
            <a:ext cx="5486400" cy="1371600"/>
          </a:xfrm>
          <a:prstGeom prst="rect">
            <a:avLst/>
          </a:prstGeom>
          <a:noFill/>
        </p:spPr>
        <p:txBody>
          <a:bodyPr wrap="square" lIns="137160" tIns="91440" rIns="137160" bIns="91440">
            <a:spAutoFit/>
          </a:bodyPr>
          <a:lstStyle/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{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  "hookSpecificOutput": {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    "hookEventName": "UserPromptSubmit",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    "additionalContext": "Current branch: main. Run tests before committing."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  }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}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6400800"/>
            <a:ext cx="11277295" cy="365760"/>
          </a:xfrm>
          <a:prstGeom prst="roundRect">
            <a:avLst/>
          </a:prstGeom>
          <a:solidFill>
            <a:srgbClr val="F3F0E9"/>
          </a:solidFill>
          <a:ln w="19050">
            <a:solidFill>
              <a:srgbClr val="C75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/>
            <a:r>
              <a:rPr sz="1200">
                <a:solidFill>
                  <a:srgbClr val="2C2C2C"/>
                </a:solidFill>
                <a:latin typeface="Calibri"/>
              </a:rPr>
              <a:t>🎨  PreToolUse 改輸入、PostToolUse 改輸出、UserPromptSubmit 加 context、Stop 阻擋或加反饋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C75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2C2C2C"/>
                </a:solidFill>
                <a:latin typeface="Calibri"/>
              </a:rPr>
              <a:t>完整 Hook 速查表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i="1">
                <a:solidFill>
                  <a:srgbClr val="6B6B6B"/>
                </a:solidFill>
                <a:latin typeface="Calibri"/>
              </a:rPr>
              <a:t>實戰中隨時參考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27432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46 / 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649224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i="1">
                <a:solidFill>
                  <a:srgbClr val="6B6B6B"/>
                </a:solidFill>
                <a:latin typeface="Calibri"/>
              </a:rPr>
              <a:t>📖 來源：06 § 速查表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C75A1A"/>
                </a:solidFill>
                <a:latin typeface="Calibri"/>
              </a:rPr>
              <a:t>Claude Code Plugin 完整學習系列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554480"/>
          <a:ext cx="11277295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9323"/>
                <a:gridCol w="2819323"/>
                <a:gridCol w="2819323"/>
                <a:gridCol w="2819326"/>
              </a:tblGrid>
              <a:tr h="457200">
                <a:tc>
                  <a:txBody>
                    <a:bodyPr lIns="45720" rIns="4572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事件</a:t>
                      </a:r>
                    </a:p>
                  </a:txBody>
                  <a:tcPr>
                    <a:solidFill>
                      <a:srgbClr val="C75A1A"/>
                    </a:solidFill>
                  </a:tcPr>
                </a:tc>
                <a:tc>
                  <a:txBody>
                    <a:bodyPr lIns="45720" rIns="4572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可阻擋？</a:t>
                      </a:r>
                    </a:p>
                  </a:txBody>
                  <a:tcPr>
                    <a:solidFill>
                      <a:srgbClr val="C75A1A"/>
                    </a:solidFill>
                  </a:tcPr>
                </a:tc>
                <a:tc>
                  <a:txBody>
                    <a:bodyPr lIns="45720" rIns="4572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通用 JSON 欄位</a:t>
                      </a:r>
                    </a:p>
                  </a:txBody>
                  <a:tcPr>
                    <a:solidFill>
                      <a:srgbClr val="C75A1A"/>
                    </a:solidFill>
                  </a:tcPr>
                </a:tc>
                <a:tc>
                  <a:txBody>
                    <a:bodyPr lIns="45720" rIns="4572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特定欄位</a:t>
                      </a:r>
                    </a:p>
                  </a:txBody>
                  <a:tcPr>
                    <a:solidFill>
                      <a:srgbClr val="C75A1A"/>
                    </a:solidFill>
                  </a:tcPr>
                </a:tc>
              </a:tr>
              <a:tr h="457200"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2C2C2C"/>
                          </a:solidFill>
                          <a:latin typeface="Calibri"/>
                        </a:rPr>
                        <a:t>PreToolUse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2C2C2C"/>
                          </a:solidFill>
                          <a:latin typeface="Calibri"/>
                        </a:rPr>
                        <a:t>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2C2C2C"/>
                          </a:solidFill>
                          <a:latin typeface="Calibri"/>
                        </a:rPr>
                        <a:t>continue、systemMessage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2C2C2C"/>
                          </a:solidFill>
                          <a:latin typeface="Calibri"/>
                        </a:rPr>
                        <a:t>permissionDecision、updatedInput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2C2C2C"/>
                          </a:solidFill>
                          <a:latin typeface="Calibri"/>
                        </a:rPr>
                        <a:t>PostToolUse</a:t>
                      </a:r>
                    </a:p>
                  </a:txBody>
                  <a:tcPr>
                    <a:solidFill>
                      <a:srgbClr val="F3F0E9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2C2C2C"/>
                          </a:solidFill>
                          <a:latin typeface="Calibri"/>
                        </a:rPr>
                        <a:t>❌</a:t>
                      </a:r>
                    </a:p>
                  </a:txBody>
                  <a:tcPr>
                    <a:solidFill>
                      <a:srgbClr val="F3F0E9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2C2C2C"/>
                          </a:solidFill>
                          <a:latin typeface="Calibri"/>
                        </a:rPr>
                        <a:t>continue、systemMessage</a:t>
                      </a:r>
                    </a:p>
                  </a:txBody>
                  <a:tcPr>
                    <a:solidFill>
                      <a:srgbClr val="F3F0E9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2C2C2C"/>
                          </a:solidFill>
                          <a:latin typeface="Calibri"/>
                        </a:rPr>
                        <a:t>updatedToolOutput、additionalContext</a:t>
                      </a:r>
                    </a:p>
                  </a:txBody>
                  <a:tcPr>
                    <a:solidFill>
                      <a:srgbClr val="F3F0E9"/>
                    </a:solidFill>
                  </a:tcPr>
                </a:tc>
              </a:tr>
              <a:tr h="457200"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2C2C2C"/>
                          </a:solidFill>
                          <a:latin typeface="Calibri"/>
                        </a:rPr>
                        <a:t>Stop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2C2C2C"/>
                          </a:solidFill>
                          <a:latin typeface="Calibri"/>
                        </a:rPr>
                        <a:t>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2C2C2C"/>
                          </a:solidFill>
                          <a:latin typeface="Calibri"/>
                        </a:rPr>
                        <a:t>continue、systemMessage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2C2C2C"/>
                          </a:solidFill>
                          <a:latin typeface="Calibri"/>
                        </a:rPr>
                        <a:t>decision: block + reason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2C2C2C"/>
                          </a:solidFill>
                          <a:latin typeface="Calibri"/>
                        </a:rPr>
                        <a:t>UserPromptSubmit</a:t>
                      </a:r>
                    </a:p>
                  </a:txBody>
                  <a:tcPr>
                    <a:solidFill>
                      <a:srgbClr val="F3F0E9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2C2C2C"/>
                          </a:solidFill>
                          <a:latin typeface="Calibri"/>
                        </a:rPr>
                        <a:t>✅</a:t>
                      </a:r>
                    </a:p>
                  </a:txBody>
                  <a:tcPr>
                    <a:solidFill>
                      <a:srgbClr val="F3F0E9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2C2C2C"/>
                          </a:solidFill>
                          <a:latin typeface="Calibri"/>
                        </a:rPr>
                        <a:t>continue、systemMessage</a:t>
                      </a:r>
                    </a:p>
                  </a:txBody>
                  <a:tcPr>
                    <a:solidFill>
                      <a:srgbClr val="F3F0E9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2C2C2C"/>
                          </a:solidFill>
                          <a:latin typeface="Calibri"/>
                        </a:rPr>
                        <a:t>additionalContext</a:t>
                      </a:r>
                    </a:p>
                  </a:txBody>
                  <a:tcPr>
                    <a:solidFill>
                      <a:srgbClr val="F3F0E9"/>
                    </a:solidFill>
                  </a:tcPr>
                </a:tc>
              </a:tr>
              <a:tr h="457200"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2C2C2C"/>
                          </a:solidFill>
                          <a:latin typeface="Calibri"/>
                        </a:rPr>
                        <a:t>SessionStart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2C2C2C"/>
                          </a:solidFill>
                          <a:latin typeface="Calibri"/>
                        </a:rPr>
                        <a:t>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2C2C2C"/>
                          </a:solidFill>
                          <a:latin typeface="Calibri"/>
                        </a:rPr>
                        <a:t>systemMessage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2C2C2C"/>
                          </a:solidFill>
                          <a:latin typeface="Calibri"/>
                        </a:rPr>
                        <a:t>additionalContext、initialUserMessage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2C2C2C"/>
                          </a:solidFill>
                          <a:latin typeface="Calibri"/>
                        </a:rPr>
                        <a:t>Notification</a:t>
                      </a:r>
                    </a:p>
                  </a:txBody>
                  <a:tcPr>
                    <a:solidFill>
                      <a:srgbClr val="F3F0E9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2C2C2C"/>
                          </a:solidFill>
                          <a:latin typeface="Calibri"/>
                        </a:rPr>
                        <a:t>❌</a:t>
                      </a:r>
                    </a:p>
                  </a:txBody>
                  <a:tcPr>
                    <a:solidFill>
                      <a:srgbClr val="F3F0E9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2C2C2C"/>
                          </a:solidFill>
                          <a:latin typeface="Calibri"/>
                        </a:rPr>
                        <a:t>terminalSequence</a:t>
                      </a:r>
                    </a:p>
                  </a:txBody>
                  <a:tcPr>
                    <a:solidFill>
                      <a:srgbClr val="F3F0E9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2C2C2C"/>
                          </a:solidFill>
                          <a:latin typeface="Calibri"/>
                        </a:rPr>
                        <a:t>（無特定欄位）</a:t>
                      </a:r>
                    </a:p>
                  </a:txBody>
                  <a:tcPr>
                    <a:solidFill>
                      <a:srgbClr val="F3F0E9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493776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B6B6B"/>
                </a:solidFill>
                <a:latin typeface="Calibri"/>
              </a:rPr>
              <a:t>📚 完整 28 個事件見 06-hooks.md § 完整事件表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5394960"/>
            <a:ext cx="11277295" cy="365760"/>
          </a:xfrm>
          <a:prstGeom prst="roundRect">
            <a:avLst/>
          </a:prstGeom>
          <a:solidFill>
            <a:srgbClr val="F3F0E9"/>
          </a:solidFill>
          <a:ln w="19050">
            <a:solidFill>
              <a:srgbClr val="C75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/>
            <a:r>
              <a:rPr sz="1200">
                <a:solidFill>
                  <a:srgbClr val="2C2C2C"/>
                </a:solidFill>
                <a:latin typeface="Calibri"/>
              </a:rPr>
              <a:t>💡  通用欄位：continue、stopReason、systemMessage、terminalSequence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85216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6B6B6B"/>
                </a:solidFill>
                <a:latin typeface="Calibri"/>
              </a:rPr>
              <a:t>所有 hooks 平行執行；多個結果合併：最嚴格的決策勝出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C75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2C2C2C"/>
                </a:solidFill>
                <a:latin typeface="Calibri"/>
              </a:rPr>
              <a:t>Hook 開發最佳實踐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i="1">
                <a:solidFill>
                  <a:srgbClr val="6B6B6B"/>
                </a:solidFill>
                <a:latin typeface="Calibri"/>
              </a:rPr>
              <a:t>從一開始就做對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27432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47 / 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649224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i="1">
                <a:solidFill>
                  <a:srgbClr val="6B6B6B"/>
                </a:solidFill>
                <a:latin typeface="Calibri"/>
              </a:rPr>
              <a:t>📖 來源：06 § 最佳實踐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C75A1A"/>
                </a:solidFill>
                <a:latin typeface="Calibri"/>
              </a:rPr>
              <a:t>Claude Code Plugin 完整學習系列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554480"/>
            <a:ext cx="5577840" cy="4572000"/>
          </a:xfrm>
          <a:prstGeom prst="roundRect">
            <a:avLst/>
          </a:prstGeom>
          <a:solidFill>
            <a:srgbClr val="F3F0E9"/>
          </a:solidFill>
          <a:ln w="254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554480"/>
            <a:ext cx="5577840" cy="4572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554480"/>
            <a:ext cx="5577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✅ 應該做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194560"/>
            <a:ext cx="52120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保持 hook 快速（10 分鐘預設）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輸入驗證，不盲目信任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用 exec form 引用路徑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為錯誤日誌寫到 stderr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為阻塞錯誤用 exit 2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UserPromptSubmit 用 30s timeout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所有 hook 寫到 plugin 的 hooks/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6655" y="1554480"/>
            <a:ext cx="5577840" cy="4572000"/>
          </a:xfrm>
          <a:prstGeom prst="roundRect">
            <a:avLst/>
          </a:prstGeom>
          <a:solidFill>
            <a:srgbClr val="F3F0E9"/>
          </a:solidFill>
          <a:ln w="25400">
            <a:solidFill>
              <a:srgbClr val="C75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56655" y="1554480"/>
            <a:ext cx="5577840" cy="457200"/>
          </a:xfrm>
          <a:prstGeom prst="rect">
            <a:avLst/>
          </a:prstGeom>
          <a:solidFill>
            <a:srgbClr val="C75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56655" y="1554480"/>
            <a:ext cx="5577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❌ 不該做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39535" y="2194560"/>
            <a:ext cx="52120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hook 太慢（阻擋 Claude）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未驗證的輸入（安全風險）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用 shell form 引用路徑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忘記 chmod +x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在 hook 中執行用戶提供的代碼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覆寫 manage settings 控制的 hook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把 hooks 放在 .claude-plugin/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6217920"/>
            <a:ext cx="11277295" cy="365760"/>
          </a:xfrm>
          <a:prstGeom prst="roundRect">
            <a:avLst/>
          </a:prstGeom>
          <a:solidFill>
            <a:srgbClr val="F3F0E9"/>
          </a:solidFill>
          <a:ln w="19050">
            <a:solidFill>
              <a:srgbClr val="C75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/>
            <a:r>
              <a:rPr sz="1400">
                <a:solidFill>
                  <a:srgbClr val="2C2C2C"/>
                </a:solidFill>
                <a:latin typeface="Calibri"/>
              </a:rPr>
              <a:t>💎  口訣：Hook 越簡單越好；能用 command 解決就不要 prompt/agent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C75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2C2C2C"/>
                </a:solidFill>
                <a:latin typeface="Calibri"/>
              </a:rPr>
              <a:t>重點回顧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i="1">
                <a:solidFill>
                  <a:srgbClr val="6B6B6B"/>
                </a:solidFill>
                <a:latin typeface="Calibri"/>
              </a:rPr>
              <a:t>重點整理與下一步行動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0" y="649224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i="1">
                <a:solidFill>
                  <a:srgbClr val="6B6B6B"/>
                </a:solidFill>
                <a:latin typeface="Calibri"/>
              </a:rPr>
              <a:t>📖 來源：06-hooks.md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C75A1A"/>
                </a:solidFill>
                <a:latin typeface="Calibri"/>
              </a:rPr>
              <a:t>Claude Code Plugin 完整學習系列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544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C75A1A"/>
                </a:solidFill>
                <a:latin typeface="Calibri"/>
              </a:rPr>
              <a:t>📌 關鍵要點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1168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>
                <a:solidFill>
                  <a:srgbClr val="2C2C2C"/>
                </a:solidFill>
                <a:latin typeface="Calibri"/>
              </a:rPr>
              <a:t>• Hook = 確定性觸發的腳本/HTTP/LLM（與 Skills/Subagents 互補）</a:t>
            </a:r>
          </a:p>
          <a:p>
            <a:pPr algn="l"/>
            <a:r>
              <a:rPr sz="1500">
                <a:solidFill>
                  <a:srgbClr val="2C2C2C"/>
                </a:solidFill>
                <a:latin typeface="Calibri"/>
              </a:rPr>
              <a:t>• 28 個事件分屬 3 個節奏：Session、Per-turn、Per-tool-call</a:t>
            </a:r>
          </a:p>
          <a:p>
            <a:pPr algn="l"/>
            <a:r>
              <a:rPr sz="1500">
                <a:solidFill>
                  <a:srgbClr val="2C2C2C"/>
                </a:solidFill>
                <a:latin typeface="Calibri"/>
              </a:rPr>
              <a:t>• 5 種 handler 類型：command、http、mcp_tool、prompt、agent</a:t>
            </a:r>
          </a:p>
          <a:p>
            <a:pPr algn="l"/>
            <a:r>
              <a:rPr sz="1500">
                <a:solidFill>
                  <a:srgbClr val="2C2C2C"/>
                </a:solidFill>
                <a:latin typeface="Calibri"/>
              </a:rPr>
              <a:t>• 退出碼 0/2 決定阻擋與否；JSON 提供更精細的決策控制</a:t>
            </a:r>
          </a:p>
          <a:p>
            <a:pPr algn="l"/>
            <a:r>
              <a:rPr sz="1500">
                <a:solidFill>
                  <a:srgbClr val="2C2C2C"/>
                </a:solidFill>
                <a:latin typeface="Calibri"/>
              </a:rPr>
              <a:t>• 決策優先級：deny &gt; defer &gt; ask &gt; allow</a:t>
            </a:r>
          </a:p>
          <a:p>
            <a:pPr algn="l"/>
            <a:r>
              <a:rPr sz="1500">
                <a:solidFill>
                  <a:srgbClr val="2C2C2C"/>
                </a:solidFill>
                <a:latin typeface="Calibri"/>
              </a:rPr>
              <a:t>• always-on、必 chmod、jq、路徑佔位符等注意事項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38912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C75A1A"/>
                </a:solidFill>
                <a:latin typeface="Calibri"/>
              </a:rPr>
              <a:t>🚀 下一步行動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84632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>
                <a:solidFill>
                  <a:srgbClr val="2C2C2C"/>
                </a:solidFill>
                <a:latin typeface="Calibri"/>
              </a:rPr>
              <a:t>• 🎯 立即：寫一個 Notification hook 桌面通知</a:t>
            </a:r>
          </a:p>
          <a:p>
            <a:pPr algn="l"/>
            <a:r>
              <a:rPr sz="1500">
                <a:solidFill>
                  <a:srgbClr val="2C2C2C"/>
                </a:solidFill>
                <a:latin typeface="Calibri"/>
              </a:rPr>
              <a:t>• 📚 進階：寫 PreToolUse hook 阻擋危險命令</a:t>
            </a:r>
          </a:p>
          <a:p>
            <a:pPr algn="l"/>
            <a:r>
              <a:rPr sz="1500">
                <a:solidFill>
                  <a:srgbClr val="2C2C2C"/>
                </a:solidFill>
                <a:latin typeface="Calibri"/>
              </a:rPr>
              <a:t>• 🛠 整合：把常用 hooks 打包到 plugin</a:t>
            </a:r>
          </a:p>
          <a:p>
            <a:pPr algn="l"/>
            <a:r>
              <a:rPr sz="1500">
                <a:solidFill>
                  <a:srgbClr val="2C2C2C"/>
                </a:solidFill>
                <a:latin typeface="Calibri"/>
              </a:rPr>
              <a:t>• 🚀 自動化：建立團隊的開發流程 hooks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C75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2C2C2C"/>
                </a:solidFill>
                <a:latin typeface="Calibri"/>
              </a:rPr>
              <a:t>系列回顧：你已完成的學習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i="1">
                <a:solidFill>
                  <a:srgbClr val="6B6B6B"/>
                </a:solidFill>
                <a:latin typeface="Calibri"/>
              </a:rPr>
              <a:t>4 份簡報的累積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27432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49 / 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649224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i="1">
                <a:solidFill>
                  <a:srgbClr val="6B6B6B"/>
                </a:solidFill>
                <a:latin typeface="Calibri"/>
              </a:rPr>
              <a:t>📖 來源：00 § 全系列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C75A1A"/>
                </a:solidFill>
                <a:latin typeface="Calibri"/>
              </a:rPr>
              <a:t>Claude Code Plugin 完整學習系列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544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C75A1A"/>
                </a:solidFill>
                <a:latin typeface="Calibri"/>
              </a:rPr>
              <a:t>🎉 你已掌握 Claude Code Plugin 完整知識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9427" y="2194560"/>
            <a:ext cx="2651760" cy="2560320"/>
          </a:xfrm>
          <a:prstGeom prst="roundRect">
            <a:avLst/>
          </a:prstGeom>
          <a:solidFill>
            <a:srgbClr val="F3F0E9"/>
          </a:solidFill>
          <a:ln w="31750">
            <a:solidFill>
              <a:srgbClr val="C75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49427" y="2194560"/>
            <a:ext cx="2651760" cy="548640"/>
          </a:xfrm>
          <a:prstGeom prst="rect">
            <a:avLst/>
          </a:prstGeom>
          <a:solidFill>
            <a:srgbClr val="C75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9427" y="219456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#00 系列總覽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2307" y="29260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2C2C2C"/>
                </a:solidFill>
                <a:latin typeface="Consolas"/>
              </a:rPr>
              <a:t>30 張 | 簡報 #00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2307" y="33832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2C2C2C"/>
                </a:solidFill>
                <a:latin typeface="Calibri"/>
              </a:rPr>
              <a:t>生態系全景、學習路徑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2307" y="42976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6A34A"/>
                </a:solidFill>
                <a:latin typeface="Calibri"/>
              </a:rPr>
              <a:t>✅ 已完成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29787" y="2194560"/>
            <a:ext cx="2651760" cy="2560320"/>
          </a:xfrm>
          <a:prstGeom prst="roundRect">
            <a:avLst/>
          </a:prstGeom>
          <a:solidFill>
            <a:srgbClr val="F3F0E9"/>
          </a:solidFill>
          <a:ln w="317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329787" y="2194560"/>
            <a:ext cx="2651760" cy="5486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29787" y="219456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#02 Plugin 開發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12667" y="29260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2C2C2C"/>
                </a:solidFill>
                <a:latin typeface="Consolas"/>
              </a:rPr>
              <a:t>25 張 | 簡報 #02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12667" y="33832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2C2C2C"/>
                </a:solidFill>
                <a:latin typeface="Calibri"/>
              </a:rPr>
              <a:t>5 步建立第一個 plugin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12667" y="42976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6A34A"/>
                </a:solidFill>
                <a:latin typeface="Calibri"/>
              </a:rPr>
              <a:t>✅ 已完成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0147" y="2194560"/>
            <a:ext cx="2651760" cy="2560320"/>
          </a:xfrm>
          <a:prstGeom prst="roundRect">
            <a:avLst/>
          </a:prstGeom>
          <a:solidFill>
            <a:srgbClr val="F3F0E9"/>
          </a:solidFill>
          <a:ln w="317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10147" y="2194560"/>
            <a:ext cx="2651760" cy="54864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10147" y="219456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#04 Skills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93027" y="29260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2C2C2C"/>
                </a:solidFill>
                <a:latin typeface="Consolas"/>
              </a:rPr>
              <a:t>40 張 | 簡報 #04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93027" y="33832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2C2C2C"/>
                </a:solidFill>
                <a:latin typeface="Calibri"/>
              </a:rPr>
              <a:t>Skills 設計、撰寫、評估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93027" y="42976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6A34A"/>
                </a:solidFill>
                <a:latin typeface="Calibri"/>
              </a:rPr>
              <a:t>✅ 已完成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90507" y="2194560"/>
            <a:ext cx="2651760" cy="2560320"/>
          </a:xfrm>
          <a:prstGeom prst="roundRect">
            <a:avLst/>
          </a:prstGeom>
          <a:solidFill>
            <a:srgbClr val="F3F0E9"/>
          </a:solidFill>
          <a:ln w="317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090507" y="2194560"/>
            <a:ext cx="2651760" cy="54864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090507" y="219456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#06 Hooks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73387" y="29260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2C2C2C"/>
                </a:solidFill>
                <a:latin typeface="Consolas"/>
              </a:rPr>
              <a:t>50 張 | 簡報 #06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73387" y="33832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2C2C2C"/>
                </a:solidFill>
                <a:latin typeface="Calibri"/>
              </a:rPr>
              <a:t>事件驅動自動化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73387" y="42976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6A34A"/>
                </a:solidFill>
                <a:latin typeface="Calibri"/>
              </a:rPr>
              <a:t>✅ 已完成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512064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C75A1A"/>
                </a:solidFill>
                <a:latin typeface="Calibri"/>
              </a:rPr>
              <a:t>🏆 總計 145 張投影片，覆蓋 4 個核心主題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557784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B6B6B"/>
                </a:solidFill>
                <a:latin typeface="Calibri"/>
              </a:rPr>
              <a:t>未涵蓋（依需求再做）：#01 Marketplaces、#03 技術參考、#05 Subagents、#07 探索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7200" y="6126480"/>
            <a:ext cx="11277295" cy="365760"/>
          </a:xfrm>
          <a:prstGeom prst="roundRect">
            <a:avLst/>
          </a:prstGeom>
          <a:solidFill>
            <a:srgbClr val="F3F0E9"/>
          </a:solidFill>
          <a:ln w="19050">
            <a:solidFill>
              <a:srgbClr val="C75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/>
            <a:r>
              <a:rPr sz="1400">
                <a:solidFill>
                  <a:srgbClr val="2C2C2C"/>
                </a:solidFill>
                <a:latin typeface="Calibri"/>
              </a:rPr>
              <a:t>🚀  下一步：應用所學，建立你自己的 production plugin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3628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400" b="1">
                <a:solidFill>
                  <a:srgbClr val="DC2626"/>
                </a:solidFill>
                <a:latin typeface="Calibri"/>
              </a:rPr>
              <a:t>Hooks 大師之路 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383280"/>
            <a:ext cx="103628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2C2C2C"/>
                </a:solidFill>
                <a:latin typeface="Calibri"/>
              </a:rPr>
              <a:t>從一個簡單的 hook 開始，建立自動化流程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29487" y="4389120"/>
            <a:ext cx="3200400" cy="10972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29487" y="45262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DC2626"/>
                </a:solidFill>
                <a:latin typeface="Calibri"/>
              </a:rPr>
              <a:t>🎯 確定性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29487" y="49377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2C2C2C"/>
                </a:solidFill>
                <a:latin typeface="Calibri"/>
              </a:rPr>
              <a:t>必須做的事 → Hook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95647" y="4389120"/>
            <a:ext cx="3200400" cy="10972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5647" y="45262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6A34A"/>
                </a:solidFill>
                <a:latin typeface="Calibri"/>
              </a:rPr>
              <a:t>🛡 安全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5647" y="49377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2C2C2C"/>
                </a:solidFill>
                <a:latin typeface="Calibri"/>
              </a:rPr>
              <a:t>信任、chmod、路徑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61807" y="4389120"/>
            <a:ext cx="3200400" cy="10972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61807" y="45262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3B82F6"/>
                </a:solidFill>
                <a:latin typeface="Calibri"/>
              </a:rPr>
              <a:t>🧩 組合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61807" y="49377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2C2C2C"/>
                </a:solidFill>
                <a:latin typeface="Calibri"/>
              </a:rPr>
              <a:t>Hook + Skill + Agent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80990" y="5852160"/>
            <a:ext cx="1828800" cy="73152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6126480"/>
            <a:ext cx="103628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C2C2C"/>
                </a:solidFill>
                <a:latin typeface="Calibri"/>
              </a:rPr>
              <a:t>Claude Code Plugin 完整學習系列 · #06 · 系列完結 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6583680"/>
            <a:ext cx="103628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B6B6B"/>
                </a:solidFill>
                <a:latin typeface="Calibri"/>
              </a:rPr>
              <a:t>整理自 code.claude.com/docs 官方文件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